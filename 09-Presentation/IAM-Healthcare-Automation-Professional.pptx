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8" r:id="rId2"/>
    <p:sldId id="256" r:id="rId3"/>
    <p:sldId id="257" r:id="rId4"/>
    <p:sldId id="258" r:id="rId5"/>
    <p:sldId id="260" r:id="rId6"/>
    <p:sldId id="262" r:id="rId7"/>
    <p:sldId id="263" r:id="rId8"/>
    <p:sldId id="259" r:id="rId9"/>
    <p:sldId id="261" r:id="rId10"/>
    <p:sldId id="264" r:id="rId11"/>
    <p:sldId id="265" r:id="rId12"/>
    <p:sldId id="266" r:id="rId13"/>
    <p:sldId id="26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9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F1AA6-5CBB-A86B-9865-6AACBAE79A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8D1ECC-63D4-566C-CCD3-FB37D3CEF7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B55D25-8435-9BB5-A886-0A7651961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124F2-B461-4993-8DAA-E392A8E68310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A6E1C0-8584-EBD6-7699-240E516AE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719C3-F93E-3145-16B7-D6959242B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19B3E-6694-4471-BB2F-E72CC5650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586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14A5B-339C-B264-082D-64B257A3F0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898D23-8973-5DC3-B7EA-6F121D81BB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148C99-FCD9-5D2E-E6C5-CBB910C7E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124F2-B461-4993-8DAA-E392A8E68310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F7EBCD-486B-D362-FA05-AC7480EF04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57F92E-AF75-418C-A257-18991B7A1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19B3E-6694-4471-BB2F-E72CC5650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7422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0C003-B55F-D5A6-D76F-13A8F6B70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D025D6-6F0C-2153-6BD8-57551FC65B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F28483-E273-3105-E7B9-C33FA33BD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124F2-B461-4993-8DAA-E392A8E68310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8E36-F424-3678-ED4C-FF9B23E0E8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1812F7-1574-D50B-420D-F155D214F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19B3E-6694-4471-BB2F-E72CC5650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6390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FAE69-906E-069D-F7C5-860AD20849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6C791C-FFE0-9EC3-D233-3FBB630628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7FFE4E-6DAB-53E3-9E1E-D4831B296A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58C8FB-326C-6CA9-AF81-BD204DD71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124F2-B461-4993-8DAA-E392A8E68310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AC363D-96ED-DDB6-5B38-4FD58A3DD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A4B866-07A5-C97F-0795-1AF5E04D9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19B3E-6694-4471-BB2F-E72CC5650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3316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7A5D2-A258-7322-C81C-44353957D0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170AAE-9CB6-0FB8-7E32-C2365114E8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57118A-2760-CD93-2F0B-7DCB8D9CBA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FAF4D9-DF33-D0BF-AB98-9C7B5A045F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0F2C00-DDBA-702A-C077-CD24E658DE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A3FA4C7-73F1-2F94-1259-6CA7C49F38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124F2-B461-4993-8DAA-E392A8E68310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E55F99-7D57-E9FC-DDCD-B9800EA0BF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9897C3-838D-8514-3E1F-16B18CCD0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19B3E-6694-4471-BB2F-E72CC5650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3983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96BE3-B317-C366-D8E1-0BE2621F5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16D412A-0BB9-90B6-FE54-8AF30F744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124F2-B461-4993-8DAA-E392A8E68310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7F6CB3-0733-14D2-5278-BA35F835D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EB1FCD-0D5F-B68C-7C4D-ACF08303E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19B3E-6694-4471-BB2F-E72CC5650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8652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B63C2D8-6B7D-E6B5-B1A0-E3534BDA3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124F2-B461-4993-8DAA-E392A8E68310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3AAE7AA-3FB9-BE8F-8593-1F91DD64F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B5D852-15AB-C27B-B717-454FFA86F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19B3E-6694-4471-BB2F-E72CC5650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8911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2E359-9873-302A-B755-3EBB07293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6A92BA-2FF5-BC5C-981F-D1573E2C80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4FAEE0-F29B-DD65-CB9E-593BE92D47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9A8B39-870D-46D1-CB54-9F06D067C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124F2-B461-4993-8DAA-E392A8E68310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5F2D39-697F-5276-3077-6BAA8C0041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B68A36-0374-19B7-8139-CB7CE5D9D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19B3E-6694-4471-BB2F-E72CC5650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6363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FCAEF-4720-6C63-54BD-80DAB43422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C818B7B-0426-6590-BDD1-35399D8B21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417E12-40C3-1CB6-8541-7B0427411C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0C2761-1F00-9B7C-74F5-5967A1724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124F2-B461-4993-8DAA-E392A8E68310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653337-BD91-FF64-176C-AD62E5858B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1AA430-3A2F-91D9-1DEA-7F6E73818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19B3E-6694-4471-BB2F-E72CC5650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5610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BAB36-7F86-472C-7B7F-2D248B870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DBEF793-CD08-8487-A6DC-7E66FFE569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9A58AB-8F11-A76B-C046-D933FC365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124F2-B461-4993-8DAA-E392A8E68310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5D53E0-E7E8-583A-088F-6977B20B86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102372-00A1-2547-ABFE-ADD839AAA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19B3E-6694-4471-BB2F-E72CC5650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7991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21DC8A-6EFF-B657-97AF-0D982500E3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D9F3373-B825-EE2E-B94A-57268773AF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FE750B-CA75-0F31-049A-5B9150DE2D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124F2-B461-4993-8DAA-E392A8E68310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1F94B-4413-4BB4-D61C-9ABB9BFBA2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1EF7C1-6794-FB71-B301-3A8AC0AF2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19B3E-6694-4471-BB2F-E72CC5650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232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AA0512-A38F-EBCC-626E-B330825DA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8EAFF7-CC21-78B2-B498-24A56FFA3A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6281AB-E118-EB6D-7B5F-BAE65DB970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C124F2-B461-4993-8DAA-E392A8E68310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4F2705-EF30-6C6A-1E0E-12CA0178F3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842FC6-C7BA-090A-CD19-5508F0705F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A19B3E-6694-4471-BB2F-E72CC5650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6842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9FD6C1-910B-B0BB-BF38-A277753C0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33C49-147B-F884-54AE-6DE910C372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45342" y="188299"/>
            <a:ext cx="9144000" cy="1748656"/>
          </a:xfrm>
        </p:spPr>
        <p:txBody>
          <a:bodyPr>
            <a:normAutofit/>
          </a:bodyPr>
          <a:lstStyle/>
          <a:p>
            <a:r>
              <a:rPr lang="en-US" dirty="0" err="1"/>
              <a:t>Automatisation</a:t>
            </a:r>
            <a:r>
              <a:rPr lang="en-US" dirty="0"/>
              <a:t> du Cycle de Vie des Identités (IAM)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9AE7DB-FF34-E29B-47F8-07EF775150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143433"/>
            <a:ext cx="9144000" cy="4237702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lang="fr-FR" dirty="0"/>
              <a:t>Automatisation du Cycle de Vie des Identités (IAM)</a:t>
            </a:r>
          </a:p>
          <a:p>
            <a:pPr algn="l"/>
            <a:endParaRPr lang="fr-FR" dirty="0"/>
          </a:p>
          <a:p>
            <a:pPr algn="l"/>
            <a:r>
              <a:rPr lang="fr-FR" dirty="0"/>
              <a:t>Preuve de Concept (PoC)</a:t>
            </a:r>
          </a:p>
          <a:p>
            <a:pPr algn="l"/>
            <a:endParaRPr lang="fr-FR" dirty="0"/>
          </a:p>
          <a:p>
            <a:pPr algn="l"/>
            <a:r>
              <a:rPr lang="fr-FR" dirty="0"/>
              <a:t>Secteur de la Santé</a:t>
            </a:r>
          </a:p>
          <a:p>
            <a:pPr algn="l"/>
            <a:endParaRPr lang="fr-FR" dirty="0"/>
          </a:p>
          <a:p>
            <a:pPr algn="l"/>
            <a:r>
              <a:rPr lang="fr-FR" dirty="0"/>
              <a:t>Gestion des Identités et des Accès</a:t>
            </a:r>
          </a:p>
          <a:p>
            <a:pPr algn="l"/>
            <a:r>
              <a:rPr lang="fr-FR" dirty="0"/>
              <a:t>Joiner • Mover • Leaver • RBAC • Gouvernance</a:t>
            </a:r>
          </a:p>
          <a:p>
            <a:pPr algn="l"/>
            <a:endParaRPr lang="fr-FR" dirty="0"/>
          </a:p>
          <a:p>
            <a:pPr algn="l"/>
            <a:r>
              <a:rPr lang="fr-FR" dirty="0"/>
              <a:t>Présenté par</a:t>
            </a:r>
          </a:p>
          <a:p>
            <a:pPr algn="l"/>
            <a:r>
              <a:rPr lang="fr-FR" dirty="0"/>
              <a:t>Gervais Francis Kangaya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6733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8AEA7-7509-F111-B704-0A8955FBA3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06400"/>
            <a:ext cx="9144000" cy="950452"/>
          </a:xfrm>
        </p:spPr>
        <p:txBody>
          <a:bodyPr/>
          <a:lstStyle/>
          <a:p>
            <a:r>
              <a:rPr lang="en-US" dirty="0" err="1"/>
              <a:t>Défis</a:t>
            </a:r>
            <a:r>
              <a:rPr lang="en-US" dirty="0"/>
              <a:t> Métier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25A04E-17DD-3B68-1208-602956B483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543665"/>
            <a:ext cx="9144000" cy="4109883"/>
          </a:xfrm>
        </p:spPr>
        <p:txBody>
          <a:bodyPr>
            <a:normAutofit fontScale="92500" lnSpcReduction="10000"/>
          </a:bodyPr>
          <a:lstStyle/>
          <a:p>
            <a:pPr algn="l"/>
            <a:r>
              <a:rPr lang="fr-FR" dirty="0"/>
              <a:t>Les établissements de santé font face à plusieurs défis :</a:t>
            </a:r>
          </a:p>
          <a:p>
            <a:pPr algn="l"/>
            <a:endParaRPr lang="fr-FR" dirty="0"/>
          </a:p>
          <a:p>
            <a:pPr algn="l"/>
            <a:r>
              <a:rPr lang="fr-FR" dirty="0"/>
              <a:t>• Création manuelle des comptes</a:t>
            </a:r>
          </a:p>
          <a:p>
            <a:pPr algn="l"/>
            <a:r>
              <a:rPr lang="fr-FR" dirty="0"/>
              <a:t>• Attribution tardive des accès</a:t>
            </a:r>
          </a:p>
          <a:p>
            <a:pPr algn="l"/>
            <a:r>
              <a:rPr lang="fr-FR" dirty="0"/>
              <a:t>• Permissions excessives</a:t>
            </a:r>
          </a:p>
          <a:p>
            <a:pPr algn="l"/>
            <a:r>
              <a:rPr lang="fr-FR" dirty="0"/>
              <a:t>• Comptes orphelins après le départ d'employés</a:t>
            </a:r>
          </a:p>
          <a:p>
            <a:pPr algn="l"/>
            <a:r>
              <a:rPr lang="fr-FR" dirty="0"/>
              <a:t>• Difficultés d'audit et de conformité</a:t>
            </a:r>
          </a:p>
          <a:p>
            <a:pPr algn="l"/>
            <a:r>
              <a:rPr lang="fr-FR" dirty="0"/>
              <a:t>• Risques d'erreurs humaines</a:t>
            </a:r>
          </a:p>
          <a:p>
            <a:pPr algn="l"/>
            <a:endParaRPr lang="fr-FR" dirty="0"/>
          </a:p>
          <a:p>
            <a:pPr algn="l"/>
            <a:r>
              <a:rPr lang="fr-FR" dirty="0"/>
              <a:t>Ces défis augmentent les risques de sécurité et les coûts opérationnels.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78130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66DB36-33CA-6B6B-73C2-EB3E2E6AE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1DF91F20-B96F-4F77-AC3E-2CDD3BAA10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0"/>
            <a:ext cx="1219200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3D487F7-9050-4871-B351-34A72ADB29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484" y="-1"/>
            <a:ext cx="8111296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43C27DD-EF6A-4C48-9669-C2970E71A8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858281" y="-401562"/>
            <a:ext cx="6858004" cy="7661129"/>
          </a:xfrm>
          <a:prstGeom prst="rect">
            <a:avLst/>
          </a:prstGeom>
          <a:gradFill>
            <a:gsLst>
              <a:gs pos="0">
                <a:schemeClr val="accent1">
                  <a:alpha val="23000"/>
                </a:schemeClr>
              </a:gs>
              <a:gs pos="71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84384FE-1C88-4CAA-8FB8-2313A3AE73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9" y="-1"/>
            <a:ext cx="8118331" cy="6858000"/>
          </a:xfrm>
          <a:prstGeom prst="rect">
            <a:avLst/>
          </a:prstGeom>
          <a:gradFill>
            <a:gsLst>
              <a:gs pos="14000">
                <a:schemeClr val="accent1">
                  <a:alpha val="0"/>
                </a:schemeClr>
              </a:gs>
              <a:gs pos="100000">
                <a:srgbClr val="000000">
                  <a:alpha val="82000"/>
                </a:srgb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87B6A113-58CD-406C-BCE4-6E1F1F2BE6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449520">
            <a:off x="2569700" y="983306"/>
            <a:ext cx="5005754" cy="5005754"/>
          </a:xfrm>
          <a:prstGeom prst="ellipse">
            <a:avLst/>
          </a:prstGeom>
          <a:gradFill>
            <a:gsLst>
              <a:gs pos="17000">
                <a:schemeClr val="accent1">
                  <a:lumMod val="75000"/>
                  <a:alpha val="0"/>
                </a:schemeClr>
              </a:gs>
              <a:gs pos="82000">
                <a:srgbClr val="000000">
                  <a:alpha val="24000"/>
                </a:srgbClr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90FF9F4-42B1-FBAC-20F2-61BF71051E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11948" y="857251"/>
            <a:ext cx="6219582" cy="3160113"/>
          </a:xfrm>
        </p:spPr>
        <p:txBody>
          <a:bodyPr anchor="b">
            <a:normAutofit/>
          </a:bodyPr>
          <a:lstStyle/>
          <a:p>
            <a:pPr algn="l"/>
            <a:r>
              <a:rPr lang="en-US" sz="4800">
                <a:solidFill>
                  <a:srgbClr val="FFFFFF"/>
                </a:solidFill>
              </a:rPr>
              <a:t>Vue d’Ensemble de la Solution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5A1AA86-B7E6-4C02-AA34-F1A25CD4CC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8" y="4354178"/>
            <a:ext cx="8118330" cy="2503817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33000"/>
                </a:schemeClr>
              </a:gs>
              <a:gs pos="83000">
                <a:srgbClr val="000000">
                  <a:alpha val="2100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BB06E2AE-6DB9-FDE5-F89B-EAD160B0D0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5661" y="4800600"/>
            <a:ext cx="5179879" cy="1200149"/>
          </a:xfrm>
        </p:spPr>
        <p:txBody>
          <a:bodyPr anchor="t">
            <a:normAutofit/>
          </a:bodyPr>
          <a:lstStyle/>
          <a:p>
            <a:pPr algn="l"/>
            <a:endParaRPr lang="en-US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7D998-7D07-7EC4-699F-EB1AB35751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0981" y="905373"/>
            <a:ext cx="3173819" cy="5047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2520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A31B07-FEDF-8094-A1BB-931D801D1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55C5EC-BD62-8D6B-F1C4-8AEA6E3894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713" y="248038"/>
            <a:ext cx="7063721" cy="1159200"/>
          </a:xfrm>
        </p:spPr>
        <p:txBody>
          <a:bodyPr anchor="ctr">
            <a:normAutofit/>
          </a:bodyPr>
          <a:lstStyle/>
          <a:p>
            <a:pPr algn="l"/>
            <a:r>
              <a:rPr lang="en-US" sz="4000">
                <a:solidFill>
                  <a:srgbClr val="FFFFFF"/>
                </a:solidFill>
              </a:rPr>
              <a:t>Local MVP Architecture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99365E-07E3-42C0-7A67-BBAE846CFB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72499" y="390832"/>
            <a:ext cx="3233585" cy="873612"/>
          </a:xfrm>
        </p:spPr>
        <p:txBody>
          <a:bodyPr anchor="ctr">
            <a:normAutofit/>
          </a:bodyPr>
          <a:lstStyle/>
          <a:p>
            <a:pPr algn="l"/>
            <a:endParaRPr lang="en-US" sz="2000"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CA4B0F-95E7-A1C4-A95C-03FF85695A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535" y="1973342"/>
            <a:ext cx="11327549" cy="4417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4316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C6840E-61A4-79EC-4576-E20FA440E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958DF8-3FA7-B527-C0B7-2E99749145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0041" y="2767106"/>
            <a:ext cx="2880828" cy="3071906"/>
          </a:xfrm>
        </p:spPr>
        <p:txBody>
          <a:bodyPr anchor="t">
            <a:normAutofit/>
          </a:bodyPr>
          <a:lstStyle/>
          <a:p>
            <a:pPr algn="l"/>
            <a:r>
              <a:rPr lang="en-US" sz="4000">
                <a:solidFill>
                  <a:srgbClr val="FFFFFF"/>
                </a:solidFill>
              </a:rPr>
              <a:t>Joiner Workflow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FB810B-773C-56BE-DE24-F588482D3D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0042" y="806824"/>
            <a:ext cx="2919738" cy="1494117"/>
          </a:xfrm>
        </p:spPr>
        <p:txBody>
          <a:bodyPr anchor="b">
            <a:normAutofit/>
          </a:bodyPr>
          <a:lstStyle/>
          <a:p>
            <a:pPr algn="l"/>
            <a:endParaRPr lang="en-US" sz="200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11E1C4-AE5B-4383-9430-6AC32492D8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0988" y="0"/>
            <a:ext cx="6386292" cy="670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23765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1FEB4E-CF6E-D015-38CC-16F477496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38D403-1F08-8657-138A-3C1C500B41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0041" y="2767106"/>
            <a:ext cx="2880828" cy="3071906"/>
          </a:xfrm>
        </p:spPr>
        <p:txBody>
          <a:bodyPr anchor="t">
            <a:normAutofit/>
          </a:bodyPr>
          <a:lstStyle/>
          <a:p>
            <a:pPr algn="l"/>
            <a:r>
              <a:rPr lang="en-US" sz="4000">
                <a:solidFill>
                  <a:srgbClr val="FFFFFF"/>
                </a:solidFill>
              </a:rPr>
              <a:t>Mover Workflow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468651-2CC9-2E73-7D8A-D548EA6F0F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0042" y="806824"/>
            <a:ext cx="2919738" cy="1494117"/>
          </a:xfrm>
        </p:spPr>
        <p:txBody>
          <a:bodyPr anchor="b">
            <a:normAutofit/>
          </a:bodyPr>
          <a:lstStyle/>
          <a:p>
            <a:pPr algn="l"/>
            <a:endParaRPr lang="en-US" sz="200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9B2645-F115-7204-8A61-26EE0B28DC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6965" y="280067"/>
            <a:ext cx="5328155" cy="6595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9504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B23413-D518-1B48-2CDF-8A36B25F1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2D57C3-60FB-8AE0-E2DB-40F6A6914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0041" y="2767106"/>
            <a:ext cx="2880828" cy="3071906"/>
          </a:xfrm>
        </p:spPr>
        <p:txBody>
          <a:bodyPr anchor="t">
            <a:normAutofit/>
          </a:bodyPr>
          <a:lstStyle/>
          <a:p>
            <a:pPr algn="l"/>
            <a:r>
              <a:rPr lang="en-US" sz="4000">
                <a:solidFill>
                  <a:srgbClr val="FFFFFF"/>
                </a:solidFill>
              </a:rPr>
              <a:t>Leaver Workflow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CC693F-9D23-90AA-0F89-63EB20C505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0042" y="806824"/>
            <a:ext cx="2919738" cy="1494117"/>
          </a:xfrm>
        </p:spPr>
        <p:txBody>
          <a:bodyPr anchor="b">
            <a:normAutofit/>
          </a:bodyPr>
          <a:lstStyle/>
          <a:p>
            <a:pPr algn="l"/>
            <a:endParaRPr lang="en-US" sz="200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B9D63C-08E3-D2CC-4E9A-E5028718A8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3760" y="91440"/>
            <a:ext cx="4368800" cy="6583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02570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342E6F-447A-B870-8447-8EAA06EC5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A94871E-96FC-4ADE-815B-41A636E34F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F78AAB-EAAE-0BB9-8B22-86F99FC069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320040"/>
            <a:ext cx="6692827" cy="3892669"/>
          </a:xfrm>
        </p:spPr>
        <p:txBody>
          <a:bodyPr>
            <a:normAutofit/>
          </a:bodyPr>
          <a:lstStyle/>
          <a:p>
            <a:pPr algn="l"/>
            <a:r>
              <a:rPr lang="en-US" sz="6600"/>
              <a:t>Contrôle d’Accès Basé sur les Rôles (RBAC)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CD6606-A33B-614D-954B-36C5493632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32750"/>
            <a:ext cx="6692827" cy="2005210"/>
          </a:xfrm>
        </p:spPr>
        <p:txBody>
          <a:bodyPr>
            <a:normAutofit fontScale="70000" lnSpcReduction="20000"/>
          </a:bodyPr>
          <a:lstStyle/>
          <a:p>
            <a:pPr algn="l"/>
            <a:r>
              <a:rPr lang="fr-FR" dirty="0"/>
              <a:t>Les accès sont attribués automatiquement selon les responsabilités du poste.</a:t>
            </a:r>
          </a:p>
          <a:p>
            <a:pPr algn="l"/>
            <a:endParaRPr lang="fr-FR" dirty="0"/>
          </a:p>
          <a:p>
            <a:pPr algn="l"/>
            <a:r>
              <a:rPr lang="fr-FR" dirty="0"/>
              <a:t>Principe du moindre privilège</a:t>
            </a:r>
          </a:p>
          <a:p>
            <a:pPr algn="l"/>
            <a:endParaRPr lang="fr-FR" dirty="0"/>
          </a:p>
          <a:p>
            <a:pPr algn="l"/>
            <a:r>
              <a:rPr lang="fr-FR" dirty="0"/>
              <a:t>Chaque employé reçoit uniquement les accès nécessaires à l'exercice de ses fonctions.</a:t>
            </a:r>
            <a:endParaRPr lang="en-US" dirty="0"/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4562" y="4409267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563791 w 4243589"/>
              <a:gd name="csY1" fmla="*/ 0 h 18288"/>
              <a:gd name="csX2" fmla="*/ 1042710 w 4243589"/>
              <a:gd name="csY2" fmla="*/ 0 h 18288"/>
              <a:gd name="csX3" fmla="*/ 1564066 w 4243589"/>
              <a:gd name="csY3" fmla="*/ 0 h 18288"/>
              <a:gd name="csX4" fmla="*/ 2212729 w 4243589"/>
              <a:gd name="csY4" fmla="*/ 0 h 18288"/>
              <a:gd name="csX5" fmla="*/ 2776520 w 4243589"/>
              <a:gd name="csY5" fmla="*/ 0 h 18288"/>
              <a:gd name="csX6" fmla="*/ 3297875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637362 w 4243589"/>
              <a:gd name="csY9" fmla="*/ 18288 h 18288"/>
              <a:gd name="csX10" fmla="*/ 3116007 w 4243589"/>
              <a:gd name="csY10" fmla="*/ 18288 h 18288"/>
              <a:gd name="csX11" fmla="*/ 2424908 w 4243589"/>
              <a:gd name="csY11" fmla="*/ 18288 h 18288"/>
              <a:gd name="csX12" fmla="*/ 1861117 w 4243589"/>
              <a:gd name="csY12" fmla="*/ 18288 h 18288"/>
              <a:gd name="csX13" fmla="*/ 1382198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3987" y="7429"/>
                  <a:pt x="4243569" y="10822"/>
                  <a:pt x="4243589" y="18288"/>
                </a:cubicBezTo>
                <a:cubicBezTo>
                  <a:pt x="4112949" y="-2855"/>
                  <a:pt x="3928037" y="1831"/>
                  <a:pt x="3637362" y="18288"/>
                </a:cubicBezTo>
                <a:cubicBezTo>
                  <a:pt x="3346687" y="34745"/>
                  <a:pt x="3254446" y="26669"/>
                  <a:pt x="3116007" y="18288"/>
                </a:cubicBezTo>
                <a:cubicBezTo>
                  <a:pt x="2977569" y="9907"/>
                  <a:pt x="2620228" y="28873"/>
                  <a:pt x="2424908" y="18288"/>
                </a:cubicBezTo>
                <a:cubicBezTo>
                  <a:pt x="2229588" y="7703"/>
                  <a:pt x="2088287" y="-3854"/>
                  <a:pt x="1861117" y="18288"/>
                </a:cubicBezTo>
                <a:cubicBezTo>
                  <a:pt x="1633947" y="40430"/>
                  <a:pt x="1502447" y="-871"/>
                  <a:pt x="1382198" y="18288"/>
                </a:cubicBezTo>
                <a:cubicBezTo>
                  <a:pt x="1261949" y="37447"/>
                  <a:pt x="1045440" y="28353"/>
                  <a:pt x="733535" y="18288"/>
                </a:cubicBezTo>
                <a:cubicBezTo>
                  <a:pt x="421630" y="8223"/>
                  <a:pt x="341257" y="-18359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2703" y="5429"/>
                  <a:pt x="4244410" y="14046"/>
                  <a:pt x="4243589" y="18288"/>
                </a:cubicBezTo>
                <a:cubicBezTo>
                  <a:pt x="4130424" y="-1240"/>
                  <a:pt x="3932803" y="42249"/>
                  <a:pt x="3722234" y="18288"/>
                </a:cubicBezTo>
                <a:cubicBezTo>
                  <a:pt x="3511665" y="-5673"/>
                  <a:pt x="3269903" y="45994"/>
                  <a:pt x="3116007" y="18288"/>
                </a:cubicBezTo>
                <a:cubicBezTo>
                  <a:pt x="2962111" y="-9418"/>
                  <a:pt x="2744280" y="23224"/>
                  <a:pt x="2509780" y="18288"/>
                </a:cubicBezTo>
                <a:cubicBezTo>
                  <a:pt x="2275280" y="13352"/>
                  <a:pt x="2066059" y="43664"/>
                  <a:pt x="1945989" y="18288"/>
                </a:cubicBezTo>
                <a:cubicBezTo>
                  <a:pt x="1825919" y="-7088"/>
                  <a:pt x="1407329" y="12616"/>
                  <a:pt x="1254890" y="18288"/>
                </a:cubicBezTo>
                <a:cubicBezTo>
                  <a:pt x="1102451" y="23960"/>
                  <a:pt x="837950" y="31673"/>
                  <a:pt x="563791" y="18288"/>
                </a:cubicBezTo>
                <a:cubicBezTo>
                  <a:pt x="289632" y="4903"/>
                  <a:pt x="132768" y="710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FC62470-5539-2F14-D8B2-CF2BC4C009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4775741"/>
              </p:ext>
            </p:extLst>
          </p:nvPr>
        </p:nvGraphicFramePr>
        <p:xfrm>
          <a:off x="7781544" y="1550456"/>
          <a:ext cx="4087369" cy="3520618"/>
        </p:xfrm>
        <a:graphic>
          <a:graphicData uri="http://schemas.openxmlformats.org/drawingml/2006/table">
            <a:tbl>
              <a:tblPr>
                <a:solidFill>
                  <a:schemeClr val="bg1"/>
                </a:solidFill>
              </a:tblPr>
              <a:tblGrid>
                <a:gridCol w="1375515">
                  <a:extLst>
                    <a:ext uri="{9D8B030D-6E8A-4147-A177-3AD203B41FA5}">
                      <a16:colId xmlns:a16="http://schemas.microsoft.com/office/drawing/2014/main" val="2595530736"/>
                    </a:ext>
                  </a:extLst>
                </a:gridCol>
                <a:gridCol w="2711854">
                  <a:extLst>
                    <a:ext uri="{9D8B030D-6E8A-4147-A177-3AD203B41FA5}">
                      <a16:colId xmlns:a16="http://schemas.microsoft.com/office/drawing/2014/main" val="1755134806"/>
                    </a:ext>
                  </a:extLst>
                </a:gridCol>
              </a:tblGrid>
              <a:tr h="4159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Rôle</a:t>
                      </a:r>
                    </a:p>
                  </a:txBody>
                  <a:tcPr marL="114230" marR="87869" marT="87869" marB="878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Groupes attribués</a:t>
                      </a:r>
                    </a:p>
                  </a:txBody>
                  <a:tcPr marL="114230" marR="87869" marT="87869" marB="87869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2563176"/>
                  </a:ext>
                </a:extLst>
              </a:tr>
              <a:tr h="6209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Infirmier(ère)</a:t>
                      </a:r>
                    </a:p>
                  </a:txBody>
                  <a:tcPr marL="114230" marR="87869" marT="87869" marB="878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GRP_NURSES, GRP_PATIENT_PORTAL</a:t>
                      </a:r>
                    </a:p>
                  </a:txBody>
                  <a:tcPr marL="114230" marR="87869" marT="87869" marB="87869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6155050"/>
                  </a:ext>
                </a:extLst>
              </a:tr>
              <a:tr h="6209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Chef infirmier</a:t>
                      </a:r>
                    </a:p>
                  </a:txBody>
                  <a:tcPr marL="114230" marR="87869" marT="87869" marB="878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GRP_NURSES, GRP_NURSE_SUPERVISORS</a:t>
                      </a:r>
                    </a:p>
                  </a:txBody>
                  <a:tcPr marL="114230" marR="87869" marT="87869" marB="87869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4220927"/>
                  </a:ext>
                </a:extLst>
              </a:tr>
              <a:tr h="6209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Analyste IAM</a:t>
                      </a:r>
                    </a:p>
                  </a:txBody>
                  <a:tcPr marL="114230" marR="87869" marT="87869" marB="878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GRP_IT_IAM, GRP_ADMIN_TOOLS</a:t>
                      </a:r>
                    </a:p>
                  </a:txBody>
                  <a:tcPr marL="114230" marR="87869" marT="87869" marB="87869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3993586"/>
                  </a:ext>
                </a:extLst>
              </a:tr>
              <a:tr h="6209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Technicien de laboratoire</a:t>
                      </a:r>
                    </a:p>
                  </a:txBody>
                  <a:tcPr marL="114230" marR="87869" marT="87869" marB="878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GRP_LAB, GRP_LAB_SYSTEM</a:t>
                      </a:r>
                    </a:p>
                  </a:txBody>
                  <a:tcPr marL="114230" marR="87869" marT="87869" marB="87869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6536684"/>
                  </a:ext>
                </a:extLst>
              </a:tr>
              <a:tr h="6209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Comptable</a:t>
                      </a:r>
                    </a:p>
                  </a:txBody>
                  <a:tcPr marL="114230" marR="87869" marT="87869" marB="878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GRP_FINANCE, GRP_FINANCE_SYSTEM</a:t>
                      </a:r>
                    </a:p>
                  </a:txBody>
                  <a:tcPr marL="114230" marR="87869" marT="87869" marB="87869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67714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36834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2A8C76-0BC3-33FA-C909-914D24E5C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921D162-DF61-7F3D-4F82-10EF44D6D4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6722" y="586855"/>
            <a:ext cx="3201366" cy="338749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Contrôles de Gouvernance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4D62E4-A2F1-7B5B-1EEA-3C6BBF949F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34811" y="649481"/>
            <a:ext cx="6154388" cy="5517640"/>
          </a:xfrm>
        </p:spPr>
        <p:txBody>
          <a:bodyPr vert="horz" lIns="91440" tIns="45720" rIns="91440" bIns="45720" rtlCol="0" anchor="ctr">
            <a:noAutofit/>
          </a:bodyPr>
          <a:lstStyle/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400" dirty="0"/>
              <a:t>Le </a:t>
            </a:r>
            <a:r>
              <a:rPr lang="en-US" sz="1400" dirty="0" err="1"/>
              <a:t>système</a:t>
            </a:r>
            <a:r>
              <a:rPr lang="en-US" sz="1400" dirty="0"/>
              <a:t> </a:t>
            </a:r>
            <a:r>
              <a:rPr lang="en-US" sz="1400" dirty="0" err="1"/>
              <a:t>valide</a:t>
            </a:r>
            <a:r>
              <a:rPr lang="en-US" sz="1400" dirty="0"/>
              <a:t> les données RH avant toute attribution </a:t>
            </a:r>
            <a:r>
              <a:rPr lang="en-US" sz="1400" dirty="0" err="1"/>
              <a:t>d'accès</a:t>
            </a:r>
            <a:r>
              <a:rPr lang="en-US" sz="1400" dirty="0"/>
              <a:t>.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sz="1400" dirty="0"/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400" dirty="0" err="1"/>
              <a:t>Contrôles</a:t>
            </a:r>
            <a:r>
              <a:rPr lang="en-US" sz="1400" dirty="0"/>
              <a:t> </a:t>
            </a:r>
            <a:r>
              <a:rPr lang="en-US" sz="1400" dirty="0" err="1"/>
              <a:t>obligatoires</a:t>
            </a:r>
            <a:r>
              <a:rPr lang="en-US" sz="1400" dirty="0"/>
              <a:t> :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sz="1400" dirty="0"/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400" dirty="0"/>
              <a:t>✓ </a:t>
            </a:r>
            <a:r>
              <a:rPr lang="en-US" sz="1400" dirty="0" err="1"/>
              <a:t>Gestionnaire</a:t>
            </a:r>
            <a:endParaRPr lang="en-US" sz="1400" dirty="0"/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400" dirty="0"/>
              <a:t>✓ Département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400" dirty="0"/>
              <a:t>✓ </a:t>
            </a:r>
            <a:r>
              <a:rPr lang="en-US" sz="1400" dirty="0" err="1"/>
              <a:t>Titre</a:t>
            </a:r>
            <a:r>
              <a:rPr lang="en-US" sz="1400" dirty="0"/>
              <a:t> du poste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400" dirty="0"/>
              <a:t>✓ Date de début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400" dirty="0"/>
              <a:t>✓ </a:t>
            </a:r>
            <a:r>
              <a:rPr lang="en-US" sz="1400" dirty="0" err="1"/>
              <a:t>Correspondance</a:t>
            </a:r>
            <a:r>
              <a:rPr lang="en-US" sz="1400" dirty="0"/>
              <a:t> RBAC</a:t>
            </a:r>
            <a:br>
              <a:rPr lang="en-US" sz="1400" dirty="0"/>
            </a:br>
            <a:br>
              <a:rPr lang="en-US" sz="1400" dirty="0"/>
            </a:br>
            <a:r>
              <a:rPr lang="en-US" sz="1400" dirty="0" err="1"/>
              <a:t>Exemples</a:t>
            </a:r>
            <a:r>
              <a:rPr lang="en-US" sz="1400" dirty="0"/>
              <a:t> de </a:t>
            </a:r>
            <a:r>
              <a:rPr lang="en-US" sz="1400" dirty="0" err="1"/>
              <a:t>demandes</a:t>
            </a:r>
            <a:r>
              <a:rPr lang="en-US" sz="1400" dirty="0"/>
              <a:t> </a:t>
            </a:r>
            <a:r>
              <a:rPr lang="en-US" sz="1400" dirty="0" err="1"/>
              <a:t>bloquées</a:t>
            </a:r>
            <a:r>
              <a:rPr lang="en-US" sz="1400" dirty="0"/>
              <a:t> :</a:t>
            </a:r>
            <a:br>
              <a:rPr lang="en-US" sz="1400" dirty="0"/>
            </a:br>
            <a:r>
              <a:rPr lang="en-US" sz="1400" dirty="0"/>
              <a:t>• </a:t>
            </a:r>
            <a:r>
              <a:rPr lang="en-US" sz="1400" dirty="0" err="1"/>
              <a:t>Gestionnaire</a:t>
            </a:r>
            <a:r>
              <a:rPr lang="en-US" sz="1400" dirty="0"/>
              <a:t> </a:t>
            </a:r>
            <a:r>
              <a:rPr lang="en-US" sz="1400" dirty="0" err="1"/>
              <a:t>manquant</a:t>
            </a:r>
            <a:endParaRPr lang="en-US" sz="1400" dirty="0"/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400" dirty="0"/>
              <a:t>• Département </a:t>
            </a:r>
            <a:r>
              <a:rPr lang="en-US" sz="1400" dirty="0" err="1"/>
              <a:t>manquant</a:t>
            </a:r>
            <a:endParaRPr lang="en-US" sz="1400" dirty="0"/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400" dirty="0"/>
              <a:t>• Nom </a:t>
            </a:r>
            <a:r>
              <a:rPr lang="en-US" sz="1400" dirty="0" err="1"/>
              <a:t>manquant</a:t>
            </a:r>
            <a:endParaRPr lang="en-US" sz="1400" dirty="0"/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400" dirty="0"/>
              <a:t>• </a:t>
            </a:r>
            <a:r>
              <a:rPr lang="en-US" sz="1400" dirty="0" err="1"/>
              <a:t>Rôle</a:t>
            </a:r>
            <a:r>
              <a:rPr lang="en-US" sz="1400" dirty="0"/>
              <a:t> non </a:t>
            </a:r>
            <a:r>
              <a:rPr lang="en-US" sz="1400" dirty="0" err="1"/>
              <a:t>défini</a:t>
            </a:r>
            <a:r>
              <a:rPr lang="en-US" sz="1400" dirty="0"/>
              <a:t> dans le RBAC</a:t>
            </a:r>
            <a:br>
              <a:rPr lang="en-US" sz="1400" dirty="0"/>
            </a:br>
            <a:br>
              <a:rPr lang="en-US" sz="1400" dirty="0"/>
            </a:br>
            <a:r>
              <a:rPr lang="en-US" sz="1400" dirty="0"/>
              <a:t>Message :</a:t>
            </a:r>
            <a:br>
              <a:rPr lang="en-US" sz="1400" dirty="0"/>
            </a:br>
            <a:r>
              <a:rPr lang="en-US" sz="1400" dirty="0" err="1"/>
              <a:t>Aucun</a:t>
            </a:r>
            <a:r>
              <a:rPr lang="en-US" sz="1400" dirty="0"/>
              <a:t> </a:t>
            </a:r>
            <a:r>
              <a:rPr lang="en-US" sz="1400" dirty="0" err="1"/>
              <a:t>accès</a:t>
            </a:r>
            <a:r>
              <a:rPr lang="en-US" sz="1400" dirty="0"/>
              <a:t> </a:t>
            </a:r>
            <a:r>
              <a:rPr lang="en-US" sz="1400" dirty="0" err="1"/>
              <a:t>n'est</a:t>
            </a:r>
            <a:r>
              <a:rPr lang="en-US" sz="1400" dirty="0"/>
              <a:t> </a:t>
            </a:r>
            <a:r>
              <a:rPr lang="en-US" sz="1400" dirty="0" err="1"/>
              <a:t>accordé</a:t>
            </a:r>
            <a:r>
              <a:rPr lang="en-US" sz="1400" dirty="0"/>
              <a:t> tant </a:t>
            </a:r>
            <a:r>
              <a:rPr lang="en-US" sz="1400" dirty="0" err="1"/>
              <a:t>que</a:t>
            </a:r>
            <a:r>
              <a:rPr lang="en-US" sz="1400" dirty="0"/>
              <a:t> les données </a:t>
            </a:r>
            <a:r>
              <a:rPr lang="en-US" sz="1400" dirty="0" err="1"/>
              <a:t>requises</a:t>
            </a:r>
            <a:r>
              <a:rPr lang="en-US" sz="1400" dirty="0"/>
              <a:t> ne </a:t>
            </a:r>
            <a:r>
              <a:rPr lang="en-US" sz="1400" dirty="0" err="1"/>
              <a:t>sont</a:t>
            </a:r>
            <a:r>
              <a:rPr lang="en-US" sz="1400" dirty="0"/>
              <a:t> pas </a:t>
            </a:r>
            <a:r>
              <a:rPr lang="en-US" sz="1400" dirty="0" err="1"/>
              <a:t>conformes</a:t>
            </a:r>
            <a:r>
              <a:rPr lang="en-US" sz="1400" dirty="0"/>
              <a:t>.</a:t>
            </a:r>
            <a:br>
              <a:rPr lang="en-US" sz="1400" dirty="0"/>
            </a:br>
            <a:r>
              <a:rPr lang="en-US" sz="1400" dirty="0" err="1"/>
              <a:t>Aucun</a:t>
            </a:r>
            <a:r>
              <a:rPr lang="en-US" sz="1400" dirty="0"/>
              <a:t> compte </a:t>
            </a:r>
            <a:r>
              <a:rPr lang="en-US" sz="1400" dirty="0" err="1"/>
              <a:t>n'est</a:t>
            </a:r>
            <a:r>
              <a:rPr lang="en-US" sz="1400" dirty="0"/>
              <a:t> </a:t>
            </a:r>
            <a:r>
              <a:rPr lang="en-US" sz="1400" dirty="0" err="1"/>
              <a:t>créé</a:t>
            </a:r>
            <a:r>
              <a:rPr lang="en-US" sz="1400" dirty="0"/>
              <a:t> </a:t>
            </a:r>
            <a:r>
              <a:rPr lang="en-US" sz="1400" dirty="0" err="1"/>
              <a:t>si</a:t>
            </a:r>
            <a:r>
              <a:rPr lang="en-US" sz="1400" dirty="0"/>
              <a:t> les validations </a:t>
            </a:r>
            <a:r>
              <a:rPr lang="en-US" sz="1400" dirty="0" err="1"/>
              <a:t>échouent</a:t>
            </a:r>
            <a:r>
              <a:rPr lang="en-US" sz="1400" dirty="0"/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BDD05C-DA03-4903-3532-A199CAD818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6060" y="535096"/>
            <a:ext cx="1485040" cy="5348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8529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2D202B-1C22-A0B1-9754-1A5AB01B0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70150A-238B-C692-4481-DEC8783FD1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713" y="248038"/>
            <a:ext cx="7063721" cy="1159200"/>
          </a:xfrm>
        </p:spPr>
        <p:txBody>
          <a:bodyPr anchor="ctr">
            <a:normAutofit/>
          </a:bodyPr>
          <a:lstStyle/>
          <a:p>
            <a:pPr algn="l"/>
            <a:r>
              <a:rPr lang="en-US" sz="4000">
                <a:solidFill>
                  <a:srgbClr val="FFFFFF"/>
                </a:solidFill>
              </a:rPr>
              <a:t>Audit &amp; Reporting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72BEAB-375A-9DD8-C438-9E6B305DDD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72499" y="390832"/>
            <a:ext cx="3233585" cy="873612"/>
          </a:xfrm>
        </p:spPr>
        <p:txBody>
          <a:bodyPr anchor="ctr">
            <a:normAutofit/>
          </a:bodyPr>
          <a:lstStyle/>
          <a:p>
            <a:pPr algn="l"/>
            <a:endParaRPr lang="en-US" sz="200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1B3BF0-195A-30E3-FD0F-E3C41C77E9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432" y="1655276"/>
            <a:ext cx="11186652" cy="495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32567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AFC15D-D345-FFDC-EAA0-56FDEEFF7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3180E48-298B-5FBC-6F0A-8D349AFAA1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0041" y="2767106"/>
            <a:ext cx="2880828" cy="3071906"/>
          </a:xfrm>
        </p:spPr>
        <p:txBody>
          <a:bodyPr anchor="t">
            <a:normAutofit/>
          </a:bodyPr>
          <a:lstStyle/>
          <a:p>
            <a:pPr algn="l"/>
            <a:r>
              <a:rPr lang="en-US" sz="4000">
                <a:solidFill>
                  <a:srgbClr val="FFFFFF"/>
                </a:solidFill>
              </a:rPr>
              <a:t>Future Enterprise Architecture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2A73DF-3A8E-9DA8-ED34-0A06348B9D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586" y="4562169"/>
            <a:ext cx="2919738" cy="2074606"/>
          </a:xfrm>
        </p:spPr>
        <p:txBody>
          <a:bodyPr anchor="b">
            <a:normAutofit fontScale="77500" lnSpcReduction="20000"/>
          </a:bodyPr>
          <a:lstStyle/>
          <a:p>
            <a:pPr algn="l"/>
            <a:r>
              <a:rPr lang="fr-FR" sz="2000" dirty="0">
                <a:solidFill>
                  <a:srgbClr val="FFFFFF"/>
                </a:solidFill>
              </a:rPr>
              <a:t>Prochaine phase du projet :</a:t>
            </a:r>
          </a:p>
          <a:p>
            <a:pPr algn="l"/>
            <a:endParaRPr lang="fr-FR" sz="2000" dirty="0">
              <a:solidFill>
                <a:srgbClr val="FFFFFF"/>
              </a:solidFill>
            </a:endParaRPr>
          </a:p>
          <a:p>
            <a:pPr algn="l"/>
            <a:r>
              <a:rPr lang="fr-FR" sz="2000" dirty="0">
                <a:solidFill>
                  <a:srgbClr val="FFFFFF"/>
                </a:solidFill>
              </a:rPr>
              <a:t>• Windows Server 2022</a:t>
            </a:r>
          </a:p>
          <a:p>
            <a:pPr algn="l"/>
            <a:r>
              <a:rPr lang="fr-FR" sz="2000" dirty="0">
                <a:solidFill>
                  <a:srgbClr val="FFFFFF"/>
                </a:solidFill>
              </a:rPr>
              <a:t>• Active Directory</a:t>
            </a:r>
          </a:p>
          <a:p>
            <a:pPr algn="l"/>
            <a:r>
              <a:rPr lang="fr-FR" sz="2000" dirty="0">
                <a:solidFill>
                  <a:srgbClr val="FFFFFF"/>
                </a:solidFill>
              </a:rPr>
              <a:t>• Microsoft Entra ID</a:t>
            </a:r>
          </a:p>
          <a:p>
            <a:pPr algn="l"/>
            <a:r>
              <a:rPr lang="fr-FR" sz="2000" dirty="0">
                <a:solidFill>
                  <a:srgbClr val="FFFFFF"/>
                </a:solidFill>
              </a:rPr>
              <a:t>• Microsoft 365</a:t>
            </a:r>
          </a:p>
          <a:p>
            <a:pPr algn="l"/>
            <a:r>
              <a:rPr lang="fr-FR" sz="2000" dirty="0">
                <a:solidFill>
                  <a:srgbClr val="FFFFFF"/>
                </a:solidFill>
              </a:rPr>
              <a:t>• Intégration ITSM</a:t>
            </a:r>
            <a:endParaRPr lang="en-US" sz="2000"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E988A8-A4EF-BD17-E474-5A07167C68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6877" y="467208"/>
            <a:ext cx="7136849" cy="592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80172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44C716-0872-D602-61DD-2F57C0C02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8589AF-0722-EE99-BA73-8A93DB8E09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0041" y="2767106"/>
            <a:ext cx="2880828" cy="3071906"/>
          </a:xfrm>
        </p:spPr>
        <p:txBody>
          <a:bodyPr anchor="t">
            <a:normAutofit/>
          </a:bodyPr>
          <a:lstStyle/>
          <a:p>
            <a:pPr algn="l"/>
            <a:r>
              <a:rPr lang="en-US" sz="4000">
                <a:solidFill>
                  <a:srgbClr val="FFFFFF"/>
                </a:solidFill>
              </a:rPr>
              <a:t>Feuille de Route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4C9189-F6D9-57E3-B740-3904A9DB68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5639" y="4060723"/>
            <a:ext cx="3490451" cy="2430567"/>
          </a:xfrm>
        </p:spPr>
        <p:txBody>
          <a:bodyPr anchor="b">
            <a:normAutofit/>
          </a:bodyPr>
          <a:lstStyle/>
          <a:p>
            <a:pPr algn="l"/>
            <a:r>
              <a:rPr lang="en-US" sz="2000" dirty="0">
                <a:solidFill>
                  <a:srgbClr val="FFFFFF"/>
                </a:solidFill>
              </a:rPr>
              <a:t>Phase 1  MVP Local          ✓</a:t>
            </a:r>
          </a:p>
          <a:p>
            <a:pPr algn="l"/>
            <a:r>
              <a:rPr lang="en-US" sz="2000" dirty="0">
                <a:solidFill>
                  <a:srgbClr val="FFFFFF"/>
                </a:solidFill>
              </a:rPr>
              <a:t>Phase 2  Active Directory</a:t>
            </a:r>
          </a:p>
          <a:p>
            <a:pPr algn="l"/>
            <a:r>
              <a:rPr lang="en-US" sz="2000" dirty="0">
                <a:solidFill>
                  <a:srgbClr val="FFFFFF"/>
                </a:solidFill>
              </a:rPr>
              <a:t>Phase 3  Entra ID</a:t>
            </a:r>
          </a:p>
          <a:p>
            <a:pPr algn="l"/>
            <a:r>
              <a:rPr lang="en-US" sz="2000" dirty="0">
                <a:solidFill>
                  <a:srgbClr val="FFFFFF"/>
                </a:solidFill>
              </a:rPr>
              <a:t>Phase 4  ITSM</a:t>
            </a:r>
          </a:p>
          <a:p>
            <a:pPr algn="l"/>
            <a:r>
              <a:rPr lang="en-US" sz="2000" dirty="0">
                <a:solidFill>
                  <a:srgbClr val="FFFFFF"/>
                </a:solidFill>
              </a:rPr>
              <a:t>Phase 5  IAM </a:t>
            </a:r>
            <a:r>
              <a:rPr lang="en-US" sz="2000" dirty="0" err="1">
                <a:solidFill>
                  <a:srgbClr val="FFFFFF"/>
                </a:solidFill>
              </a:rPr>
              <a:t>Entreprise</a:t>
            </a:r>
            <a:endParaRPr lang="en-US" sz="2000"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DB99E8-90D3-AFEC-79EE-AB36438B7E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9373" y="467208"/>
            <a:ext cx="3731857" cy="592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8193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5E1F63-3608-174A-BF31-FAB881FB7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DF98EC-FDEF-43F5-21C4-1F4CD65915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0041" y="2767106"/>
            <a:ext cx="2880828" cy="3071906"/>
          </a:xfrm>
        </p:spPr>
        <p:txBody>
          <a:bodyPr anchor="t">
            <a:normAutofit/>
          </a:bodyPr>
          <a:lstStyle/>
          <a:p>
            <a:pPr algn="l"/>
            <a:r>
              <a:rPr lang="en-US" sz="4000" dirty="0">
                <a:solidFill>
                  <a:schemeClr val="bg1"/>
                </a:solidFill>
              </a:rPr>
              <a:t>À </a:t>
            </a:r>
            <a:r>
              <a:rPr lang="en-US" sz="4000" dirty="0" err="1">
                <a:solidFill>
                  <a:schemeClr val="bg1"/>
                </a:solidFill>
              </a:rPr>
              <a:t>propos</a:t>
            </a:r>
            <a:r>
              <a:rPr lang="en-US" sz="4000" dirty="0">
                <a:solidFill>
                  <a:schemeClr val="bg1"/>
                </a:solidFill>
              </a:rPr>
              <a:t> de </a:t>
            </a:r>
            <a:r>
              <a:rPr lang="en-US" sz="4000" dirty="0" err="1">
                <a:solidFill>
                  <a:schemeClr val="bg1"/>
                </a:solidFill>
              </a:rPr>
              <a:t>l’auteur</a:t>
            </a:r>
            <a:endParaRPr lang="en-US" sz="4000" dirty="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09ED5F-3706-9B13-6C0D-8910BDD276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0042" y="806824"/>
            <a:ext cx="2919738" cy="1494117"/>
          </a:xfrm>
        </p:spPr>
        <p:txBody>
          <a:bodyPr anchor="b">
            <a:normAutofit/>
          </a:bodyPr>
          <a:lstStyle/>
          <a:p>
            <a:pPr algn="l"/>
            <a:endParaRPr lang="en-US" sz="200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3F6BE2-1DF4-DB8E-4A76-EFBFF09187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161" y="467208"/>
            <a:ext cx="5094281" cy="592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62110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357</Words>
  <Application>Microsoft Office PowerPoint</Application>
  <PresentationFormat>Widescreen</PresentationFormat>
  <Paragraphs>75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Automatisation du Cycle de Vie des Identités (IAM)</vt:lpstr>
      <vt:lpstr>Défis Métier</vt:lpstr>
      <vt:lpstr>Vue d’Ensemble de la Solution</vt:lpstr>
      <vt:lpstr>Local MVP Architecture</vt:lpstr>
      <vt:lpstr>Joiner Workflow</vt:lpstr>
      <vt:lpstr>Mover Workflow</vt:lpstr>
      <vt:lpstr>Leaver Workflow</vt:lpstr>
      <vt:lpstr>Contrôle d’Accès Basé sur les Rôles (RBAC)</vt:lpstr>
      <vt:lpstr>Contrôles de Gouvernance</vt:lpstr>
      <vt:lpstr>Audit &amp; Reporting</vt:lpstr>
      <vt:lpstr>Future Enterprise Architecture</vt:lpstr>
      <vt:lpstr>Feuille de Route</vt:lpstr>
      <vt:lpstr>À propos de l’auteur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francis kgf</dc:creator>
  <cp:lastModifiedBy>francis kgf</cp:lastModifiedBy>
  <cp:revision>11</cp:revision>
  <dcterms:created xsi:type="dcterms:W3CDTF">2026-06-05T22:42:36Z</dcterms:created>
  <dcterms:modified xsi:type="dcterms:W3CDTF">2026-06-08T22:53:00Z</dcterms:modified>
</cp:coreProperties>
</file>