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5"/>
  </p:notesMasterIdLst>
  <p:sldIdLst>
    <p:sldId id="268" r:id="rId2"/>
    <p:sldId id="256" r:id="rId3"/>
    <p:sldId id="257" r:id="rId4"/>
    <p:sldId id="258" r:id="rId5"/>
    <p:sldId id="260" r:id="rId6"/>
    <p:sldId id="262" r:id="rId7"/>
    <p:sldId id="263" r:id="rId8"/>
    <p:sldId id="259" r:id="rId9"/>
    <p:sldId id="261" r:id="rId10"/>
    <p:sldId id="264" r:id="rId11"/>
    <p:sldId id="265" r:id="rId12"/>
    <p:sldId id="266" r:id="rId13"/>
    <p:sldId id="267"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3987" autoAdjust="0"/>
  </p:normalViewPr>
  <p:slideViewPr>
    <p:cSldViewPr snapToGrid="0">
      <p:cViewPr varScale="1">
        <p:scale>
          <a:sx n="46" d="100"/>
          <a:sy n="46" d="100"/>
        </p:scale>
        <p:origin x="72" y="341"/>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80E9DBE-3662-4895-B281-A721E3F5222D}" type="datetimeFigureOut">
              <a:rPr lang="en-US" smtClean="0"/>
              <a:t>6/10/2026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CADF99C-AF7E-4688-B727-7B33BD5CCDA3}" type="slidenum">
              <a:rPr lang="en-US" smtClean="0"/>
              <a:t>‹#›</a:t>
            </a:fld>
            <a:endParaRPr lang="en-US"/>
          </a:p>
        </p:txBody>
      </p:sp>
    </p:spTree>
    <p:extLst>
      <p:ext uri="{BB962C8B-B14F-4D97-AF65-F5344CB8AC3E}">
        <p14:creationId xmlns:p14="http://schemas.microsoft.com/office/powerpoint/2010/main" val="24910752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Speech1: “Bonjour et merci de </a:t>
            </a:r>
            <a:r>
              <a:rPr lang="en-US" dirty="0" err="1"/>
              <a:t>votre</a:t>
            </a:r>
            <a:r>
              <a:rPr lang="en-US" dirty="0"/>
              <a:t> </a:t>
            </a:r>
            <a:r>
              <a:rPr lang="en-US" dirty="0" err="1"/>
              <a:t>présence</a:t>
            </a:r>
            <a:r>
              <a:rPr lang="en-US" dirty="0"/>
              <a:t>. Suite à </a:t>
            </a:r>
            <a:r>
              <a:rPr lang="en-US" dirty="0" err="1"/>
              <a:t>votre</a:t>
            </a:r>
            <a:r>
              <a:rPr lang="en-US" dirty="0"/>
              <a:t> </a:t>
            </a:r>
            <a:r>
              <a:rPr lang="en-US" dirty="0" err="1"/>
              <a:t>besoin</a:t>
            </a:r>
            <a:r>
              <a:rPr lang="en-US" dirty="0"/>
              <a:t> </a:t>
            </a:r>
            <a:r>
              <a:rPr lang="en-US" dirty="0" err="1"/>
              <a:t>concernant</a:t>
            </a:r>
            <a:r>
              <a:rPr lang="en-US" dirty="0"/>
              <a:t> </a:t>
            </a:r>
            <a:r>
              <a:rPr lang="en-US" dirty="0" err="1"/>
              <a:t>l'automatisation</a:t>
            </a:r>
            <a:r>
              <a:rPr lang="en-US" dirty="0"/>
              <a:t> de la gestion des </a:t>
            </a:r>
            <a:r>
              <a:rPr lang="en-US" dirty="0" err="1"/>
              <a:t>identités</a:t>
            </a:r>
            <a:r>
              <a:rPr lang="en-US" dirty="0"/>
              <a:t> et des </a:t>
            </a:r>
            <a:r>
              <a:rPr lang="en-US" dirty="0" err="1"/>
              <a:t>accès</a:t>
            </a:r>
            <a:r>
              <a:rPr lang="en-US" dirty="0"/>
              <a:t>, </a:t>
            </a:r>
            <a:r>
              <a:rPr lang="en-US" dirty="0" err="1"/>
              <a:t>j'ai</a:t>
            </a:r>
            <a:r>
              <a:rPr lang="en-US" dirty="0"/>
              <a:t> </a:t>
            </a:r>
            <a:r>
              <a:rPr lang="en-US" dirty="0" err="1"/>
              <a:t>réalisé</a:t>
            </a:r>
            <a:r>
              <a:rPr lang="en-US" dirty="0"/>
              <a:t> </a:t>
            </a:r>
            <a:r>
              <a:rPr lang="en-US" dirty="0" err="1"/>
              <a:t>cette</a:t>
            </a:r>
            <a:r>
              <a:rPr lang="en-US" dirty="0"/>
              <a:t> </a:t>
            </a:r>
            <a:r>
              <a:rPr lang="en-US" dirty="0" err="1"/>
              <a:t>preuve</a:t>
            </a:r>
            <a:r>
              <a:rPr lang="en-US" dirty="0"/>
              <a:t> de concept </a:t>
            </a:r>
            <a:r>
              <a:rPr lang="en-US" dirty="0" err="1"/>
              <a:t>intitulée</a:t>
            </a:r>
            <a:r>
              <a:rPr lang="en-US" dirty="0"/>
              <a:t> « </a:t>
            </a:r>
            <a:r>
              <a:rPr lang="en-US" dirty="0" err="1"/>
              <a:t>Automatisation</a:t>
            </a:r>
            <a:r>
              <a:rPr lang="en-US" dirty="0"/>
              <a:t> du cycle de vie des </a:t>
            </a:r>
            <a:r>
              <a:rPr lang="en-US" dirty="0" err="1"/>
              <a:t>identités</a:t>
            </a:r>
            <a:r>
              <a:rPr lang="en-US" dirty="0"/>
              <a:t> ». </a:t>
            </a:r>
            <a:r>
              <a:rPr lang="en-US" dirty="0" err="1"/>
              <a:t>L'objectif</a:t>
            </a:r>
            <a:r>
              <a:rPr lang="en-US" dirty="0"/>
              <a:t> principal est de </a:t>
            </a:r>
            <a:r>
              <a:rPr lang="en-US" dirty="0" err="1"/>
              <a:t>démontrer</a:t>
            </a:r>
            <a:r>
              <a:rPr lang="en-US" dirty="0"/>
              <a:t> comment il est possible </a:t>
            </a:r>
            <a:r>
              <a:rPr lang="en-US" dirty="0" err="1"/>
              <a:t>d'automatiser</a:t>
            </a:r>
            <a:r>
              <a:rPr lang="en-US" dirty="0"/>
              <a:t> </a:t>
            </a:r>
            <a:r>
              <a:rPr lang="en-US" dirty="0" err="1"/>
              <a:t>l'arrivée</a:t>
            </a:r>
            <a:r>
              <a:rPr lang="en-US" dirty="0"/>
              <a:t>, les changements de poste et le </a:t>
            </a:r>
            <a:r>
              <a:rPr lang="en-US" dirty="0" err="1"/>
              <a:t>départ</a:t>
            </a:r>
            <a:r>
              <a:rPr lang="en-US" dirty="0"/>
              <a:t> des </a:t>
            </a:r>
            <a:r>
              <a:rPr lang="en-US" dirty="0" err="1"/>
              <a:t>employés</a:t>
            </a:r>
            <a:r>
              <a:rPr lang="en-US" dirty="0"/>
              <a:t> tout </a:t>
            </a:r>
            <a:r>
              <a:rPr lang="en-US" dirty="0" err="1"/>
              <a:t>en</a:t>
            </a:r>
            <a:r>
              <a:rPr lang="en-US" dirty="0"/>
              <a:t> </a:t>
            </a:r>
            <a:r>
              <a:rPr lang="en-US" dirty="0" err="1"/>
              <a:t>appliquant</a:t>
            </a:r>
            <a:r>
              <a:rPr lang="en-US" dirty="0"/>
              <a:t> les principes de sécurité, de </a:t>
            </a:r>
            <a:r>
              <a:rPr lang="en-US" dirty="0" err="1"/>
              <a:t>gouvernance</a:t>
            </a:r>
            <a:r>
              <a:rPr lang="en-US" dirty="0"/>
              <a:t>, de </a:t>
            </a:r>
            <a:r>
              <a:rPr lang="en-US" dirty="0" err="1"/>
              <a:t>contrôle</a:t>
            </a:r>
            <a:r>
              <a:rPr lang="en-US" dirty="0"/>
              <a:t> </a:t>
            </a:r>
            <a:r>
              <a:rPr lang="en-US" dirty="0" err="1"/>
              <a:t>d'accès</a:t>
            </a:r>
            <a:r>
              <a:rPr lang="en-US" dirty="0"/>
              <a:t> </a:t>
            </a:r>
            <a:r>
              <a:rPr lang="en-US" dirty="0" err="1"/>
              <a:t>basé</a:t>
            </a:r>
            <a:r>
              <a:rPr lang="en-US" dirty="0"/>
              <a:t> sur les </a:t>
            </a:r>
            <a:r>
              <a:rPr lang="en-US" dirty="0" err="1"/>
              <a:t>rôles</a:t>
            </a:r>
            <a:r>
              <a:rPr lang="en-US" dirty="0"/>
              <a:t> et de </a:t>
            </a:r>
            <a:r>
              <a:rPr lang="en-US" dirty="0" err="1"/>
              <a:t>traçabilité</a:t>
            </a:r>
            <a:r>
              <a:rPr lang="en-US" dirty="0"/>
              <a:t>.”</a:t>
            </a:r>
            <a:br>
              <a:rPr lang="en-US" dirty="0"/>
            </a:br>
            <a:br>
              <a:rPr lang="en-US" dirty="0"/>
            </a:br>
            <a:br>
              <a:rPr lang="en-US" dirty="0"/>
            </a:br>
            <a:br>
              <a:rPr lang="en-US" dirty="0"/>
            </a:br>
            <a:br>
              <a:rPr lang="en-US" dirty="0"/>
            </a:br>
            <a:r>
              <a:rPr lang="en-US" dirty="0"/>
              <a:t>Speech2: “Le </a:t>
            </a:r>
            <a:r>
              <a:rPr lang="en-US" dirty="0" err="1"/>
              <a:t>projet</a:t>
            </a:r>
            <a:r>
              <a:rPr lang="en-US" dirty="0"/>
              <a:t> </a:t>
            </a:r>
            <a:r>
              <a:rPr lang="en-US" dirty="0" err="1"/>
              <a:t>répond</a:t>
            </a:r>
            <a:r>
              <a:rPr lang="en-US" dirty="0"/>
              <a:t> à un </a:t>
            </a:r>
            <a:r>
              <a:rPr lang="en-US" dirty="0" err="1"/>
              <a:t>problème</a:t>
            </a:r>
            <a:r>
              <a:rPr lang="en-US" dirty="0"/>
              <a:t> </a:t>
            </a:r>
            <a:r>
              <a:rPr lang="en-US" dirty="0" err="1"/>
              <a:t>fréquent</a:t>
            </a:r>
            <a:r>
              <a:rPr lang="en-US" dirty="0"/>
              <a:t> dans les </a:t>
            </a:r>
            <a:r>
              <a:rPr lang="en-US" dirty="0" err="1"/>
              <a:t>établissements</a:t>
            </a:r>
            <a:r>
              <a:rPr lang="en-US" dirty="0"/>
              <a:t> de santé : la gestion du cycle de vie des </a:t>
            </a:r>
            <a:r>
              <a:rPr lang="en-US" dirty="0" err="1"/>
              <a:t>employés</a:t>
            </a:r>
            <a:r>
              <a:rPr lang="en-US" dirty="0"/>
              <a:t> et des </a:t>
            </a:r>
            <a:r>
              <a:rPr lang="en-US" dirty="0" err="1"/>
              <a:t>accès</a:t>
            </a:r>
            <a:r>
              <a:rPr lang="en-US" dirty="0"/>
              <a:t> </a:t>
            </a:r>
            <a:r>
              <a:rPr lang="en-US" dirty="0" err="1"/>
              <a:t>associés</a:t>
            </a:r>
            <a:r>
              <a:rPr lang="en-US" dirty="0"/>
              <a:t>. </a:t>
            </a:r>
            <a:r>
              <a:rPr lang="en-US" dirty="0" err="1"/>
              <a:t>L'objectif</a:t>
            </a:r>
            <a:r>
              <a:rPr lang="en-US" dirty="0"/>
              <a:t> est </a:t>
            </a:r>
            <a:r>
              <a:rPr lang="en-US" dirty="0" err="1"/>
              <a:t>d'automatiser</a:t>
            </a:r>
            <a:r>
              <a:rPr lang="en-US" dirty="0"/>
              <a:t> </a:t>
            </a:r>
            <a:r>
              <a:rPr lang="en-US" dirty="0" err="1"/>
              <a:t>l'arrivée</a:t>
            </a:r>
            <a:r>
              <a:rPr lang="en-US" dirty="0"/>
              <a:t>, les changements de poste et le </a:t>
            </a:r>
            <a:r>
              <a:rPr lang="en-US" dirty="0" err="1"/>
              <a:t>départ</a:t>
            </a:r>
            <a:r>
              <a:rPr lang="en-US" dirty="0"/>
              <a:t> des </a:t>
            </a:r>
            <a:r>
              <a:rPr lang="en-US" dirty="0" err="1"/>
              <a:t>employés</a:t>
            </a:r>
            <a:r>
              <a:rPr lang="en-US" dirty="0"/>
              <a:t> tout </a:t>
            </a:r>
            <a:r>
              <a:rPr lang="en-US" dirty="0" err="1"/>
              <a:t>en</a:t>
            </a:r>
            <a:r>
              <a:rPr lang="en-US" dirty="0"/>
              <a:t> </a:t>
            </a:r>
            <a:r>
              <a:rPr lang="en-US" dirty="0" err="1"/>
              <a:t>appliquant</a:t>
            </a:r>
            <a:r>
              <a:rPr lang="en-US" dirty="0"/>
              <a:t> les principes de sécurité, de </a:t>
            </a:r>
            <a:r>
              <a:rPr lang="en-US" dirty="0" err="1"/>
              <a:t>gouvernance</a:t>
            </a:r>
            <a:r>
              <a:rPr lang="en-US" dirty="0"/>
              <a:t> et de </a:t>
            </a:r>
            <a:r>
              <a:rPr lang="en-US" dirty="0" err="1"/>
              <a:t>traçabilité</a:t>
            </a:r>
            <a:r>
              <a:rPr lang="en-US" dirty="0"/>
              <a:t>.</a:t>
            </a:r>
            <a:br>
              <a:rPr lang="en-US" dirty="0"/>
            </a:br>
            <a:br>
              <a:rPr lang="en-US" dirty="0"/>
            </a:br>
            <a:r>
              <a:rPr lang="en-US" dirty="0"/>
              <a:t>Pour </a:t>
            </a:r>
            <a:r>
              <a:rPr lang="en-US" dirty="0" err="1"/>
              <a:t>réaliser</a:t>
            </a:r>
            <a:r>
              <a:rPr lang="en-US" dirty="0"/>
              <a:t> </a:t>
            </a:r>
            <a:r>
              <a:rPr lang="en-US" dirty="0" err="1"/>
              <a:t>cette</a:t>
            </a:r>
            <a:r>
              <a:rPr lang="en-US" dirty="0"/>
              <a:t> </a:t>
            </a:r>
            <a:r>
              <a:rPr lang="en-US" dirty="0" err="1"/>
              <a:t>preuve</a:t>
            </a:r>
            <a:r>
              <a:rPr lang="en-US" dirty="0"/>
              <a:t> de concept, </a:t>
            </a:r>
            <a:r>
              <a:rPr lang="en-US" dirty="0" err="1"/>
              <a:t>j'ai</a:t>
            </a:r>
            <a:r>
              <a:rPr lang="en-US" dirty="0"/>
              <a:t> </a:t>
            </a:r>
            <a:r>
              <a:rPr lang="en-US" dirty="0" err="1"/>
              <a:t>utilisé</a:t>
            </a:r>
            <a:r>
              <a:rPr lang="en-US" dirty="0"/>
              <a:t> PowerShell, Visual Studio Code, des </a:t>
            </a:r>
            <a:r>
              <a:rPr lang="en-US" dirty="0" err="1"/>
              <a:t>fichiers</a:t>
            </a:r>
            <a:r>
              <a:rPr lang="en-US" dirty="0"/>
              <a:t> CSV et un rapport HTML”</a:t>
            </a:r>
          </a:p>
        </p:txBody>
      </p:sp>
      <p:sp>
        <p:nvSpPr>
          <p:cNvPr id="4" name="Slide Number Placeholder 3"/>
          <p:cNvSpPr>
            <a:spLocks noGrp="1"/>
          </p:cNvSpPr>
          <p:nvPr>
            <p:ph type="sldNum" sz="quarter" idx="5"/>
          </p:nvPr>
        </p:nvSpPr>
        <p:spPr/>
        <p:txBody>
          <a:bodyPr/>
          <a:lstStyle/>
          <a:p>
            <a:fld id="{8CADF99C-AF7E-4688-B727-7B33BD5CCDA3}" type="slidenum">
              <a:rPr lang="en-US" smtClean="0"/>
              <a:t>1</a:t>
            </a:fld>
            <a:endParaRPr lang="en-US"/>
          </a:p>
        </p:txBody>
      </p:sp>
    </p:spTree>
    <p:extLst>
      <p:ext uri="{BB962C8B-B14F-4D97-AF65-F5344CB8AC3E}">
        <p14:creationId xmlns:p14="http://schemas.microsoft.com/office/powerpoint/2010/main" val="37394375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sz="2000" dirty="0"/>
              <a:t>Seepch1: “Dans les </a:t>
            </a:r>
            <a:r>
              <a:rPr lang="en-US" sz="2000" dirty="0" err="1"/>
              <a:t>établissements</a:t>
            </a:r>
            <a:r>
              <a:rPr lang="en-US" sz="2000" dirty="0"/>
              <a:t> de santé, des </a:t>
            </a:r>
            <a:r>
              <a:rPr lang="en-US" sz="2000" dirty="0" err="1"/>
              <a:t>centaines</a:t>
            </a:r>
            <a:r>
              <a:rPr lang="en-US" sz="2000" dirty="0"/>
              <a:t> </a:t>
            </a:r>
            <a:r>
              <a:rPr lang="en-US" sz="2000" dirty="0" err="1"/>
              <a:t>voire</a:t>
            </a:r>
            <a:r>
              <a:rPr lang="en-US" sz="2000" dirty="0"/>
              <a:t> des </a:t>
            </a:r>
            <a:r>
              <a:rPr lang="en-US" sz="2000" dirty="0" err="1"/>
              <a:t>milliers</a:t>
            </a:r>
            <a:r>
              <a:rPr lang="en-US" sz="2000" dirty="0"/>
              <a:t> </a:t>
            </a:r>
            <a:r>
              <a:rPr lang="en-US" sz="2000" dirty="0" err="1"/>
              <a:t>d'employés</a:t>
            </a:r>
            <a:r>
              <a:rPr lang="en-US" sz="2000" dirty="0"/>
              <a:t> </a:t>
            </a:r>
            <a:r>
              <a:rPr lang="en-US" sz="2000" dirty="0" err="1"/>
              <a:t>doivent</a:t>
            </a:r>
            <a:r>
              <a:rPr lang="en-US" sz="2000" dirty="0"/>
              <a:t> disposer des bons </a:t>
            </a:r>
            <a:r>
              <a:rPr lang="en-US" sz="2000" dirty="0" err="1"/>
              <a:t>accès</a:t>
            </a:r>
            <a:r>
              <a:rPr lang="en-US" sz="2000" dirty="0"/>
              <a:t> au bon moment. Une gestion </a:t>
            </a:r>
            <a:r>
              <a:rPr lang="en-US" sz="2000" dirty="0" err="1"/>
              <a:t>manuelle</a:t>
            </a:r>
            <a:r>
              <a:rPr lang="en-US" sz="2000" dirty="0"/>
              <a:t> des </a:t>
            </a:r>
            <a:r>
              <a:rPr lang="en-US" sz="2000" dirty="0" err="1"/>
              <a:t>comptes</a:t>
            </a:r>
            <a:r>
              <a:rPr lang="en-US" sz="2000" dirty="0"/>
              <a:t> </a:t>
            </a:r>
            <a:r>
              <a:rPr lang="en-US" sz="2000" dirty="0" err="1"/>
              <a:t>peut</a:t>
            </a:r>
            <a:r>
              <a:rPr lang="en-US" sz="2000" dirty="0"/>
              <a:t> </a:t>
            </a:r>
            <a:r>
              <a:rPr lang="en-US" sz="2000" dirty="0" err="1"/>
              <a:t>entraîner</a:t>
            </a:r>
            <a:r>
              <a:rPr lang="en-US" sz="2000" dirty="0"/>
              <a:t> des retards, des </a:t>
            </a:r>
            <a:r>
              <a:rPr lang="en-US" sz="2000" dirty="0" err="1"/>
              <a:t>erreurs</a:t>
            </a:r>
            <a:r>
              <a:rPr lang="en-US" sz="2000" dirty="0"/>
              <a:t>, des </a:t>
            </a:r>
            <a:r>
              <a:rPr lang="en-US" sz="2000" dirty="0" err="1"/>
              <a:t>privilèges</a:t>
            </a:r>
            <a:r>
              <a:rPr lang="en-US" sz="2000" dirty="0"/>
              <a:t> </a:t>
            </a:r>
            <a:r>
              <a:rPr lang="en-US" sz="2000" dirty="0" err="1"/>
              <a:t>excessifs</a:t>
            </a:r>
            <a:r>
              <a:rPr lang="en-US" sz="2000" dirty="0"/>
              <a:t> </a:t>
            </a:r>
            <a:r>
              <a:rPr lang="en-US" sz="2000" dirty="0" err="1"/>
              <a:t>ou</a:t>
            </a:r>
            <a:r>
              <a:rPr lang="en-US" sz="2000" dirty="0"/>
              <a:t> encore des </a:t>
            </a:r>
            <a:r>
              <a:rPr lang="en-US" sz="2000" dirty="0" err="1"/>
              <a:t>risques</a:t>
            </a:r>
            <a:r>
              <a:rPr lang="en-US" sz="2000" dirty="0"/>
              <a:t> de sécurité. </a:t>
            </a:r>
            <a:r>
              <a:rPr lang="en-US" sz="2000" dirty="0" err="1"/>
              <a:t>L'objectif</a:t>
            </a:r>
            <a:r>
              <a:rPr lang="en-US" sz="2000" dirty="0"/>
              <a:t> de </a:t>
            </a:r>
            <a:r>
              <a:rPr lang="en-US" sz="2000" dirty="0" err="1"/>
              <a:t>cette</a:t>
            </a:r>
            <a:r>
              <a:rPr lang="en-US" sz="2000" dirty="0"/>
              <a:t> solution est </a:t>
            </a:r>
            <a:r>
              <a:rPr lang="en-US" sz="2000" dirty="0" err="1"/>
              <a:t>donc</a:t>
            </a:r>
            <a:r>
              <a:rPr lang="en-US" sz="2000" dirty="0"/>
              <a:t> </a:t>
            </a:r>
            <a:r>
              <a:rPr lang="en-US" sz="2000" dirty="0" err="1"/>
              <a:t>d'améliorer</a:t>
            </a:r>
            <a:r>
              <a:rPr lang="en-US" sz="2000" dirty="0"/>
              <a:t> </a:t>
            </a:r>
            <a:r>
              <a:rPr lang="en-US" sz="2000" dirty="0" err="1"/>
              <a:t>l'efficacité</a:t>
            </a:r>
            <a:r>
              <a:rPr lang="en-US" sz="2000" dirty="0"/>
              <a:t> </a:t>
            </a:r>
            <a:r>
              <a:rPr lang="en-US" sz="2000" dirty="0" err="1"/>
              <a:t>opérationnelle</a:t>
            </a:r>
            <a:r>
              <a:rPr lang="en-US" sz="2000" dirty="0"/>
              <a:t> tout </a:t>
            </a:r>
            <a:r>
              <a:rPr lang="en-US" sz="2000" dirty="0" err="1"/>
              <a:t>en</a:t>
            </a:r>
            <a:r>
              <a:rPr lang="en-US" sz="2000" dirty="0"/>
              <a:t> </a:t>
            </a:r>
            <a:r>
              <a:rPr lang="en-US" sz="2000" dirty="0" err="1"/>
              <a:t>réduisant</a:t>
            </a:r>
            <a:r>
              <a:rPr lang="en-US" sz="2000" dirty="0"/>
              <a:t> </a:t>
            </a:r>
            <a:r>
              <a:rPr lang="en-US" sz="2000" dirty="0" err="1"/>
              <a:t>ces</a:t>
            </a:r>
            <a:r>
              <a:rPr lang="en-US" sz="2000" dirty="0"/>
              <a:t> </a:t>
            </a:r>
            <a:r>
              <a:rPr lang="en-US" sz="2000" dirty="0" err="1"/>
              <a:t>risques</a:t>
            </a:r>
            <a:r>
              <a:rPr lang="en-US" sz="2000" dirty="0"/>
              <a:t>.”</a:t>
            </a:r>
            <a:br>
              <a:rPr lang="en-US" sz="2000" dirty="0"/>
            </a:br>
            <a:br>
              <a:rPr lang="en-US" sz="2000" dirty="0"/>
            </a:br>
            <a:br>
              <a:rPr lang="en-US" sz="2000" dirty="0"/>
            </a:br>
            <a:br>
              <a:rPr lang="en-US" sz="2000" dirty="0"/>
            </a:br>
            <a:br>
              <a:rPr lang="en-US" sz="2000" dirty="0"/>
            </a:br>
            <a:r>
              <a:rPr lang="en-US" sz="2000" dirty="0"/>
              <a:t>Speech2: “Les </a:t>
            </a:r>
            <a:r>
              <a:rPr lang="en-US" sz="2000" dirty="0" err="1"/>
              <a:t>établissements</a:t>
            </a:r>
            <a:r>
              <a:rPr lang="en-US" sz="2000" dirty="0"/>
              <a:t> de santé </a:t>
            </a:r>
            <a:r>
              <a:rPr lang="en-US" sz="2000" dirty="0" err="1"/>
              <a:t>gèrent</a:t>
            </a:r>
            <a:r>
              <a:rPr lang="en-US" sz="2000" dirty="0"/>
              <a:t> des </a:t>
            </a:r>
            <a:r>
              <a:rPr lang="en-US" sz="2000" dirty="0" err="1"/>
              <a:t>centaines</a:t>
            </a:r>
            <a:r>
              <a:rPr lang="en-US" sz="2000" dirty="0"/>
              <a:t> </a:t>
            </a:r>
            <a:r>
              <a:rPr lang="en-US" sz="2000" dirty="0" err="1"/>
              <a:t>voire</a:t>
            </a:r>
            <a:r>
              <a:rPr lang="en-US" sz="2000" dirty="0"/>
              <a:t> des </a:t>
            </a:r>
            <a:r>
              <a:rPr lang="en-US" sz="2000" dirty="0" err="1"/>
              <a:t>milliers</a:t>
            </a:r>
            <a:r>
              <a:rPr lang="en-US" sz="2000" dirty="0"/>
              <a:t> </a:t>
            </a:r>
            <a:r>
              <a:rPr lang="en-US" sz="2000" dirty="0" err="1"/>
              <a:t>d'employés</a:t>
            </a:r>
            <a:r>
              <a:rPr lang="en-US" sz="2000" dirty="0"/>
              <a:t>. La </a:t>
            </a:r>
            <a:r>
              <a:rPr lang="en-US" sz="2000" dirty="0" err="1"/>
              <a:t>création</a:t>
            </a:r>
            <a:r>
              <a:rPr lang="en-US" sz="2000" dirty="0"/>
              <a:t> </a:t>
            </a:r>
            <a:r>
              <a:rPr lang="en-US" sz="2000" dirty="0" err="1"/>
              <a:t>manuelle</a:t>
            </a:r>
            <a:r>
              <a:rPr lang="en-US" sz="2000" dirty="0"/>
              <a:t> des </a:t>
            </a:r>
            <a:r>
              <a:rPr lang="en-US" sz="2000" dirty="0" err="1"/>
              <a:t>comptes</a:t>
            </a:r>
            <a:r>
              <a:rPr lang="en-US" sz="2000" dirty="0"/>
              <a:t> </a:t>
            </a:r>
            <a:r>
              <a:rPr lang="en-US" sz="2000" dirty="0" err="1"/>
              <a:t>peut</a:t>
            </a:r>
            <a:r>
              <a:rPr lang="en-US" sz="2000" dirty="0"/>
              <a:t> </a:t>
            </a:r>
            <a:r>
              <a:rPr lang="en-US" sz="2000" dirty="0" err="1"/>
              <a:t>entraîner</a:t>
            </a:r>
            <a:r>
              <a:rPr lang="en-US" sz="2000" dirty="0"/>
              <a:t> des retards, des </a:t>
            </a:r>
            <a:r>
              <a:rPr lang="en-US" sz="2000" dirty="0" err="1"/>
              <a:t>erreurs</a:t>
            </a:r>
            <a:r>
              <a:rPr lang="en-US" sz="2000" dirty="0"/>
              <a:t> </a:t>
            </a:r>
            <a:r>
              <a:rPr lang="en-US" sz="2000" dirty="0" err="1"/>
              <a:t>ou</a:t>
            </a:r>
            <a:r>
              <a:rPr lang="en-US" sz="2000" dirty="0"/>
              <a:t> des </a:t>
            </a:r>
            <a:r>
              <a:rPr lang="en-US" sz="2000" dirty="0" err="1"/>
              <a:t>risques</a:t>
            </a:r>
            <a:r>
              <a:rPr lang="en-US" sz="2000" dirty="0"/>
              <a:t> de sécurité. Notre </a:t>
            </a:r>
            <a:r>
              <a:rPr lang="en-US" sz="2000" dirty="0" err="1"/>
              <a:t>objectif</a:t>
            </a:r>
            <a:r>
              <a:rPr lang="en-US" sz="2000" dirty="0"/>
              <a:t> est </a:t>
            </a:r>
            <a:r>
              <a:rPr lang="en-US" sz="2000" dirty="0" err="1"/>
              <a:t>d'automatiser</a:t>
            </a:r>
            <a:r>
              <a:rPr lang="en-US" sz="2000" dirty="0"/>
              <a:t> </a:t>
            </a:r>
            <a:r>
              <a:rPr lang="en-US" sz="2000" dirty="0" err="1"/>
              <a:t>ces</a:t>
            </a:r>
            <a:r>
              <a:rPr lang="en-US" sz="2000" dirty="0"/>
              <a:t> processus </a:t>
            </a:r>
            <a:r>
              <a:rPr lang="en-US" sz="2000" dirty="0" err="1"/>
              <a:t>afin</a:t>
            </a:r>
            <a:r>
              <a:rPr lang="en-US" sz="2000" dirty="0"/>
              <a:t> de </a:t>
            </a:r>
            <a:r>
              <a:rPr lang="en-US" sz="2000" dirty="0" err="1"/>
              <a:t>réduire</a:t>
            </a:r>
            <a:r>
              <a:rPr lang="en-US" sz="2000" dirty="0"/>
              <a:t> les </a:t>
            </a:r>
            <a:r>
              <a:rPr lang="en-US" sz="2000" dirty="0" err="1"/>
              <a:t>risques</a:t>
            </a:r>
            <a:r>
              <a:rPr lang="en-US" sz="2000" dirty="0"/>
              <a:t> et </a:t>
            </a:r>
            <a:r>
              <a:rPr lang="en-US" sz="2000" dirty="0" err="1"/>
              <a:t>améliorer</a:t>
            </a:r>
            <a:r>
              <a:rPr lang="en-US" sz="2000" dirty="0"/>
              <a:t> </a:t>
            </a:r>
            <a:r>
              <a:rPr lang="en-US" sz="2000" dirty="0" err="1"/>
              <a:t>l'efficacité</a:t>
            </a:r>
            <a:r>
              <a:rPr lang="en-US" sz="2000" dirty="0"/>
              <a:t> </a:t>
            </a:r>
            <a:r>
              <a:rPr lang="en-US" sz="2000" dirty="0" err="1"/>
              <a:t>opérationnelle</a:t>
            </a:r>
            <a:r>
              <a:rPr lang="en-US" sz="2000" dirty="0"/>
              <a:t>.”</a:t>
            </a:r>
          </a:p>
          <a:p>
            <a:endParaRPr lang="en-US" dirty="0"/>
          </a:p>
        </p:txBody>
      </p:sp>
      <p:sp>
        <p:nvSpPr>
          <p:cNvPr id="4" name="Slide Number Placeholder 3"/>
          <p:cNvSpPr>
            <a:spLocks noGrp="1"/>
          </p:cNvSpPr>
          <p:nvPr>
            <p:ph type="sldNum" sz="quarter" idx="5"/>
          </p:nvPr>
        </p:nvSpPr>
        <p:spPr/>
        <p:txBody>
          <a:bodyPr/>
          <a:lstStyle/>
          <a:p>
            <a:fld id="{8CADF99C-AF7E-4688-B727-7B33BD5CCDA3}" type="slidenum">
              <a:rPr lang="en-US" smtClean="0"/>
              <a:t>2</a:t>
            </a:fld>
            <a:endParaRPr lang="en-US"/>
          </a:p>
        </p:txBody>
      </p:sp>
    </p:spTree>
    <p:extLst>
      <p:ext uri="{BB962C8B-B14F-4D97-AF65-F5344CB8AC3E}">
        <p14:creationId xmlns:p14="http://schemas.microsoft.com/office/powerpoint/2010/main" val="342227923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CA" dirty="0"/>
              <a:t>Speech1: « </a:t>
            </a:r>
            <a:r>
              <a:rPr lang="en-US" dirty="0"/>
              <a:t>Le processus commence avec les </a:t>
            </a:r>
            <a:r>
              <a:rPr lang="en-US" dirty="0" err="1"/>
              <a:t>informations</a:t>
            </a:r>
            <a:r>
              <a:rPr lang="en-US" dirty="0"/>
              <a:t> </a:t>
            </a:r>
            <a:r>
              <a:rPr lang="en-US" dirty="0" err="1"/>
              <a:t>fournies</a:t>
            </a:r>
            <a:r>
              <a:rPr lang="en-US" dirty="0"/>
              <a:t> par les </a:t>
            </a:r>
            <a:r>
              <a:rPr lang="en-US" dirty="0" err="1"/>
              <a:t>ressources</a:t>
            </a:r>
            <a:r>
              <a:rPr lang="en-US" dirty="0"/>
              <a:t> </a:t>
            </a:r>
            <a:r>
              <a:rPr lang="en-US" dirty="0" err="1"/>
              <a:t>humaines</a:t>
            </a:r>
            <a:r>
              <a:rPr lang="en-US" dirty="0"/>
              <a:t>. </a:t>
            </a:r>
            <a:r>
              <a:rPr lang="en-US" dirty="0" err="1"/>
              <a:t>Ces</a:t>
            </a:r>
            <a:r>
              <a:rPr lang="en-US" dirty="0"/>
              <a:t> </a:t>
            </a:r>
            <a:r>
              <a:rPr lang="en-US" dirty="0" err="1"/>
              <a:t>informations</a:t>
            </a:r>
            <a:r>
              <a:rPr lang="en-US" dirty="0"/>
              <a:t> </a:t>
            </a:r>
            <a:r>
              <a:rPr lang="en-US" dirty="0" err="1"/>
              <a:t>sont</a:t>
            </a:r>
            <a:r>
              <a:rPr lang="en-US" dirty="0"/>
              <a:t> ensuite </a:t>
            </a:r>
            <a:r>
              <a:rPr lang="en-US" dirty="0" err="1"/>
              <a:t>validées</a:t>
            </a:r>
            <a:r>
              <a:rPr lang="en-US" dirty="0"/>
              <a:t>. Le </a:t>
            </a:r>
            <a:r>
              <a:rPr lang="en-US" dirty="0" err="1"/>
              <a:t>moteur</a:t>
            </a:r>
            <a:r>
              <a:rPr lang="en-US" dirty="0"/>
              <a:t> IAM applique ensuite les </a:t>
            </a:r>
            <a:r>
              <a:rPr lang="en-US" dirty="0" err="1"/>
              <a:t>règles</a:t>
            </a:r>
            <a:r>
              <a:rPr lang="en-US" dirty="0"/>
              <a:t> de sécurité et les </a:t>
            </a:r>
            <a:r>
              <a:rPr lang="en-US" dirty="0" err="1"/>
              <a:t>règles</a:t>
            </a:r>
            <a:r>
              <a:rPr lang="en-US" dirty="0"/>
              <a:t> RBAC </a:t>
            </a:r>
            <a:r>
              <a:rPr lang="en-US" dirty="0" err="1"/>
              <a:t>afin</a:t>
            </a:r>
            <a:r>
              <a:rPr lang="en-US" dirty="0"/>
              <a:t> </a:t>
            </a:r>
            <a:r>
              <a:rPr lang="en-US" dirty="0" err="1"/>
              <a:t>d'attribuer</a:t>
            </a:r>
            <a:r>
              <a:rPr lang="en-US" dirty="0"/>
              <a:t> les </a:t>
            </a:r>
            <a:r>
              <a:rPr lang="en-US" dirty="0" err="1"/>
              <a:t>accès</a:t>
            </a:r>
            <a:r>
              <a:rPr lang="en-US" dirty="0"/>
              <a:t> </a:t>
            </a:r>
            <a:r>
              <a:rPr lang="en-US" dirty="0" err="1"/>
              <a:t>appropriés</a:t>
            </a:r>
            <a:r>
              <a:rPr lang="en-US" dirty="0"/>
              <a:t>. </a:t>
            </a:r>
            <a:r>
              <a:rPr lang="en-US" dirty="0" err="1"/>
              <a:t>Toutes</a:t>
            </a:r>
            <a:r>
              <a:rPr lang="en-US" dirty="0"/>
              <a:t> les actions </a:t>
            </a:r>
            <a:r>
              <a:rPr lang="en-US" dirty="0" err="1"/>
              <a:t>sont</a:t>
            </a:r>
            <a:r>
              <a:rPr lang="en-US" dirty="0"/>
              <a:t> </a:t>
            </a:r>
            <a:r>
              <a:rPr lang="en-US" dirty="0" err="1"/>
              <a:t>enregistrées</a:t>
            </a:r>
            <a:r>
              <a:rPr lang="en-US" dirty="0"/>
              <a:t> dans les </a:t>
            </a:r>
            <a:r>
              <a:rPr lang="en-US" dirty="0" err="1"/>
              <a:t>journaux</a:t>
            </a:r>
            <a:r>
              <a:rPr lang="en-US" dirty="0"/>
              <a:t> </a:t>
            </a:r>
            <a:r>
              <a:rPr lang="en-US" dirty="0" err="1"/>
              <a:t>d'audit</a:t>
            </a:r>
            <a:r>
              <a:rPr lang="en-US" dirty="0"/>
              <a:t> et un rapport est </a:t>
            </a:r>
            <a:r>
              <a:rPr lang="en-US" dirty="0" err="1"/>
              <a:t>généré</a:t>
            </a:r>
            <a:r>
              <a:rPr lang="en-US" dirty="0"/>
              <a:t> </a:t>
            </a:r>
            <a:r>
              <a:rPr lang="en-US" dirty="0" err="1"/>
              <a:t>afin</a:t>
            </a:r>
            <a:r>
              <a:rPr lang="en-US" dirty="0"/>
              <a:t> de </a:t>
            </a:r>
            <a:r>
              <a:rPr lang="en-US" dirty="0" err="1"/>
              <a:t>garantir</a:t>
            </a:r>
            <a:r>
              <a:rPr lang="en-US" dirty="0"/>
              <a:t> la </a:t>
            </a:r>
            <a:r>
              <a:rPr lang="en-US" dirty="0" err="1"/>
              <a:t>traçabilité</a:t>
            </a:r>
            <a:r>
              <a:rPr lang="en-US" dirty="0"/>
              <a:t> et la </a:t>
            </a:r>
            <a:r>
              <a:rPr lang="en-US" dirty="0" err="1"/>
              <a:t>conformité</a:t>
            </a:r>
            <a:r>
              <a:rPr lang="en-US" dirty="0"/>
              <a:t>.</a:t>
            </a:r>
            <a:r>
              <a:rPr lang="fr-CA" dirty="0"/>
              <a:t>»</a:t>
            </a:r>
            <a:br>
              <a:rPr lang="fr-CA" dirty="0"/>
            </a:br>
            <a:br>
              <a:rPr lang="fr-CA" dirty="0"/>
            </a:br>
            <a:br>
              <a:rPr lang="fr-CA" dirty="0"/>
            </a:br>
            <a:br>
              <a:rPr lang="fr-CA" dirty="0"/>
            </a:br>
            <a:br>
              <a:rPr lang="fr-CA" dirty="0"/>
            </a:br>
            <a:r>
              <a:rPr lang="fr-CA" dirty="0"/>
              <a:t>Speech2: « Processus de fonctionnement de la solution</a:t>
            </a:r>
            <a:br>
              <a:rPr lang="fr-CA" dirty="0"/>
            </a:br>
            <a:r>
              <a:rPr lang="fr-CA" dirty="0"/>
              <a:t>RH: saisie des données</a:t>
            </a:r>
            <a:br>
              <a:rPr lang="fr-CA" dirty="0"/>
            </a:br>
            <a:r>
              <a:rPr lang="fr-CA" dirty="0"/>
              <a:t>Validation: les contrôles de gouvernances </a:t>
            </a:r>
            <a:br>
              <a:rPr lang="fr-CA" dirty="0"/>
            </a:br>
            <a:r>
              <a:rPr lang="fr-CA" dirty="0"/>
              <a:t>IAM Engine: moteur der gestion des Accès et des identités </a:t>
            </a:r>
            <a:br>
              <a:rPr lang="fr-CA" dirty="0"/>
            </a:br>
            <a:r>
              <a:rPr lang="fr-CA" dirty="0"/>
              <a:t>RBAC: contrôles d'accès basé sur les rôles</a:t>
            </a:r>
            <a:br>
              <a:rPr lang="fr-CA" dirty="0"/>
            </a:br>
            <a:r>
              <a:rPr lang="fr-CA" dirty="0"/>
              <a:t>Journal des audits</a:t>
            </a:r>
            <a:br>
              <a:rPr lang="fr-CA" dirty="0"/>
            </a:br>
            <a:r>
              <a:rPr lang="fr-CA" dirty="0"/>
              <a:t>Rapport de visualisation des actions entreprises »</a:t>
            </a:r>
            <a:endParaRPr lang="en-US" dirty="0"/>
          </a:p>
        </p:txBody>
      </p:sp>
      <p:sp>
        <p:nvSpPr>
          <p:cNvPr id="4" name="Slide Number Placeholder 3"/>
          <p:cNvSpPr>
            <a:spLocks noGrp="1"/>
          </p:cNvSpPr>
          <p:nvPr>
            <p:ph type="sldNum" sz="quarter" idx="5"/>
          </p:nvPr>
        </p:nvSpPr>
        <p:spPr/>
        <p:txBody>
          <a:bodyPr/>
          <a:lstStyle/>
          <a:p>
            <a:fld id="{8CADF99C-AF7E-4688-B727-7B33BD5CCDA3}" type="slidenum">
              <a:rPr lang="en-US" smtClean="0"/>
              <a:t>3</a:t>
            </a:fld>
            <a:endParaRPr lang="en-US"/>
          </a:p>
        </p:txBody>
      </p:sp>
    </p:spTree>
    <p:extLst>
      <p:ext uri="{BB962C8B-B14F-4D97-AF65-F5344CB8AC3E}">
        <p14:creationId xmlns:p14="http://schemas.microsoft.com/office/powerpoint/2010/main" val="201332330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CA" dirty="0"/>
              <a:t>Speech1: « </a:t>
            </a:r>
            <a:br>
              <a:rPr lang="fr-CA" dirty="0"/>
            </a:br>
            <a:br>
              <a:rPr lang="fr-CA" dirty="0"/>
            </a:br>
            <a:r>
              <a:rPr lang="fr-CA" dirty="0"/>
              <a:t>1-</a:t>
            </a:r>
            <a:r>
              <a:rPr lang="en-US" dirty="0"/>
              <a:t>les données </a:t>
            </a:r>
            <a:r>
              <a:rPr lang="en-US" dirty="0" err="1"/>
              <a:t>provenant</a:t>
            </a:r>
            <a:r>
              <a:rPr lang="en-US" dirty="0"/>
              <a:t> du </a:t>
            </a:r>
            <a:r>
              <a:rPr lang="en-US" dirty="0" err="1"/>
              <a:t>système</a:t>
            </a:r>
            <a:r>
              <a:rPr lang="en-US" dirty="0"/>
              <a:t> RH</a:t>
            </a:r>
            <a:br>
              <a:rPr lang="en-US" dirty="0"/>
            </a:br>
            <a:r>
              <a:rPr lang="en-US" dirty="0"/>
              <a:t>2-le </a:t>
            </a:r>
            <a:r>
              <a:rPr lang="en-US" dirty="0" err="1"/>
              <a:t>référentiel</a:t>
            </a:r>
            <a:r>
              <a:rPr lang="en-US" dirty="0"/>
              <a:t> des </a:t>
            </a:r>
            <a:r>
              <a:rPr lang="en-US" dirty="0" err="1"/>
              <a:t>rôles</a:t>
            </a:r>
            <a:br>
              <a:rPr lang="en-US" dirty="0"/>
            </a:br>
            <a:r>
              <a:rPr lang="en-US" dirty="0"/>
              <a:t>3-le </a:t>
            </a:r>
            <a:r>
              <a:rPr lang="en-US" dirty="0" err="1"/>
              <a:t>référentiel</a:t>
            </a:r>
            <a:r>
              <a:rPr lang="en-US" dirty="0"/>
              <a:t> des </a:t>
            </a:r>
            <a:r>
              <a:rPr lang="en-US" dirty="0" err="1"/>
              <a:t>identités</a:t>
            </a:r>
            <a:r>
              <a:rPr lang="en-US" dirty="0"/>
              <a:t> </a:t>
            </a:r>
            <a:r>
              <a:rPr lang="en-US" dirty="0" err="1"/>
              <a:t>ou</a:t>
            </a:r>
            <a:r>
              <a:rPr lang="en-US" dirty="0"/>
              <a:t> </a:t>
            </a:r>
            <a:r>
              <a:rPr lang="en-US" dirty="0" err="1"/>
              <a:t>l'annuaire</a:t>
            </a:r>
            <a:r>
              <a:rPr lang="en-US" dirty="0"/>
              <a:t> des </a:t>
            </a:r>
            <a:r>
              <a:rPr lang="en-US" dirty="0" err="1"/>
              <a:t>utilisateurs</a:t>
            </a:r>
            <a:br>
              <a:rPr lang="en-US" dirty="0"/>
            </a:br>
            <a:r>
              <a:rPr lang="en-US" dirty="0"/>
              <a:t>4-le </a:t>
            </a:r>
            <a:r>
              <a:rPr lang="en-US" dirty="0" err="1"/>
              <a:t>référentiel</a:t>
            </a:r>
            <a:r>
              <a:rPr lang="en-US" dirty="0"/>
              <a:t> des </a:t>
            </a:r>
            <a:r>
              <a:rPr lang="en-US" dirty="0" err="1"/>
              <a:t>journaux</a:t>
            </a:r>
            <a:r>
              <a:rPr lang="en-US" dirty="0"/>
              <a:t> </a:t>
            </a:r>
            <a:r>
              <a:rPr lang="en-US" dirty="0" err="1"/>
              <a:t>d’audit</a:t>
            </a:r>
            <a:br>
              <a:rPr lang="en-US" dirty="0"/>
            </a:br>
            <a:r>
              <a:rPr lang="en-US" dirty="0"/>
              <a:t>5-le rapport des actions men</a:t>
            </a:r>
            <a:r>
              <a:rPr lang="fr-CA" dirty="0"/>
              <a:t>é</a:t>
            </a:r>
            <a:r>
              <a:rPr lang="en-US" dirty="0"/>
              <a:t>es par </a:t>
            </a:r>
            <a:r>
              <a:rPr lang="en-US" dirty="0" err="1"/>
              <a:t>visualisation</a:t>
            </a:r>
            <a:r>
              <a:rPr lang="fr-CA" dirty="0"/>
              <a:t>»</a:t>
            </a:r>
            <a:br>
              <a:rPr lang="fr-CA" dirty="0"/>
            </a:br>
            <a:br>
              <a:rPr lang="fr-CA" dirty="0"/>
            </a:br>
            <a:br>
              <a:rPr lang="fr-CA" dirty="0"/>
            </a:br>
            <a:br>
              <a:rPr lang="fr-CA" dirty="0"/>
            </a:br>
            <a:br>
              <a:rPr lang="fr-CA" dirty="0"/>
            </a:br>
            <a:r>
              <a:rPr lang="fr-CA" dirty="0"/>
              <a:t>Speech2: « Employees.csv: référentiel des données saisies par les RH</a:t>
            </a:r>
            <a:br>
              <a:rPr lang="fr-CA" dirty="0"/>
            </a:br>
            <a:r>
              <a:rPr lang="fr-CA" dirty="0"/>
              <a:t>Le moteur IAM: validation des données par les contrôles de gouvernances ( RBAC + données exactes)</a:t>
            </a:r>
            <a:br>
              <a:rPr lang="fr-CA" dirty="0"/>
            </a:br>
            <a:r>
              <a:rPr lang="fr-CA" dirty="0"/>
              <a:t>RoleMappings.csv: le référentiel de rôles</a:t>
            </a:r>
            <a:br>
              <a:rPr lang="fr-CA" dirty="0"/>
            </a:br>
            <a:r>
              <a:rPr lang="fr-CA" dirty="0"/>
              <a:t>simulated_users.csv:  le référentiel des utilisateurs</a:t>
            </a:r>
            <a:br>
              <a:rPr lang="fr-CA" dirty="0"/>
            </a:br>
            <a:r>
              <a:rPr lang="fr-CA" dirty="0"/>
              <a:t>audit_log.csv: référentiel de </a:t>
            </a:r>
            <a:r>
              <a:rPr lang="fr-FR" dirty="0"/>
              <a:t>toutes les actions dans les journaux d'audit</a:t>
            </a:r>
            <a:br>
              <a:rPr lang="fr-FR" dirty="0"/>
            </a:br>
            <a:r>
              <a:rPr lang="fr-FR" dirty="0"/>
              <a:t>HTML report: rapport HTML pour visualiser les résultats du traitement, les opérations réalisées ainsi que les erreurs détectées par le système »</a:t>
            </a:r>
            <a:endParaRPr lang="en-US" dirty="0"/>
          </a:p>
        </p:txBody>
      </p:sp>
      <p:sp>
        <p:nvSpPr>
          <p:cNvPr id="4" name="Slide Number Placeholder 3"/>
          <p:cNvSpPr>
            <a:spLocks noGrp="1"/>
          </p:cNvSpPr>
          <p:nvPr>
            <p:ph type="sldNum" sz="quarter" idx="5"/>
          </p:nvPr>
        </p:nvSpPr>
        <p:spPr/>
        <p:txBody>
          <a:bodyPr/>
          <a:lstStyle/>
          <a:p>
            <a:fld id="{8CADF99C-AF7E-4688-B727-7B33BD5CCDA3}" type="slidenum">
              <a:rPr lang="en-US" smtClean="0"/>
              <a:t>4</a:t>
            </a:fld>
            <a:endParaRPr lang="en-US"/>
          </a:p>
        </p:txBody>
      </p:sp>
    </p:spTree>
    <p:extLst>
      <p:ext uri="{BB962C8B-B14F-4D97-AF65-F5344CB8AC3E}">
        <p14:creationId xmlns:p14="http://schemas.microsoft.com/office/powerpoint/2010/main" val="257935421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Speech1: «</a:t>
            </a:r>
            <a:r>
              <a:rPr lang="en-US" dirty="0" err="1"/>
              <a:t>Lorsqu'un</a:t>
            </a:r>
            <a:r>
              <a:rPr lang="en-US" dirty="0"/>
              <a:t> </a:t>
            </a:r>
            <a:r>
              <a:rPr lang="en-US" dirty="0" err="1"/>
              <a:t>nouvel</a:t>
            </a:r>
            <a:r>
              <a:rPr lang="en-US" dirty="0"/>
              <a:t> </a:t>
            </a:r>
            <a:r>
              <a:rPr lang="en-US" dirty="0" err="1"/>
              <a:t>employé</a:t>
            </a:r>
            <a:r>
              <a:rPr lang="en-US" dirty="0"/>
              <a:t> rejoint </a:t>
            </a:r>
            <a:r>
              <a:rPr lang="en-US" dirty="0" err="1"/>
              <a:t>l'organisation</a:t>
            </a:r>
            <a:r>
              <a:rPr lang="en-US" dirty="0"/>
              <a:t>, le </a:t>
            </a:r>
            <a:r>
              <a:rPr lang="en-US" dirty="0" err="1"/>
              <a:t>système</a:t>
            </a:r>
            <a:r>
              <a:rPr lang="en-US" dirty="0"/>
              <a:t> commence par </a:t>
            </a:r>
            <a:r>
              <a:rPr lang="en-US" dirty="0" err="1"/>
              <a:t>valider</a:t>
            </a:r>
            <a:r>
              <a:rPr lang="en-US" dirty="0"/>
              <a:t> les </a:t>
            </a:r>
            <a:r>
              <a:rPr lang="en-US" dirty="0" err="1"/>
              <a:t>informations</a:t>
            </a:r>
            <a:r>
              <a:rPr lang="en-US" dirty="0"/>
              <a:t> </a:t>
            </a:r>
            <a:r>
              <a:rPr lang="en-US" dirty="0" err="1"/>
              <a:t>fournies</a:t>
            </a:r>
            <a:r>
              <a:rPr lang="en-US" dirty="0"/>
              <a:t> par les RH. Une </a:t>
            </a:r>
            <a:r>
              <a:rPr lang="en-US" dirty="0" err="1"/>
              <a:t>fois</a:t>
            </a:r>
            <a:r>
              <a:rPr lang="en-US" dirty="0"/>
              <a:t> </a:t>
            </a:r>
            <a:r>
              <a:rPr lang="en-US" dirty="0" err="1"/>
              <a:t>ces</a:t>
            </a:r>
            <a:r>
              <a:rPr lang="en-US" dirty="0"/>
              <a:t> validations </a:t>
            </a:r>
            <a:r>
              <a:rPr lang="en-US" dirty="0" err="1"/>
              <a:t>effectuées</a:t>
            </a:r>
            <a:r>
              <a:rPr lang="en-US" dirty="0"/>
              <a:t>, les </a:t>
            </a:r>
            <a:r>
              <a:rPr lang="en-US" dirty="0" err="1"/>
              <a:t>règles</a:t>
            </a:r>
            <a:r>
              <a:rPr lang="en-US" dirty="0"/>
              <a:t> RBAC </a:t>
            </a:r>
            <a:r>
              <a:rPr lang="en-US" dirty="0" err="1"/>
              <a:t>sont</a:t>
            </a:r>
            <a:r>
              <a:rPr lang="en-US" dirty="0"/>
              <a:t> </a:t>
            </a:r>
            <a:r>
              <a:rPr lang="en-US" dirty="0" err="1"/>
              <a:t>appliquées</a:t>
            </a:r>
            <a:r>
              <a:rPr lang="en-US" dirty="0"/>
              <a:t> </a:t>
            </a:r>
            <a:r>
              <a:rPr lang="en-US" dirty="0" err="1"/>
              <a:t>afin</a:t>
            </a:r>
            <a:r>
              <a:rPr lang="en-US" dirty="0"/>
              <a:t> </a:t>
            </a:r>
            <a:r>
              <a:rPr lang="en-US" dirty="0" err="1"/>
              <a:t>d'attribuer</a:t>
            </a:r>
            <a:r>
              <a:rPr lang="en-US" dirty="0"/>
              <a:t> </a:t>
            </a:r>
            <a:r>
              <a:rPr lang="en-US" dirty="0" err="1"/>
              <a:t>automatiquement</a:t>
            </a:r>
            <a:r>
              <a:rPr lang="en-US" dirty="0"/>
              <a:t> les </a:t>
            </a:r>
            <a:r>
              <a:rPr lang="en-US" dirty="0" err="1"/>
              <a:t>accès</a:t>
            </a:r>
            <a:r>
              <a:rPr lang="en-US" dirty="0"/>
              <a:t> </a:t>
            </a:r>
            <a:r>
              <a:rPr lang="en-US" dirty="0" err="1"/>
              <a:t>nécessaires</a:t>
            </a:r>
            <a:r>
              <a:rPr lang="en-US" dirty="0"/>
              <a:t>. Les </a:t>
            </a:r>
            <a:r>
              <a:rPr lang="en-US" dirty="0" err="1"/>
              <a:t>opérations</a:t>
            </a:r>
            <a:r>
              <a:rPr lang="en-US" dirty="0"/>
              <a:t> </a:t>
            </a:r>
            <a:r>
              <a:rPr lang="en-US" dirty="0" err="1"/>
              <a:t>réalisées</a:t>
            </a:r>
            <a:r>
              <a:rPr lang="en-US" dirty="0"/>
              <a:t> </a:t>
            </a:r>
            <a:r>
              <a:rPr lang="en-US" dirty="0" err="1"/>
              <a:t>sont</a:t>
            </a:r>
            <a:r>
              <a:rPr lang="en-US" dirty="0"/>
              <a:t> ensuite </a:t>
            </a:r>
            <a:r>
              <a:rPr lang="en-US" dirty="0" err="1"/>
              <a:t>enregistrées</a:t>
            </a:r>
            <a:r>
              <a:rPr lang="en-US" dirty="0"/>
              <a:t> dans les </a:t>
            </a:r>
            <a:r>
              <a:rPr lang="en-US" dirty="0" err="1"/>
              <a:t>journaux</a:t>
            </a:r>
            <a:r>
              <a:rPr lang="en-US" dirty="0"/>
              <a:t> </a:t>
            </a:r>
            <a:r>
              <a:rPr lang="en-US" dirty="0" err="1"/>
              <a:t>d'audit</a:t>
            </a:r>
            <a:r>
              <a:rPr lang="en-US" dirty="0"/>
              <a:t> et un rapport est </a:t>
            </a:r>
            <a:r>
              <a:rPr lang="en-US" dirty="0" err="1"/>
              <a:t>généré</a:t>
            </a:r>
            <a:r>
              <a:rPr lang="en-US" dirty="0"/>
              <a:t>.</a:t>
            </a:r>
            <a:r>
              <a:rPr lang="fr-FR" dirty="0"/>
              <a:t> »</a:t>
            </a:r>
            <a:br>
              <a:rPr lang="fr-FR" dirty="0"/>
            </a:br>
            <a:br>
              <a:rPr lang="fr-FR" dirty="0"/>
            </a:br>
            <a:br>
              <a:rPr lang="fr-FR" dirty="0"/>
            </a:br>
            <a:br>
              <a:rPr lang="fr-FR" dirty="0"/>
            </a:br>
            <a:br>
              <a:rPr lang="fr-FR" dirty="0"/>
            </a:br>
            <a:br>
              <a:rPr lang="fr-FR" dirty="0"/>
            </a:br>
            <a:r>
              <a:rPr lang="fr-FR" dirty="0"/>
              <a:t>Speech2: </a:t>
            </a:r>
            <a:r>
              <a:rPr lang="en-CA" dirty="0"/>
              <a:t>“</a:t>
            </a:r>
            <a:r>
              <a:rPr lang="fr-FR" dirty="0"/>
              <a:t>Lorsqu'un nouvel employé rejoint l'organisation, le système valide les données RH, vérifie les règles RBAC, crée le compte utilisateur, attribue les groupes nécessaires et enregistre toutes les actions dans les journaux d'audit.</a:t>
            </a:r>
            <a:br>
              <a:rPr lang="fr-FR" dirty="0"/>
            </a:br>
            <a:r>
              <a:rPr lang="fr-FR" dirty="0"/>
              <a:t>Le système commence par valider les informations fournies par les RH. »</a:t>
            </a:r>
            <a:endParaRPr lang="en-US" dirty="0"/>
          </a:p>
        </p:txBody>
      </p:sp>
      <p:sp>
        <p:nvSpPr>
          <p:cNvPr id="4" name="Slide Number Placeholder 3"/>
          <p:cNvSpPr>
            <a:spLocks noGrp="1"/>
          </p:cNvSpPr>
          <p:nvPr>
            <p:ph type="sldNum" sz="quarter" idx="5"/>
          </p:nvPr>
        </p:nvSpPr>
        <p:spPr/>
        <p:txBody>
          <a:bodyPr/>
          <a:lstStyle/>
          <a:p>
            <a:fld id="{8CADF99C-AF7E-4688-B727-7B33BD5CCDA3}" type="slidenum">
              <a:rPr lang="en-US" smtClean="0"/>
              <a:t>5</a:t>
            </a:fld>
            <a:endParaRPr lang="en-US"/>
          </a:p>
        </p:txBody>
      </p:sp>
    </p:spTree>
    <p:extLst>
      <p:ext uri="{BB962C8B-B14F-4D97-AF65-F5344CB8AC3E}">
        <p14:creationId xmlns:p14="http://schemas.microsoft.com/office/powerpoint/2010/main" val="42136082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Speech1: «</a:t>
            </a:r>
            <a:r>
              <a:rPr lang="en-US" dirty="0" err="1"/>
              <a:t>Lorsqu'un</a:t>
            </a:r>
            <a:r>
              <a:rPr lang="en-US" dirty="0"/>
              <a:t> </a:t>
            </a:r>
            <a:r>
              <a:rPr lang="en-US" dirty="0" err="1"/>
              <a:t>employé</a:t>
            </a:r>
            <a:r>
              <a:rPr lang="en-US" dirty="0"/>
              <a:t> change de </a:t>
            </a:r>
            <a:r>
              <a:rPr lang="en-US" dirty="0" err="1"/>
              <a:t>fonction</a:t>
            </a:r>
            <a:r>
              <a:rPr lang="en-US" dirty="0"/>
              <a:t>, le </a:t>
            </a:r>
            <a:r>
              <a:rPr lang="en-US" dirty="0" err="1"/>
              <a:t>système</a:t>
            </a:r>
            <a:r>
              <a:rPr lang="en-US" dirty="0"/>
              <a:t> met à jour les </a:t>
            </a:r>
            <a:r>
              <a:rPr lang="en-US" dirty="0" err="1"/>
              <a:t>accès</a:t>
            </a:r>
            <a:r>
              <a:rPr lang="en-US" dirty="0"/>
              <a:t> </a:t>
            </a:r>
            <a:r>
              <a:rPr lang="en-US" dirty="0" err="1"/>
              <a:t>afin</a:t>
            </a:r>
            <a:r>
              <a:rPr lang="en-US" dirty="0"/>
              <a:t> de respecter le </a:t>
            </a:r>
            <a:r>
              <a:rPr lang="en-US" dirty="0" err="1"/>
              <a:t>principe</a:t>
            </a:r>
            <a:r>
              <a:rPr lang="en-US" dirty="0"/>
              <a:t> du </a:t>
            </a:r>
            <a:r>
              <a:rPr lang="en-US" dirty="0" err="1"/>
              <a:t>moindre</a:t>
            </a:r>
            <a:r>
              <a:rPr lang="en-US" dirty="0"/>
              <a:t> </a:t>
            </a:r>
            <a:r>
              <a:rPr lang="en-US" dirty="0" err="1"/>
              <a:t>privilège</a:t>
            </a:r>
            <a:r>
              <a:rPr lang="en-US" dirty="0"/>
              <a:t>. </a:t>
            </a:r>
            <a:r>
              <a:rPr lang="en-US" dirty="0" err="1"/>
              <a:t>L'utilisateur</a:t>
            </a:r>
            <a:r>
              <a:rPr lang="en-US" dirty="0"/>
              <a:t> </a:t>
            </a:r>
            <a:r>
              <a:rPr lang="en-US" dirty="0" err="1"/>
              <a:t>reçoit</a:t>
            </a:r>
            <a:r>
              <a:rPr lang="en-US" dirty="0"/>
              <a:t> </a:t>
            </a:r>
            <a:r>
              <a:rPr lang="en-US" dirty="0" err="1"/>
              <a:t>uniquement</a:t>
            </a:r>
            <a:r>
              <a:rPr lang="en-US" dirty="0"/>
              <a:t> les </a:t>
            </a:r>
            <a:r>
              <a:rPr lang="en-US" dirty="0" err="1"/>
              <a:t>accès</a:t>
            </a:r>
            <a:r>
              <a:rPr lang="en-US" dirty="0"/>
              <a:t> </a:t>
            </a:r>
            <a:r>
              <a:rPr lang="en-US" dirty="0" err="1"/>
              <a:t>correspondant</a:t>
            </a:r>
            <a:r>
              <a:rPr lang="en-US" dirty="0"/>
              <a:t> à </a:t>
            </a:r>
            <a:r>
              <a:rPr lang="en-US" dirty="0" err="1"/>
              <a:t>ses</a:t>
            </a:r>
            <a:r>
              <a:rPr lang="en-US" dirty="0"/>
              <a:t> </a:t>
            </a:r>
            <a:r>
              <a:rPr lang="en-US" dirty="0" err="1"/>
              <a:t>nouvelles</a:t>
            </a:r>
            <a:r>
              <a:rPr lang="en-US" dirty="0"/>
              <a:t> </a:t>
            </a:r>
            <a:r>
              <a:rPr lang="en-US" dirty="0" err="1"/>
              <a:t>responsabilités</a:t>
            </a:r>
            <a:r>
              <a:rPr lang="en-US" dirty="0"/>
              <a:t>.</a:t>
            </a:r>
            <a:r>
              <a:rPr lang="fr-FR" dirty="0"/>
              <a:t>  »</a:t>
            </a:r>
            <a:br>
              <a:rPr lang="fr-FR" dirty="0"/>
            </a:br>
            <a:br>
              <a:rPr lang="fr-FR" dirty="0"/>
            </a:br>
            <a:br>
              <a:rPr lang="fr-FR" dirty="0"/>
            </a:br>
            <a:br>
              <a:rPr lang="fr-FR" dirty="0"/>
            </a:br>
            <a:br>
              <a:rPr lang="fr-FR" dirty="0"/>
            </a:br>
            <a:r>
              <a:rPr lang="fr-FR" dirty="0"/>
              <a:t>Speech2: « Lorsqu’une mobilité interne se fait dans l'organisation, le système valide les données RH, vérifie les règles RBAC, fait une mise à jour du rôle, attribue les groupes nécessaires et enregistre toutes les actions dans les journaux d'audit.</a:t>
            </a:r>
            <a:br>
              <a:rPr lang="fr-FR" dirty="0"/>
            </a:br>
            <a:br>
              <a:rPr lang="fr-FR" dirty="0"/>
            </a:br>
            <a:r>
              <a:rPr lang="fr-FR" dirty="0"/>
              <a:t>Le système commence par valider les informations fournies par les RH. »</a:t>
            </a:r>
            <a:endParaRPr lang="en-US" dirty="0"/>
          </a:p>
          <a:p>
            <a:endParaRPr lang="en-US" dirty="0"/>
          </a:p>
        </p:txBody>
      </p:sp>
      <p:sp>
        <p:nvSpPr>
          <p:cNvPr id="4" name="Slide Number Placeholder 3"/>
          <p:cNvSpPr>
            <a:spLocks noGrp="1"/>
          </p:cNvSpPr>
          <p:nvPr>
            <p:ph type="sldNum" sz="quarter" idx="5"/>
          </p:nvPr>
        </p:nvSpPr>
        <p:spPr/>
        <p:txBody>
          <a:bodyPr/>
          <a:lstStyle/>
          <a:p>
            <a:fld id="{8CADF99C-AF7E-4688-B727-7B33BD5CCDA3}" type="slidenum">
              <a:rPr lang="en-US" smtClean="0"/>
              <a:t>6</a:t>
            </a:fld>
            <a:endParaRPr lang="en-US"/>
          </a:p>
        </p:txBody>
      </p:sp>
    </p:spTree>
    <p:extLst>
      <p:ext uri="{BB962C8B-B14F-4D97-AF65-F5344CB8AC3E}">
        <p14:creationId xmlns:p14="http://schemas.microsoft.com/office/powerpoint/2010/main" val="414985331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Speech1: « </a:t>
            </a:r>
            <a:r>
              <a:rPr lang="en-US" dirty="0" err="1"/>
              <a:t>Lorsqu'un</a:t>
            </a:r>
            <a:r>
              <a:rPr lang="en-US" dirty="0"/>
              <a:t> </a:t>
            </a:r>
            <a:r>
              <a:rPr lang="en-US" dirty="0" err="1"/>
              <a:t>employé</a:t>
            </a:r>
            <a:r>
              <a:rPr lang="en-US" dirty="0"/>
              <a:t> </a:t>
            </a:r>
            <a:r>
              <a:rPr lang="en-US" dirty="0" err="1"/>
              <a:t>quitte</a:t>
            </a:r>
            <a:r>
              <a:rPr lang="en-US" dirty="0"/>
              <a:t> </a:t>
            </a:r>
            <a:r>
              <a:rPr lang="en-US" dirty="0" err="1"/>
              <a:t>l'organisation</a:t>
            </a:r>
            <a:r>
              <a:rPr lang="en-US" dirty="0"/>
              <a:t>, son compte est </a:t>
            </a:r>
            <a:r>
              <a:rPr lang="en-US" dirty="0" err="1"/>
              <a:t>désactivé</a:t>
            </a:r>
            <a:r>
              <a:rPr lang="en-US" dirty="0"/>
              <a:t> et </a:t>
            </a:r>
            <a:r>
              <a:rPr lang="en-US" dirty="0" err="1"/>
              <a:t>ses</a:t>
            </a:r>
            <a:r>
              <a:rPr lang="en-US" dirty="0"/>
              <a:t> </a:t>
            </a:r>
            <a:r>
              <a:rPr lang="en-US" dirty="0" err="1"/>
              <a:t>accès</a:t>
            </a:r>
            <a:r>
              <a:rPr lang="en-US" dirty="0"/>
              <a:t> </a:t>
            </a:r>
            <a:r>
              <a:rPr lang="en-US" dirty="0" err="1"/>
              <a:t>sont</a:t>
            </a:r>
            <a:r>
              <a:rPr lang="en-US" dirty="0"/>
              <a:t> </a:t>
            </a:r>
            <a:r>
              <a:rPr lang="en-US" dirty="0" err="1"/>
              <a:t>retirés</a:t>
            </a:r>
            <a:r>
              <a:rPr lang="en-US" dirty="0"/>
              <a:t>. </a:t>
            </a:r>
            <a:r>
              <a:rPr lang="en-US" dirty="0" err="1"/>
              <a:t>Toutes</a:t>
            </a:r>
            <a:r>
              <a:rPr lang="en-US" dirty="0"/>
              <a:t> </a:t>
            </a:r>
            <a:r>
              <a:rPr lang="en-US" dirty="0" err="1"/>
              <a:t>ces</a:t>
            </a:r>
            <a:r>
              <a:rPr lang="en-US" dirty="0"/>
              <a:t> actions </a:t>
            </a:r>
            <a:r>
              <a:rPr lang="en-US" dirty="0" err="1"/>
              <a:t>sont</a:t>
            </a:r>
            <a:r>
              <a:rPr lang="en-US" dirty="0"/>
              <a:t> </a:t>
            </a:r>
            <a:r>
              <a:rPr lang="en-US" dirty="0" err="1"/>
              <a:t>enregistrées</a:t>
            </a:r>
            <a:r>
              <a:rPr lang="en-US" dirty="0"/>
              <a:t> </a:t>
            </a:r>
            <a:r>
              <a:rPr lang="en-US" dirty="0" err="1"/>
              <a:t>afin</a:t>
            </a:r>
            <a:r>
              <a:rPr lang="en-US" dirty="0"/>
              <a:t> </a:t>
            </a:r>
            <a:r>
              <a:rPr lang="en-US" dirty="0" err="1"/>
              <a:t>d'assurer</a:t>
            </a:r>
            <a:r>
              <a:rPr lang="en-US" dirty="0"/>
              <a:t> la </a:t>
            </a:r>
            <a:r>
              <a:rPr lang="en-US" dirty="0" err="1"/>
              <a:t>traçabilité</a:t>
            </a:r>
            <a:r>
              <a:rPr lang="en-US" dirty="0"/>
              <a:t> et la </a:t>
            </a:r>
            <a:r>
              <a:rPr lang="en-US" dirty="0" err="1"/>
              <a:t>conformité</a:t>
            </a:r>
            <a:r>
              <a:rPr lang="en-US" dirty="0"/>
              <a:t>.</a:t>
            </a:r>
            <a:r>
              <a:rPr lang="fr-FR" dirty="0"/>
              <a:t> »</a:t>
            </a:r>
            <a:br>
              <a:rPr lang="fr-FR" dirty="0"/>
            </a:br>
            <a:br>
              <a:rPr lang="fr-FR" dirty="0"/>
            </a:br>
            <a:br>
              <a:rPr lang="fr-FR" dirty="0"/>
            </a:br>
            <a:br>
              <a:rPr lang="fr-FR" dirty="0"/>
            </a:br>
            <a:br>
              <a:rPr lang="fr-FR" dirty="0"/>
            </a:br>
            <a:r>
              <a:rPr lang="fr-FR" dirty="0"/>
              <a:t>Speech2: « Lorsqu’un départ d’employé est fait dans l'organisation, le système valide les données RH, vérifie les données employées ( validation manager ou département), désactivation du compte, retrait des groupes et enregistrement des actions dans les journaux d'audit.</a:t>
            </a:r>
            <a:br>
              <a:rPr lang="fr-FR" dirty="0"/>
            </a:br>
            <a:br>
              <a:rPr lang="fr-FR" dirty="0"/>
            </a:br>
            <a:r>
              <a:rPr lang="fr-FR" dirty="0"/>
              <a:t>Le système commence par valider les informations fournies par les RH. »</a:t>
            </a:r>
            <a:endParaRPr lang="en-US" dirty="0"/>
          </a:p>
          <a:p>
            <a:endParaRPr lang="en-US" dirty="0"/>
          </a:p>
        </p:txBody>
      </p:sp>
      <p:sp>
        <p:nvSpPr>
          <p:cNvPr id="4" name="Slide Number Placeholder 3"/>
          <p:cNvSpPr>
            <a:spLocks noGrp="1"/>
          </p:cNvSpPr>
          <p:nvPr>
            <p:ph type="sldNum" sz="quarter" idx="5"/>
          </p:nvPr>
        </p:nvSpPr>
        <p:spPr/>
        <p:txBody>
          <a:bodyPr/>
          <a:lstStyle/>
          <a:p>
            <a:fld id="{8CADF99C-AF7E-4688-B727-7B33BD5CCDA3}" type="slidenum">
              <a:rPr lang="en-US" smtClean="0"/>
              <a:t>7</a:t>
            </a:fld>
            <a:endParaRPr lang="en-US"/>
          </a:p>
        </p:txBody>
      </p:sp>
    </p:spTree>
    <p:extLst>
      <p:ext uri="{BB962C8B-B14F-4D97-AF65-F5344CB8AC3E}">
        <p14:creationId xmlns:p14="http://schemas.microsoft.com/office/powerpoint/2010/main" val="351527254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Speech1: “Cette solution applique le </a:t>
            </a:r>
            <a:r>
              <a:rPr lang="en-US" dirty="0" err="1"/>
              <a:t>principe</a:t>
            </a:r>
            <a:r>
              <a:rPr lang="en-US" dirty="0"/>
              <a:t> du </a:t>
            </a:r>
            <a:r>
              <a:rPr lang="en-US" dirty="0" err="1"/>
              <a:t>moindre</a:t>
            </a:r>
            <a:r>
              <a:rPr lang="en-US" dirty="0"/>
              <a:t> </a:t>
            </a:r>
            <a:r>
              <a:rPr lang="en-US" dirty="0" err="1"/>
              <a:t>privilège</a:t>
            </a:r>
            <a:r>
              <a:rPr lang="en-US" dirty="0"/>
              <a:t>. Les </a:t>
            </a:r>
            <a:r>
              <a:rPr lang="en-US" dirty="0" err="1"/>
              <a:t>accès</a:t>
            </a:r>
            <a:r>
              <a:rPr lang="en-US" dirty="0"/>
              <a:t> </a:t>
            </a:r>
            <a:r>
              <a:rPr lang="en-US" dirty="0" err="1"/>
              <a:t>sont</a:t>
            </a:r>
            <a:r>
              <a:rPr lang="en-US" dirty="0"/>
              <a:t> </a:t>
            </a:r>
            <a:r>
              <a:rPr lang="en-US" dirty="0" err="1"/>
              <a:t>attribués</a:t>
            </a:r>
            <a:r>
              <a:rPr lang="en-US" dirty="0"/>
              <a:t> </a:t>
            </a:r>
            <a:r>
              <a:rPr lang="en-US" dirty="0" err="1"/>
              <a:t>automatiquement</a:t>
            </a:r>
            <a:r>
              <a:rPr lang="en-US" dirty="0"/>
              <a:t> </a:t>
            </a:r>
            <a:r>
              <a:rPr lang="en-US" dirty="0" err="1"/>
              <a:t>en</a:t>
            </a:r>
            <a:r>
              <a:rPr lang="en-US" dirty="0"/>
              <a:t> </a:t>
            </a:r>
            <a:r>
              <a:rPr lang="en-US" dirty="0" err="1"/>
              <a:t>fonction</a:t>
            </a:r>
            <a:r>
              <a:rPr lang="en-US" dirty="0"/>
              <a:t> des </a:t>
            </a:r>
            <a:r>
              <a:rPr lang="en-US" dirty="0" err="1"/>
              <a:t>responsabilités</a:t>
            </a:r>
            <a:r>
              <a:rPr lang="en-US" dirty="0"/>
              <a:t> de </a:t>
            </a:r>
            <a:r>
              <a:rPr lang="en-US" dirty="0" err="1"/>
              <a:t>chaque</a:t>
            </a:r>
            <a:r>
              <a:rPr lang="en-US" dirty="0"/>
              <a:t> poste. </a:t>
            </a:r>
            <a:r>
              <a:rPr lang="en-US" dirty="0" err="1"/>
              <a:t>Ainsi</a:t>
            </a:r>
            <a:r>
              <a:rPr lang="en-US" dirty="0"/>
              <a:t>, </a:t>
            </a:r>
            <a:r>
              <a:rPr lang="en-US" dirty="0" err="1"/>
              <a:t>chaque</a:t>
            </a:r>
            <a:r>
              <a:rPr lang="en-US" dirty="0"/>
              <a:t> </a:t>
            </a:r>
            <a:r>
              <a:rPr lang="en-US" dirty="0" err="1"/>
              <a:t>utilisateur</a:t>
            </a:r>
            <a:r>
              <a:rPr lang="en-US" dirty="0"/>
              <a:t> </a:t>
            </a:r>
            <a:r>
              <a:rPr lang="en-US" dirty="0" err="1"/>
              <a:t>reçoit</a:t>
            </a:r>
            <a:r>
              <a:rPr lang="en-US" dirty="0"/>
              <a:t> </a:t>
            </a:r>
            <a:r>
              <a:rPr lang="en-US" dirty="0" err="1"/>
              <a:t>uniquement</a:t>
            </a:r>
            <a:r>
              <a:rPr lang="en-US" dirty="0"/>
              <a:t> les droits </a:t>
            </a:r>
            <a:r>
              <a:rPr lang="en-US" dirty="0" err="1"/>
              <a:t>nécessaires</a:t>
            </a:r>
            <a:r>
              <a:rPr lang="en-US" dirty="0"/>
              <a:t> à </a:t>
            </a:r>
            <a:r>
              <a:rPr lang="en-US" dirty="0" err="1"/>
              <a:t>l'exercice</a:t>
            </a:r>
            <a:r>
              <a:rPr lang="en-US" dirty="0"/>
              <a:t> de </a:t>
            </a:r>
            <a:r>
              <a:rPr lang="en-US" dirty="0" err="1"/>
              <a:t>ses</a:t>
            </a:r>
            <a:r>
              <a:rPr lang="en-US" dirty="0"/>
              <a:t> </a:t>
            </a:r>
            <a:r>
              <a:rPr lang="en-US" dirty="0" err="1"/>
              <a:t>fonctions</a:t>
            </a:r>
            <a:r>
              <a:rPr lang="en-US" dirty="0"/>
              <a:t>.”</a:t>
            </a:r>
            <a:br>
              <a:rPr lang="en-US" dirty="0"/>
            </a:br>
            <a:br>
              <a:rPr lang="en-US" dirty="0"/>
            </a:br>
            <a:br>
              <a:rPr lang="en-US" dirty="0"/>
            </a:br>
            <a:br>
              <a:rPr lang="en-US" dirty="0"/>
            </a:br>
            <a:br>
              <a:rPr lang="en-US" dirty="0"/>
            </a:br>
            <a:br>
              <a:rPr lang="en-US" dirty="0"/>
            </a:br>
            <a:r>
              <a:rPr lang="en-US" dirty="0"/>
              <a:t>Speech2: “Le </a:t>
            </a:r>
            <a:r>
              <a:rPr lang="en-US" dirty="0" err="1"/>
              <a:t>système</a:t>
            </a:r>
            <a:r>
              <a:rPr lang="en-US" dirty="0"/>
              <a:t> applique le </a:t>
            </a:r>
            <a:r>
              <a:rPr lang="en-US" dirty="0" err="1"/>
              <a:t>principe</a:t>
            </a:r>
            <a:r>
              <a:rPr lang="en-US" dirty="0"/>
              <a:t> du </a:t>
            </a:r>
            <a:r>
              <a:rPr lang="en-US" dirty="0" err="1"/>
              <a:t>moindre</a:t>
            </a:r>
            <a:r>
              <a:rPr lang="en-US" dirty="0"/>
              <a:t> </a:t>
            </a:r>
            <a:r>
              <a:rPr lang="en-US" dirty="0" err="1"/>
              <a:t>privilège</a:t>
            </a:r>
            <a:r>
              <a:rPr lang="en-US" dirty="0"/>
              <a:t>. Les </a:t>
            </a:r>
            <a:r>
              <a:rPr lang="en-US" dirty="0" err="1"/>
              <a:t>accès</a:t>
            </a:r>
            <a:r>
              <a:rPr lang="en-US" dirty="0"/>
              <a:t> </a:t>
            </a:r>
            <a:r>
              <a:rPr lang="en-US" dirty="0" err="1"/>
              <a:t>sont</a:t>
            </a:r>
            <a:r>
              <a:rPr lang="en-US" dirty="0"/>
              <a:t> </a:t>
            </a:r>
            <a:r>
              <a:rPr lang="en-US" dirty="0" err="1"/>
              <a:t>attribués</a:t>
            </a:r>
            <a:r>
              <a:rPr lang="en-US" dirty="0"/>
              <a:t> </a:t>
            </a:r>
            <a:r>
              <a:rPr lang="en-US" dirty="0" err="1"/>
              <a:t>automatiquement</a:t>
            </a:r>
            <a:r>
              <a:rPr lang="en-US" dirty="0"/>
              <a:t> </a:t>
            </a:r>
            <a:r>
              <a:rPr lang="en-US" dirty="0" err="1"/>
              <a:t>selon</a:t>
            </a:r>
            <a:r>
              <a:rPr lang="en-US" dirty="0"/>
              <a:t> le </a:t>
            </a:r>
            <a:r>
              <a:rPr lang="en-US" dirty="0" err="1"/>
              <a:t>rôle</a:t>
            </a:r>
            <a:r>
              <a:rPr lang="en-US" dirty="0"/>
              <a:t> de </a:t>
            </a:r>
            <a:r>
              <a:rPr lang="en-US" dirty="0" err="1"/>
              <a:t>l'employé</a:t>
            </a:r>
            <a:r>
              <a:rPr lang="en-US" dirty="0"/>
              <a:t> </a:t>
            </a:r>
            <a:r>
              <a:rPr lang="en-US" dirty="0" err="1"/>
              <a:t>afin</a:t>
            </a:r>
            <a:r>
              <a:rPr lang="en-US" dirty="0"/>
              <a:t> de limiter les </a:t>
            </a:r>
            <a:r>
              <a:rPr lang="en-US" dirty="0" err="1"/>
              <a:t>accès</a:t>
            </a:r>
            <a:r>
              <a:rPr lang="en-US" dirty="0"/>
              <a:t> </a:t>
            </a:r>
            <a:r>
              <a:rPr lang="en-US" dirty="0" err="1"/>
              <a:t>excessifs</a:t>
            </a:r>
            <a:r>
              <a:rPr lang="en-US" dirty="0"/>
              <a:t> et </a:t>
            </a:r>
            <a:r>
              <a:rPr lang="en-US" dirty="0" err="1"/>
              <a:t>renforcer</a:t>
            </a:r>
            <a:r>
              <a:rPr lang="en-US" dirty="0"/>
              <a:t> la sécurité.”</a:t>
            </a:r>
          </a:p>
        </p:txBody>
      </p:sp>
      <p:sp>
        <p:nvSpPr>
          <p:cNvPr id="4" name="Slide Number Placeholder 3"/>
          <p:cNvSpPr>
            <a:spLocks noGrp="1"/>
          </p:cNvSpPr>
          <p:nvPr>
            <p:ph type="sldNum" sz="quarter" idx="5"/>
          </p:nvPr>
        </p:nvSpPr>
        <p:spPr/>
        <p:txBody>
          <a:bodyPr/>
          <a:lstStyle/>
          <a:p>
            <a:fld id="{8CADF99C-AF7E-4688-B727-7B33BD5CCDA3}" type="slidenum">
              <a:rPr lang="en-US" smtClean="0"/>
              <a:t>8</a:t>
            </a:fld>
            <a:endParaRPr lang="en-US"/>
          </a:p>
        </p:txBody>
      </p:sp>
    </p:spTree>
    <p:extLst>
      <p:ext uri="{BB962C8B-B14F-4D97-AF65-F5344CB8AC3E}">
        <p14:creationId xmlns:p14="http://schemas.microsoft.com/office/powerpoint/2010/main" val="251654021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Speech1: “Avant toute </a:t>
            </a:r>
            <a:r>
              <a:rPr lang="en-US" dirty="0" err="1"/>
              <a:t>création</a:t>
            </a:r>
            <a:r>
              <a:rPr lang="en-US" dirty="0"/>
              <a:t> de compte, le </a:t>
            </a:r>
            <a:r>
              <a:rPr lang="en-US" dirty="0" err="1"/>
              <a:t>système</a:t>
            </a:r>
            <a:r>
              <a:rPr lang="en-US" dirty="0"/>
              <a:t> </a:t>
            </a:r>
            <a:r>
              <a:rPr lang="en-US" dirty="0" err="1"/>
              <a:t>vérifie</a:t>
            </a:r>
            <a:r>
              <a:rPr lang="en-US" dirty="0"/>
              <a:t> </a:t>
            </a:r>
            <a:r>
              <a:rPr lang="en-US" dirty="0" err="1"/>
              <a:t>que</a:t>
            </a:r>
            <a:r>
              <a:rPr lang="en-US" dirty="0"/>
              <a:t> </a:t>
            </a:r>
            <a:r>
              <a:rPr lang="en-US" dirty="0" err="1"/>
              <a:t>toutes</a:t>
            </a:r>
            <a:r>
              <a:rPr lang="en-US" dirty="0"/>
              <a:t> les </a:t>
            </a:r>
            <a:r>
              <a:rPr lang="en-US" dirty="0" err="1"/>
              <a:t>informations</a:t>
            </a:r>
            <a:r>
              <a:rPr lang="en-US" dirty="0"/>
              <a:t> </a:t>
            </a:r>
            <a:r>
              <a:rPr lang="en-US" dirty="0" err="1"/>
              <a:t>obligatoires</a:t>
            </a:r>
            <a:r>
              <a:rPr lang="en-US" dirty="0"/>
              <a:t> </a:t>
            </a:r>
            <a:r>
              <a:rPr lang="en-US" dirty="0" err="1"/>
              <a:t>sont</a:t>
            </a:r>
            <a:r>
              <a:rPr lang="en-US" dirty="0"/>
              <a:t> </a:t>
            </a:r>
            <a:r>
              <a:rPr lang="en-US" dirty="0" err="1"/>
              <a:t>présentes</a:t>
            </a:r>
            <a:r>
              <a:rPr lang="en-US" dirty="0"/>
              <a:t>. Si </a:t>
            </a:r>
            <a:r>
              <a:rPr lang="en-US" dirty="0" err="1"/>
              <a:t>certaines</a:t>
            </a:r>
            <a:r>
              <a:rPr lang="en-US" dirty="0"/>
              <a:t> données </a:t>
            </a:r>
            <a:r>
              <a:rPr lang="en-US" dirty="0" err="1"/>
              <a:t>sont</a:t>
            </a:r>
            <a:r>
              <a:rPr lang="en-US" dirty="0"/>
              <a:t> </a:t>
            </a:r>
            <a:r>
              <a:rPr lang="en-US" dirty="0" err="1"/>
              <a:t>manquantes</a:t>
            </a:r>
            <a:r>
              <a:rPr lang="en-US" dirty="0"/>
              <a:t>, le processus est </a:t>
            </a:r>
            <a:r>
              <a:rPr lang="en-US" dirty="0" err="1"/>
              <a:t>interrompu</a:t>
            </a:r>
            <a:r>
              <a:rPr lang="en-US" dirty="0"/>
              <a:t> </a:t>
            </a:r>
            <a:r>
              <a:rPr lang="en-US" dirty="0" err="1"/>
              <a:t>afin</a:t>
            </a:r>
            <a:r>
              <a:rPr lang="en-US" dirty="0"/>
              <a:t> </a:t>
            </a:r>
            <a:r>
              <a:rPr lang="en-US" dirty="0" err="1"/>
              <a:t>d'éviter</a:t>
            </a:r>
            <a:r>
              <a:rPr lang="en-US" dirty="0"/>
              <a:t> des </a:t>
            </a:r>
            <a:r>
              <a:rPr lang="en-US" dirty="0" err="1"/>
              <a:t>erreurs</a:t>
            </a:r>
            <a:r>
              <a:rPr lang="en-US" dirty="0"/>
              <a:t> </a:t>
            </a:r>
            <a:r>
              <a:rPr lang="en-US" dirty="0" err="1"/>
              <a:t>ou</a:t>
            </a:r>
            <a:r>
              <a:rPr lang="en-US" dirty="0"/>
              <a:t> des </a:t>
            </a:r>
            <a:r>
              <a:rPr lang="en-US" dirty="0" err="1"/>
              <a:t>risques</a:t>
            </a:r>
            <a:r>
              <a:rPr lang="en-US" dirty="0"/>
              <a:t> de sécurité.”</a:t>
            </a:r>
            <a:br>
              <a:rPr lang="en-US" dirty="0"/>
            </a:br>
            <a:br>
              <a:rPr lang="en-US" dirty="0"/>
            </a:br>
            <a:br>
              <a:rPr lang="en-US" dirty="0"/>
            </a:br>
            <a:br>
              <a:rPr lang="en-US" dirty="0"/>
            </a:br>
            <a:br>
              <a:rPr lang="en-US" dirty="0"/>
            </a:br>
            <a:r>
              <a:rPr lang="en-US" dirty="0"/>
              <a:t>Speech2: “Avant toute </a:t>
            </a:r>
            <a:r>
              <a:rPr lang="en-US" dirty="0" err="1"/>
              <a:t>création</a:t>
            </a:r>
            <a:r>
              <a:rPr lang="en-US" dirty="0"/>
              <a:t> de compte, le </a:t>
            </a:r>
            <a:r>
              <a:rPr lang="en-US" dirty="0" err="1"/>
              <a:t>système</a:t>
            </a:r>
            <a:r>
              <a:rPr lang="en-US" dirty="0"/>
              <a:t> </a:t>
            </a:r>
            <a:r>
              <a:rPr lang="en-US" dirty="0" err="1"/>
              <a:t>vérifie</a:t>
            </a:r>
            <a:r>
              <a:rPr lang="en-US" dirty="0"/>
              <a:t> </a:t>
            </a:r>
            <a:r>
              <a:rPr lang="en-US" dirty="0" err="1"/>
              <a:t>que</a:t>
            </a:r>
            <a:r>
              <a:rPr lang="en-US" dirty="0"/>
              <a:t> les </a:t>
            </a:r>
            <a:r>
              <a:rPr lang="en-US" dirty="0" err="1"/>
              <a:t>informations</a:t>
            </a:r>
            <a:r>
              <a:rPr lang="en-US" dirty="0"/>
              <a:t> </a:t>
            </a:r>
            <a:r>
              <a:rPr lang="en-US" dirty="0" err="1"/>
              <a:t>essentielles</a:t>
            </a:r>
            <a:r>
              <a:rPr lang="en-US" dirty="0"/>
              <a:t> </a:t>
            </a:r>
            <a:r>
              <a:rPr lang="en-US" dirty="0" err="1"/>
              <a:t>sont</a:t>
            </a:r>
            <a:r>
              <a:rPr lang="en-US" dirty="0"/>
              <a:t> </a:t>
            </a:r>
            <a:r>
              <a:rPr lang="en-US" dirty="0" err="1"/>
              <a:t>présentes</a:t>
            </a:r>
            <a:r>
              <a:rPr lang="en-US" dirty="0"/>
              <a:t>. Si un </a:t>
            </a:r>
            <a:r>
              <a:rPr lang="en-US" dirty="0" err="1"/>
              <a:t>gestionnaire</a:t>
            </a:r>
            <a:r>
              <a:rPr lang="en-US" dirty="0"/>
              <a:t>, un département </a:t>
            </a:r>
            <a:r>
              <a:rPr lang="en-US" dirty="0" err="1"/>
              <a:t>ou</a:t>
            </a:r>
            <a:r>
              <a:rPr lang="en-US" dirty="0"/>
              <a:t> un </a:t>
            </a:r>
            <a:r>
              <a:rPr lang="en-US" dirty="0" err="1"/>
              <a:t>rôle</a:t>
            </a:r>
            <a:r>
              <a:rPr lang="en-US" dirty="0"/>
              <a:t> est </a:t>
            </a:r>
            <a:r>
              <a:rPr lang="en-US" dirty="0" err="1"/>
              <a:t>manquant</a:t>
            </a:r>
            <a:r>
              <a:rPr lang="en-US" dirty="0"/>
              <a:t>, le processus est </a:t>
            </a:r>
            <a:r>
              <a:rPr lang="en-US" dirty="0" err="1"/>
              <a:t>bloqué</a:t>
            </a:r>
            <a:r>
              <a:rPr lang="en-US" dirty="0"/>
              <a:t> </a:t>
            </a:r>
            <a:r>
              <a:rPr lang="en-US" dirty="0" err="1"/>
              <a:t>afin</a:t>
            </a:r>
            <a:r>
              <a:rPr lang="en-US" dirty="0"/>
              <a:t> </a:t>
            </a:r>
            <a:r>
              <a:rPr lang="en-US" dirty="0" err="1"/>
              <a:t>d'éviter</a:t>
            </a:r>
            <a:r>
              <a:rPr lang="en-US" dirty="0"/>
              <a:t> des </a:t>
            </a:r>
            <a:r>
              <a:rPr lang="en-US" dirty="0" err="1"/>
              <a:t>erreurs</a:t>
            </a:r>
            <a:r>
              <a:rPr lang="en-US" dirty="0"/>
              <a:t> de sécurité.</a:t>
            </a:r>
            <a:br>
              <a:rPr lang="en-US" dirty="0"/>
            </a:br>
            <a:r>
              <a:rPr lang="en-US" dirty="0"/>
              <a:t>Message de validation </a:t>
            </a:r>
            <a:r>
              <a:rPr lang="en-US" dirty="0" err="1"/>
              <a:t>indiqué</a:t>
            </a:r>
            <a:r>
              <a:rPr lang="en-US" dirty="0"/>
              <a:t>”</a:t>
            </a:r>
          </a:p>
        </p:txBody>
      </p:sp>
      <p:sp>
        <p:nvSpPr>
          <p:cNvPr id="4" name="Slide Number Placeholder 3"/>
          <p:cNvSpPr>
            <a:spLocks noGrp="1"/>
          </p:cNvSpPr>
          <p:nvPr>
            <p:ph type="sldNum" sz="quarter" idx="5"/>
          </p:nvPr>
        </p:nvSpPr>
        <p:spPr/>
        <p:txBody>
          <a:bodyPr/>
          <a:lstStyle/>
          <a:p>
            <a:fld id="{8CADF99C-AF7E-4688-B727-7B33BD5CCDA3}" type="slidenum">
              <a:rPr lang="en-US" smtClean="0"/>
              <a:t>9</a:t>
            </a:fld>
            <a:endParaRPr lang="en-US"/>
          </a:p>
        </p:txBody>
      </p:sp>
    </p:spTree>
    <p:extLst>
      <p:ext uri="{BB962C8B-B14F-4D97-AF65-F5344CB8AC3E}">
        <p14:creationId xmlns:p14="http://schemas.microsoft.com/office/powerpoint/2010/main" val="425302483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Speech1:  </a:t>
            </a:r>
            <a:r>
              <a:rPr lang="en-US" dirty="0"/>
              <a:t>“</a:t>
            </a:r>
            <a:r>
              <a:rPr lang="en-US" dirty="0" err="1"/>
              <a:t>Toutes</a:t>
            </a:r>
            <a:r>
              <a:rPr lang="en-US" dirty="0"/>
              <a:t> les </a:t>
            </a:r>
            <a:r>
              <a:rPr lang="en-US" dirty="0" err="1"/>
              <a:t>opérations</a:t>
            </a:r>
            <a:r>
              <a:rPr lang="en-US" dirty="0"/>
              <a:t> </a:t>
            </a:r>
            <a:r>
              <a:rPr lang="en-US" dirty="0" err="1"/>
              <a:t>effectuées</a:t>
            </a:r>
            <a:r>
              <a:rPr lang="en-US" dirty="0"/>
              <a:t> </a:t>
            </a:r>
            <a:r>
              <a:rPr lang="en-US" dirty="0" err="1"/>
              <a:t>sont</a:t>
            </a:r>
            <a:r>
              <a:rPr lang="en-US" dirty="0"/>
              <a:t> </a:t>
            </a:r>
            <a:r>
              <a:rPr lang="en-US" dirty="0" err="1"/>
              <a:t>enregistrées</a:t>
            </a:r>
            <a:r>
              <a:rPr lang="en-US" dirty="0"/>
              <a:t> et un rapport est </a:t>
            </a:r>
            <a:r>
              <a:rPr lang="en-US" dirty="0" err="1"/>
              <a:t>généré</a:t>
            </a:r>
            <a:r>
              <a:rPr lang="en-US" dirty="0"/>
              <a:t> </a:t>
            </a:r>
            <a:r>
              <a:rPr lang="en-US" dirty="0" err="1"/>
              <a:t>automatiquement</a:t>
            </a:r>
            <a:r>
              <a:rPr lang="en-US" dirty="0"/>
              <a:t>. Cela </a:t>
            </a:r>
            <a:r>
              <a:rPr lang="en-US" dirty="0" err="1"/>
              <a:t>permet</a:t>
            </a:r>
            <a:r>
              <a:rPr lang="en-US" dirty="0"/>
              <a:t> de </a:t>
            </a:r>
            <a:r>
              <a:rPr lang="en-US" dirty="0" err="1"/>
              <a:t>renforcer</a:t>
            </a:r>
            <a:r>
              <a:rPr lang="en-US" dirty="0"/>
              <a:t> la </a:t>
            </a:r>
            <a:r>
              <a:rPr lang="en-US" dirty="0" err="1"/>
              <a:t>traçabilité</a:t>
            </a:r>
            <a:r>
              <a:rPr lang="en-US" dirty="0"/>
              <a:t>, la </a:t>
            </a:r>
            <a:r>
              <a:rPr lang="en-US" dirty="0" err="1"/>
              <a:t>conformité</a:t>
            </a:r>
            <a:r>
              <a:rPr lang="en-US" dirty="0"/>
              <a:t> et de </a:t>
            </a:r>
            <a:r>
              <a:rPr lang="en-US" dirty="0" err="1"/>
              <a:t>faciliter</a:t>
            </a:r>
            <a:r>
              <a:rPr lang="en-US" dirty="0"/>
              <a:t> les audits.”</a:t>
            </a:r>
            <a:br>
              <a:rPr lang="fr-FR" dirty="0"/>
            </a:br>
            <a:br>
              <a:rPr lang="fr-FR" dirty="0"/>
            </a:br>
            <a:r>
              <a:rPr lang="fr-FR" dirty="0"/>
              <a:t>Speech2: « Le rapport HTML permet de visualiser les résultats du traitement, les opérations réalisées ainsi que les erreurs détectées par le système. Il constitue également un élément important pour l'audit et la conformité. »</a:t>
            </a:r>
            <a:endParaRPr lang="en-US" dirty="0"/>
          </a:p>
        </p:txBody>
      </p:sp>
      <p:sp>
        <p:nvSpPr>
          <p:cNvPr id="4" name="Slide Number Placeholder 3"/>
          <p:cNvSpPr>
            <a:spLocks noGrp="1"/>
          </p:cNvSpPr>
          <p:nvPr>
            <p:ph type="sldNum" sz="quarter" idx="5"/>
          </p:nvPr>
        </p:nvSpPr>
        <p:spPr/>
        <p:txBody>
          <a:bodyPr/>
          <a:lstStyle/>
          <a:p>
            <a:fld id="{8CADF99C-AF7E-4688-B727-7B33BD5CCDA3}" type="slidenum">
              <a:rPr lang="en-US" smtClean="0"/>
              <a:t>10</a:t>
            </a:fld>
            <a:endParaRPr lang="en-US"/>
          </a:p>
        </p:txBody>
      </p:sp>
    </p:spTree>
    <p:extLst>
      <p:ext uri="{BB962C8B-B14F-4D97-AF65-F5344CB8AC3E}">
        <p14:creationId xmlns:p14="http://schemas.microsoft.com/office/powerpoint/2010/main" val="149215971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Speech1: “Cette </a:t>
            </a:r>
            <a:r>
              <a:rPr lang="en-US" dirty="0" err="1"/>
              <a:t>preuve</a:t>
            </a:r>
            <a:r>
              <a:rPr lang="en-US" dirty="0"/>
              <a:t> de concept </a:t>
            </a:r>
            <a:r>
              <a:rPr lang="en-US" dirty="0" err="1"/>
              <a:t>constitue</a:t>
            </a:r>
            <a:r>
              <a:rPr lang="en-US" dirty="0"/>
              <a:t> la première étape </a:t>
            </a:r>
            <a:r>
              <a:rPr lang="en-US" dirty="0" err="1"/>
              <a:t>d'une</a:t>
            </a:r>
            <a:r>
              <a:rPr lang="en-US" dirty="0"/>
              <a:t> future </a:t>
            </a:r>
            <a:r>
              <a:rPr lang="en-US" dirty="0" err="1"/>
              <a:t>plateforme</a:t>
            </a:r>
            <a:r>
              <a:rPr lang="en-US" dirty="0"/>
              <a:t> IAM </a:t>
            </a:r>
            <a:r>
              <a:rPr lang="en-US" dirty="0" err="1"/>
              <a:t>d'entreprise</a:t>
            </a:r>
            <a:r>
              <a:rPr lang="en-US" dirty="0"/>
              <a:t> </a:t>
            </a:r>
            <a:r>
              <a:rPr lang="en-US" dirty="0" err="1"/>
              <a:t>intégrant</a:t>
            </a:r>
            <a:r>
              <a:rPr lang="en-US" dirty="0"/>
              <a:t> Active Directory, Microsoft Entra ID, Microsoft 365, les </a:t>
            </a:r>
            <a:r>
              <a:rPr lang="en-US" dirty="0" err="1"/>
              <a:t>systèmes</a:t>
            </a:r>
            <a:r>
              <a:rPr lang="en-US" dirty="0"/>
              <a:t> RH et les </a:t>
            </a:r>
            <a:r>
              <a:rPr lang="en-US" dirty="0" err="1"/>
              <a:t>outils</a:t>
            </a:r>
            <a:r>
              <a:rPr lang="en-US" dirty="0"/>
              <a:t> ITSM”</a:t>
            </a:r>
            <a:br>
              <a:rPr lang="en-US" dirty="0"/>
            </a:br>
            <a:br>
              <a:rPr lang="en-US" dirty="0"/>
            </a:br>
            <a:br>
              <a:rPr lang="en-US" dirty="0"/>
            </a:br>
            <a:br>
              <a:rPr lang="en-US" dirty="0"/>
            </a:br>
            <a:br>
              <a:rPr lang="en-US" dirty="0"/>
            </a:br>
            <a:r>
              <a:rPr lang="en-US" dirty="0"/>
              <a:t>Speech2: “Cette architecture </a:t>
            </a:r>
            <a:r>
              <a:rPr lang="en-US" dirty="0" err="1"/>
              <a:t>représente</a:t>
            </a:r>
            <a:r>
              <a:rPr lang="en-US" dirty="0"/>
              <a:t> </a:t>
            </a:r>
            <a:r>
              <a:rPr lang="en-US" dirty="0" err="1"/>
              <a:t>l'évolution</a:t>
            </a:r>
            <a:r>
              <a:rPr lang="en-US" dirty="0"/>
              <a:t> du MVP vers </a:t>
            </a:r>
            <a:r>
              <a:rPr lang="en-US" dirty="0" err="1"/>
              <a:t>une</a:t>
            </a:r>
            <a:r>
              <a:rPr lang="en-US" dirty="0"/>
              <a:t> </a:t>
            </a:r>
            <a:r>
              <a:rPr lang="en-US" dirty="0" err="1"/>
              <a:t>plateforme</a:t>
            </a:r>
            <a:r>
              <a:rPr lang="en-US" dirty="0"/>
              <a:t> IAM </a:t>
            </a:r>
            <a:r>
              <a:rPr lang="en-US" dirty="0" err="1"/>
              <a:t>d'entreprise</a:t>
            </a:r>
            <a:r>
              <a:rPr lang="en-US" dirty="0"/>
              <a:t> </a:t>
            </a:r>
            <a:r>
              <a:rPr lang="en-US" dirty="0" err="1"/>
              <a:t>intégrant</a:t>
            </a:r>
            <a:r>
              <a:rPr lang="en-US" dirty="0"/>
              <a:t> Active Directory, Microsoft Entra ID, Microsoft 365, les </a:t>
            </a:r>
            <a:r>
              <a:rPr lang="en-US" dirty="0" err="1"/>
              <a:t>systèmes</a:t>
            </a:r>
            <a:r>
              <a:rPr lang="en-US" dirty="0"/>
              <a:t> RH et les </a:t>
            </a:r>
            <a:r>
              <a:rPr lang="en-US" dirty="0" err="1"/>
              <a:t>outils</a:t>
            </a:r>
            <a:r>
              <a:rPr lang="en-US" dirty="0"/>
              <a:t> ITSM.”</a:t>
            </a:r>
          </a:p>
        </p:txBody>
      </p:sp>
      <p:sp>
        <p:nvSpPr>
          <p:cNvPr id="4" name="Slide Number Placeholder 3"/>
          <p:cNvSpPr>
            <a:spLocks noGrp="1"/>
          </p:cNvSpPr>
          <p:nvPr>
            <p:ph type="sldNum" sz="quarter" idx="5"/>
          </p:nvPr>
        </p:nvSpPr>
        <p:spPr/>
        <p:txBody>
          <a:bodyPr/>
          <a:lstStyle/>
          <a:p>
            <a:fld id="{8CADF99C-AF7E-4688-B727-7B33BD5CCDA3}" type="slidenum">
              <a:rPr lang="en-US" smtClean="0"/>
              <a:t>11</a:t>
            </a:fld>
            <a:endParaRPr lang="en-US"/>
          </a:p>
        </p:txBody>
      </p:sp>
    </p:spTree>
    <p:extLst>
      <p:ext uri="{BB962C8B-B14F-4D97-AF65-F5344CB8AC3E}">
        <p14:creationId xmlns:p14="http://schemas.microsoft.com/office/powerpoint/2010/main" val="273646300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Speech1:” Cette </a:t>
            </a:r>
            <a:r>
              <a:rPr lang="en-US" dirty="0" err="1"/>
              <a:t>preuve</a:t>
            </a:r>
            <a:r>
              <a:rPr lang="en-US" dirty="0"/>
              <a:t> de concept </a:t>
            </a:r>
            <a:r>
              <a:rPr lang="en-US" dirty="0" err="1"/>
              <a:t>démontre</a:t>
            </a:r>
            <a:r>
              <a:rPr lang="en-US" dirty="0"/>
              <a:t> </a:t>
            </a:r>
            <a:r>
              <a:rPr lang="en-US" dirty="0" err="1"/>
              <a:t>qu'il</a:t>
            </a:r>
            <a:r>
              <a:rPr lang="en-US" dirty="0"/>
              <a:t> est possible </a:t>
            </a:r>
            <a:r>
              <a:rPr lang="en-US" dirty="0" err="1"/>
              <a:t>d'automatiser</a:t>
            </a:r>
            <a:r>
              <a:rPr lang="en-US" dirty="0"/>
              <a:t> le cycle de vie des </a:t>
            </a:r>
            <a:r>
              <a:rPr lang="en-US" dirty="0" err="1"/>
              <a:t>identités</a:t>
            </a:r>
            <a:r>
              <a:rPr lang="en-US" dirty="0"/>
              <a:t> tout </a:t>
            </a:r>
            <a:r>
              <a:rPr lang="en-US" dirty="0" err="1"/>
              <a:t>en</a:t>
            </a:r>
            <a:r>
              <a:rPr lang="en-US" dirty="0"/>
              <a:t> </a:t>
            </a:r>
            <a:r>
              <a:rPr lang="en-US" dirty="0" err="1"/>
              <a:t>appliquant</a:t>
            </a:r>
            <a:r>
              <a:rPr lang="en-US" dirty="0"/>
              <a:t> les principes de sécurité, de </a:t>
            </a:r>
            <a:r>
              <a:rPr lang="en-US" dirty="0" err="1"/>
              <a:t>gouvernance</a:t>
            </a:r>
            <a:r>
              <a:rPr lang="en-US" dirty="0"/>
              <a:t>, de </a:t>
            </a:r>
            <a:r>
              <a:rPr lang="en-US" dirty="0" err="1"/>
              <a:t>contrôle</a:t>
            </a:r>
            <a:r>
              <a:rPr lang="en-US" dirty="0"/>
              <a:t> </a:t>
            </a:r>
            <a:r>
              <a:rPr lang="en-US" dirty="0" err="1"/>
              <a:t>d'accès</a:t>
            </a:r>
            <a:r>
              <a:rPr lang="en-US" dirty="0"/>
              <a:t> </a:t>
            </a:r>
            <a:r>
              <a:rPr lang="en-US" dirty="0" err="1"/>
              <a:t>basé</a:t>
            </a:r>
            <a:r>
              <a:rPr lang="en-US" dirty="0"/>
              <a:t> sur les </a:t>
            </a:r>
            <a:r>
              <a:rPr lang="en-US" dirty="0" err="1"/>
              <a:t>rôles</a:t>
            </a:r>
            <a:r>
              <a:rPr lang="en-US" dirty="0"/>
              <a:t>, </a:t>
            </a:r>
            <a:r>
              <a:rPr lang="en-US" dirty="0" err="1"/>
              <a:t>d'audit</a:t>
            </a:r>
            <a:r>
              <a:rPr lang="en-US" dirty="0"/>
              <a:t> et de </a:t>
            </a:r>
            <a:r>
              <a:rPr lang="en-US" dirty="0" err="1"/>
              <a:t>conformité</a:t>
            </a:r>
            <a:r>
              <a:rPr lang="en-US" dirty="0"/>
              <a:t>. La </a:t>
            </a:r>
            <a:r>
              <a:rPr lang="en-US" dirty="0" err="1"/>
              <a:t>prochaine</a:t>
            </a:r>
            <a:r>
              <a:rPr lang="en-US" dirty="0"/>
              <a:t> étape </a:t>
            </a:r>
            <a:r>
              <a:rPr lang="en-US" dirty="0" err="1"/>
              <a:t>consistera</a:t>
            </a:r>
            <a:r>
              <a:rPr lang="en-US" dirty="0"/>
              <a:t> à </a:t>
            </a:r>
            <a:r>
              <a:rPr lang="en-US" dirty="0" err="1"/>
              <a:t>intégrer</a:t>
            </a:r>
            <a:r>
              <a:rPr lang="en-US" dirty="0"/>
              <a:t> Active Directory, Microsoft Entra ID et les </a:t>
            </a:r>
            <a:r>
              <a:rPr lang="en-US" dirty="0" err="1"/>
              <a:t>systèmes</a:t>
            </a:r>
            <a:r>
              <a:rPr lang="en-US" dirty="0"/>
              <a:t> RH </a:t>
            </a:r>
            <a:r>
              <a:rPr lang="en-US" dirty="0" err="1"/>
              <a:t>afin</a:t>
            </a:r>
            <a:r>
              <a:rPr lang="en-US" dirty="0"/>
              <a:t> </a:t>
            </a:r>
            <a:r>
              <a:rPr lang="en-US" dirty="0" err="1"/>
              <a:t>d'évoluer</a:t>
            </a:r>
            <a:r>
              <a:rPr lang="en-US" dirty="0"/>
              <a:t> vers </a:t>
            </a:r>
            <a:r>
              <a:rPr lang="en-US" dirty="0" err="1"/>
              <a:t>une</a:t>
            </a:r>
            <a:r>
              <a:rPr lang="en-US" dirty="0"/>
              <a:t> </a:t>
            </a:r>
            <a:r>
              <a:rPr lang="en-US" dirty="0" err="1"/>
              <a:t>véritable</a:t>
            </a:r>
            <a:r>
              <a:rPr lang="en-US" dirty="0"/>
              <a:t> </a:t>
            </a:r>
            <a:r>
              <a:rPr lang="en-US" dirty="0" err="1"/>
              <a:t>plateforme</a:t>
            </a:r>
            <a:r>
              <a:rPr lang="en-US" dirty="0"/>
              <a:t> IAM </a:t>
            </a:r>
            <a:r>
              <a:rPr lang="en-US" dirty="0" err="1"/>
              <a:t>d'entreprise</a:t>
            </a:r>
            <a:r>
              <a:rPr lang="en-US" dirty="0"/>
              <a:t>“</a:t>
            </a:r>
          </a:p>
          <a:p>
            <a:endParaRPr lang="en-US" dirty="0"/>
          </a:p>
          <a:p>
            <a:endParaRPr lang="en-US" dirty="0"/>
          </a:p>
          <a:p>
            <a:endParaRPr lang="en-US" dirty="0"/>
          </a:p>
          <a:p>
            <a:endParaRPr lang="en-US"/>
          </a:p>
          <a:p>
            <a:br>
              <a:rPr lang="en-US"/>
            </a:br>
            <a:r>
              <a:rPr lang="en-US"/>
              <a:t>Speech2</a:t>
            </a:r>
            <a:r>
              <a:rPr lang="en-US" dirty="0"/>
              <a:t>: “Pour </a:t>
            </a:r>
            <a:r>
              <a:rPr lang="en-US" dirty="0" err="1"/>
              <a:t>conclure</a:t>
            </a:r>
            <a:r>
              <a:rPr lang="en-US" dirty="0"/>
              <a:t> , </a:t>
            </a:r>
            <a:r>
              <a:rPr lang="en-US" dirty="0" err="1"/>
              <a:t>cette</a:t>
            </a:r>
            <a:r>
              <a:rPr lang="en-US" dirty="0"/>
              <a:t> </a:t>
            </a:r>
            <a:r>
              <a:rPr lang="en-US" dirty="0" err="1"/>
              <a:t>preuve</a:t>
            </a:r>
            <a:r>
              <a:rPr lang="en-US" dirty="0"/>
              <a:t> de concept </a:t>
            </a:r>
            <a:r>
              <a:rPr lang="en-US" dirty="0" err="1"/>
              <a:t>démontre</a:t>
            </a:r>
            <a:r>
              <a:rPr lang="en-US" dirty="0"/>
              <a:t> </a:t>
            </a:r>
            <a:r>
              <a:rPr lang="en-US" dirty="0" err="1"/>
              <a:t>qu'il</a:t>
            </a:r>
            <a:r>
              <a:rPr lang="en-US" dirty="0"/>
              <a:t> est possible </a:t>
            </a:r>
            <a:r>
              <a:rPr lang="en-US" dirty="0" err="1"/>
              <a:t>d'automatiser</a:t>
            </a:r>
            <a:r>
              <a:rPr lang="en-US" dirty="0"/>
              <a:t> le cycle de vie des </a:t>
            </a:r>
            <a:r>
              <a:rPr lang="en-US" dirty="0" err="1"/>
              <a:t>identités</a:t>
            </a:r>
            <a:r>
              <a:rPr lang="en-US" dirty="0"/>
              <a:t> tout </a:t>
            </a:r>
            <a:r>
              <a:rPr lang="en-US" dirty="0" err="1"/>
              <a:t>en</a:t>
            </a:r>
            <a:r>
              <a:rPr lang="en-US" dirty="0"/>
              <a:t> </a:t>
            </a:r>
            <a:r>
              <a:rPr lang="en-US" dirty="0" err="1"/>
              <a:t>appliquant</a:t>
            </a:r>
            <a:r>
              <a:rPr lang="en-US" dirty="0"/>
              <a:t> les principes de sécurité, de </a:t>
            </a:r>
            <a:r>
              <a:rPr lang="en-US" dirty="0" err="1"/>
              <a:t>gouvernance</a:t>
            </a:r>
            <a:r>
              <a:rPr lang="en-US" dirty="0"/>
              <a:t>, de </a:t>
            </a:r>
            <a:r>
              <a:rPr lang="en-US" dirty="0" err="1"/>
              <a:t>contrôle</a:t>
            </a:r>
            <a:r>
              <a:rPr lang="en-US" dirty="0"/>
              <a:t> </a:t>
            </a:r>
            <a:r>
              <a:rPr lang="en-US" dirty="0" err="1"/>
              <a:t>d'accès</a:t>
            </a:r>
            <a:r>
              <a:rPr lang="en-US" dirty="0"/>
              <a:t> </a:t>
            </a:r>
            <a:r>
              <a:rPr lang="en-US" dirty="0" err="1"/>
              <a:t>basé</a:t>
            </a:r>
            <a:r>
              <a:rPr lang="en-US" dirty="0"/>
              <a:t> sur les </a:t>
            </a:r>
            <a:r>
              <a:rPr lang="en-US" dirty="0" err="1"/>
              <a:t>rôles</a:t>
            </a:r>
            <a:r>
              <a:rPr lang="en-US" dirty="0"/>
              <a:t>, </a:t>
            </a:r>
            <a:r>
              <a:rPr lang="en-US" dirty="0" err="1"/>
              <a:t>d'audit</a:t>
            </a:r>
            <a:r>
              <a:rPr lang="en-US" dirty="0"/>
              <a:t> et de </a:t>
            </a:r>
            <a:r>
              <a:rPr lang="en-US" dirty="0" err="1"/>
              <a:t>conformité</a:t>
            </a:r>
            <a:r>
              <a:rPr lang="en-US" dirty="0"/>
              <a:t>. La </a:t>
            </a:r>
            <a:r>
              <a:rPr lang="en-US" dirty="0" err="1"/>
              <a:t>prochaine</a:t>
            </a:r>
            <a:r>
              <a:rPr lang="en-US" dirty="0"/>
              <a:t> étape </a:t>
            </a:r>
            <a:r>
              <a:rPr lang="en-US" dirty="0" err="1"/>
              <a:t>consiste</a:t>
            </a:r>
            <a:r>
              <a:rPr lang="en-US" dirty="0"/>
              <a:t> à </a:t>
            </a:r>
            <a:r>
              <a:rPr lang="en-US" dirty="0" err="1"/>
              <a:t>intégrer</a:t>
            </a:r>
            <a:r>
              <a:rPr lang="en-US" dirty="0"/>
              <a:t> Active Directory, Microsoft Entra ID et les </a:t>
            </a:r>
            <a:r>
              <a:rPr lang="en-US" dirty="0" err="1"/>
              <a:t>systèmes</a:t>
            </a:r>
            <a:r>
              <a:rPr lang="en-US" dirty="0"/>
              <a:t> RH et ITSM </a:t>
            </a:r>
            <a:r>
              <a:rPr lang="en-US" dirty="0" err="1"/>
              <a:t>afin</a:t>
            </a:r>
            <a:r>
              <a:rPr lang="en-US" dirty="0"/>
              <a:t> </a:t>
            </a:r>
            <a:r>
              <a:rPr lang="en-US" dirty="0" err="1"/>
              <a:t>d'évoluer</a:t>
            </a:r>
            <a:r>
              <a:rPr lang="en-US" dirty="0"/>
              <a:t> vers </a:t>
            </a:r>
            <a:r>
              <a:rPr lang="en-US" dirty="0" err="1"/>
              <a:t>une</a:t>
            </a:r>
            <a:r>
              <a:rPr lang="en-US" dirty="0"/>
              <a:t> </a:t>
            </a:r>
            <a:r>
              <a:rPr lang="en-US" dirty="0" err="1"/>
              <a:t>véritable</a:t>
            </a:r>
            <a:r>
              <a:rPr lang="en-US" dirty="0"/>
              <a:t> </a:t>
            </a:r>
            <a:r>
              <a:rPr lang="en-US" dirty="0" err="1"/>
              <a:t>plateforme</a:t>
            </a:r>
            <a:r>
              <a:rPr lang="en-US" dirty="0"/>
              <a:t> IAM </a:t>
            </a:r>
            <a:r>
              <a:rPr lang="en-US" dirty="0" err="1"/>
              <a:t>d'entreprise</a:t>
            </a:r>
            <a:r>
              <a:rPr lang="en-US" dirty="0"/>
              <a:t>.”</a:t>
            </a:r>
          </a:p>
        </p:txBody>
      </p:sp>
      <p:sp>
        <p:nvSpPr>
          <p:cNvPr id="4" name="Slide Number Placeholder 3"/>
          <p:cNvSpPr>
            <a:spLocks noGrp="1"/>
          </p:cNvSpPr>
          <p:nvPr>
            <p:ph type="sldNum" sz="quarter" idx="5"/>
          </p:nvPr>
        </p:nvSpPr>
        <p:spPr/>
        <p:txBody>
          <a:bodyPr/>
          <a:lstStyle/>
          <a:p>
            <a:fld id="{8CADF99C-AF7E-4688-B727-7B33BD5CCDA3}" type="slidenum">
              <a:rPr lang="en-US" smtClean="0"/>
              <a:t>12</a:t>
            </a:fld>
            <a:endParaRPr lang="en-US"/>
          </a:p>
        </p:txBody>
      </p:sp>
    </p:spTree>
    <p:extLst>
      <p:ext uri="{BB962C8B-B14F-4D97-AF65-F5344CB8AC3E}">
        <p14:creationId xmlns:p14="http://schemas.microsoft.com/office/powerpoint/2010/main" val="316363979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7F1AA6-5CBB-A86B-9865-6AACBAE79AD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28D1ECC-63D4-566C-CCD3-FB37D3CEF7C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80B55D25-8435-9BB5-A886-0A76519613F2}"/>
              </a:ext>
            </a:extLst>
          </p:cNvPr>
          <p:cNvSpPr>
            <a:spLocks noGrp="1"/>
          </p:cNvSpPr>
          <p:nvPr>
            <p:ph type="dt" sz="half" idx="10"/>
          </p:nvPr>
        </p:nvSpPr>
        <p:spPr/>
        <p:txBody>
          <a:bodyPr/>
          <a:lstStyle/>
          <a:p>
            <a:fld id="{6EC124F2-B461-4993-8DAA-E392A8E68310}" type="datetimeFigureOut">
              <a:rPr lang="en-US" smtClean="0"/>
              <a:t>6/10/2026</a:t>
            </a:fld>
            <a:endParaRPr lang="en-US"/>
          </a:p>
        </p:txBody>
      </p:sp>
      <p:sp>
        <p:nvSpPr>
          <p:cNvPr id="5" name="Footer Placeholder 4">
            <a:extLst>
              <a:ext uri="{FF2B5EF4-FFF2-40B4-BE49-F238E27FC236}">
                <a16:creationId xmlns:a16="http://schemas.microsoft.com/office/drawing/2014/main" id="{82A6E1C0-8584-EBD6-7699-240E516AEF6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9A719C3-F93E-3145-16B7-D6959242B997}"/>
              </a:ext>
            </a:extLst>
          </p:cNvPr>
          <p:cNvSpPr>
            <a:spLocks noGrp="1"/>
          </p:cNvSpPr>
          <p:nvPr>
            <p:ph type="sldNum" sz="quarter" idx="12"/>
          </p:nvPr>
        </p:nvSpPr>
        <p:spPr/>
        <p:txBody>
          <a:bodyPr/>
          <a:lstStyle/>
          <a:p>
            <a:fld id="{9FA19B3E-6694-4471-BB2F-E72CC5650E27}" type="slidenum">
              <a:rPr lang="en-US" smtClean="0"/>
              <a:t>‹#›</a:t>
            </a:fld>
            <a:endParaRPr lang="en-US"/>
          </a:p>
        </p:txBody>
      </p:sp>
    </p:spTree>
    <p:extLst>
      <p:ext uri="{BB962C8B-B14F-4D97-AF65-F5344CB8AC3E}">
        <p14:creationId xmlns:p14="http://schemas.microsoft.com/office/powerpoint/2010/main" val="318358660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514A5B-339C-B264-082D-64B257A3F05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9898D23-8973-5DC3-B7EA-6F121D81BBB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F148C99-FCD9-5D2E-E6C5-CBB910C7EC5B}"/>
              </a:ext>
            </a:extLst>
          </p:cNvPr>
          <p:cNvSpPr>
            <a:spLocks noGrp="1"/>
          </p:cNvSpPr>
          <p:nvPr>
            <p:ph type="dt" sz="half" idx="10"/>
          </p:nvPr>
        </p:nvSpPr>
        <p:spPr/>
        <p:txBody>
          <a:bodyPr/>
          <a:lstStyle/>
          <a:p>
            <a:fld id="{6EC124F2-B461-4993-8DAA-E392A8E68310}" type="datetimeFigureOut">
              <a:rPr lang="en-US" smtClean="0"/>
              <a:t>6/10/2026</a:t>
            </a:fld>
            <a:endParaRPr lang="en-US"/>
          </a:p>
        </p:txBody>
      </p:sp>
      <p:sp>
        <p:nvSpPr>
          <p:cNvPr id="5" name="Footer Placeholder 4">
            <a:extLst>
              <a:ext uri="{FF2B5EF4-FFF2-40B4-BE49-F238E27FC236}">
                <a16:creationId xmlns:a16="http://schemas.microsoft.com/office/drawing/2014/main" id="{B7F7EBCD-486B-D362-FA05-AC7480EF040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057F92E-AF75-418C-A257-18991B7A16B3}"/>
              </a:ext>
            </a:extLst>
          </p:cNvPr>
          <p:cNvSpPr>
            <a:spLocks noGrp="1"/>
          </p:cNvSpPr>
          <p:nvPr>
            <p:ph type="sldNum" sz="quarter" idx="12"/>
          </p:nvPr>
        </p:nvSpPr>
        <p:spPr/>
        <p:txBody>
          <a:bodyPr/>
          <a:lstStyle/>
          <a:p>
            <a:fld id="{9FA19B3E-6694-4471-BB2F-E72CC5650E27}" type="slidenum">
              <a:rPr lang="en-US" smtClean="0"/>
              <a:t>‹#›</a:t>
            </a:fld>
            <a:endParaRPr lang="en-US"/>
          </a:p>
        </p:txBody>
      </p:sp>
    </p:spTree>
    <p:extLst>
      <p:ext uri="{BB962C8B-B14F-4D97-AF65-F5344CB8AC3E}">
        <p14:creationId xmlns:p14="http://schemas.microsoft.com/office/powerpoint/2010/main" val="264742209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70C003-B55F-D5A6-D76F-13A8F6B705A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5D025D6-6F0C-2153-6BD8-57551FC65B0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7F28483-E273-3105-E7B9-C33FA33BD7F2}"/>
              </a:ext>
            </a:extLst>
          </p:cNvPr>
          <p:cNvSpPr>
            <a:spLocks noGrp="1"/>
          </p:cNvSpPr>
          <p:nvPr>
            <p:ph type="dt" sz="half" idx="10"/>
          </p:nvPr>
        </p:nvSpPr>
        <p:spPr/>
        <p:txBody>
          <a:bodyPr/>
          <a:lstStyle/>
          <a:p>
            <a:fld id="{6EC124F2-B461-4993-8DAA-E392A8E68310}" type="datetimeFigureOut">
              <a:rPr lang="en-US" smtClean="0"/>
              <a:t>6/10/2026</a:t>
            </a:fld>
            <a:endParaRPr lang="en-US"/>
          </a:p>
        </p:txBody>
      </p:sp>
      <p:sp>
        <p:nvSpPr>
          <p:cNvPr id="5" name="Footer Placeholder 4">
            <a:extLst>
              <a:ext uri="{FF2B5EF4-FFF2-40B4-BE49-F238E27FC236}">
                <a16:creationId xmlns:a16="http://schemas.microsoft.com/office/drawing/2014/main" id="{82FA8E36-F424-3678-ED4C-FF9B23E0E82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61812F7-1574-D50B-420D-F155D214F4EB}"/>
              </a:ext>
            </a:extLst>
          </p:cNvPr>
          <p:cNvSpPr>
            <a:spLocks noGrp="1"/>
          </p:cNvSpPr>
          <p:nvPr>
            <p:ph type="sldNum" sz="quarter" idx="12"/>
          </p:nvPr>
        </p:nvSpPr>
        <p:spPr/>
        <p:txBody>
          <a:bodyPr/>
          <a:lstStyle/>
          <a:p>
            <a:fld id="{9FA19B3E-6694-4471-BB2F-E72CC5650E27}" type="slidenum">
              <a:rPr lang="en-US" smtClean="0"/>
              <a:t>‹#›</a:t>
            </a:fld>
            <a:endParaRPr lang="en-US"/>
          </a:p>
        </p:txBody>
      </p:sp>
    </p:spTree>
    <p:extLst>
      <p:ext uri="{BB962C8B-B14F-4D97-AF65-F5344CB8AC3E}">
        <p14:creationId xmlns:p14="http://schemas.microsoft.com/office/powerpoint/2010/main" val="341163907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AFAE69-906E-069D-F7C5-860AD20849F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56C791C-FFE0-9EC3-D233-3FBB6306289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47FFE4E-6DAB-53E3-9E1E-D4831B296A8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658C8FB-326C-6CA9-AF81-BD204DD71102}"/>
              </a:ext>
            </a:extLst>
          </p:cNvPr>
          <p:cNvSpPr>
            <a:spLocks noGrp="1"/>
          </p:cNvSpPr>
          <p:nvPr>
            <p:ph type="dt" sz="half" idx="10"/>
          </p:nvPr>
        </p:nvSpPr>
        <p:spPr/>
        <p:txBody>
          <a:bodyPr/>
          <a:lstStyle/>
          <a:p>
            <a:fld id="{6EC124F2-B461-4993-8DAA-E392A8E68310}" type="datetimeFigureOut">
              <a:rPr lang="en-US" smtClean="0"/>
              <a:t>6/10/2026</a:t>
            </a:fld>
            <a:endParaRPr lang="en-US"/>
          </a:p>
        </p:txBody>
      </p:sp>
      <p:sp>
        <p:nvSpPr>
          <p:cNvPr id="6" name="Footer Placeholder 5">
            <a:extLst>
              <a:ext uri="{FF2B5EF4-FFF2-40B4-BE49-F238E27FC236}">
                <a16:creationId xmlns:a16="http://schemas.microsoft.com/office/drawing/2014/main" id="{21AC363D-96ED-DDB6-5B38-4FD58A3DDF6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4A4B866-07A5-C97F-0795-1AF5E04D9245}"/>
              </a:ext>
            </a:extLst>
          </p:cNvPr>
          <p:cNvSpPr>
            <a:spLocks noGrp="1"/>
          </p:cNvSpPr>
          <p:nvPr>
            <p:ph type="sldNum" sz="quarter" idx="12"/>
          </p:nvPr>
        </p:nvSpPr>
        <p:spPr/>
        <p:txBody>
          <a:bodyPr/>
          <a:lstStyle/>
          <a:p>
            <a:fld id="{9FA19B3E-6694-4471-BB2F-E72CC5650E27}" type="slidenum">
              <a:rPr lang="en-US" smtClean="0"/>
              <a:t>‹#›</a:t>
            </a:fld>
            <a:endParaRPr lang="en-US"/>
          </a:p>
        </p:txBody>
      </p:sp>
    </p:spTree>
    <p:extLst>
      <p:ext uri="{BB962C8B-B14F-4D97-AF65-F5344CB8AC3E}">
        <p14:creationId xmlns:p14="http://schemas.microsoft.com/office/powerpoint/2010/main" val="36393316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67A5D2-A258-7322-C81C-44353957D07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9170AAE-9CB6-0FB8-7E32-C2365114E8F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557118A-2760-CD93-2F0B-7DCB8D9CBAE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3FAF4D9-DF33-D0BF-AB98-9C7B5A045F5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00F2C00-DDBA-702A-C077-CD24E658DE2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A3FA4C7-73F1-2F94-1259-6CA7C49F38C4}"/>
              </a:ext>
            </a:extLst>
          </p:cNvPr>
          <p:cNvSpPr>
            <a:spLocks noGrp="1"/>
          </p:cNvSpPr>
          <p:nvPr>
            <p:ph type="dt" sz="half" idx="10"/>
          </p:nvPr>
        </p:nvSpPr>
        <p:spPr/>
        <p:txBody>
          <a:bodyPr/>
          <a:lstStyle/>
          <a:p>
            <a:fld id="{6EC124F2-B461-4993-8DAA-E392A8E68310}" type="datetimeFigureOut">
              <a:rPr lang="en-US" smtClean="0"/>
              <a:t>6/10/2026</a:t>
            </a:fld>
            <a:endParaRPr lang="en-US"/>
          </a:p>
        </p:txBody>
      </p:sp>
      <p:sp>
        <p:nvSpPr>
          <p:cNvPr id="8" name="Footer Placeholder 7">
            <a:extLst>
              <a:ext uri="{FF2B5EF4-FFF2-40B4-BE49-F238E27FC236}">
                <a16:creationId xmlns:a16="http://schemas.microsoft.com/office/drawing/2014/main" id="{9AE55F99-7D57-E9FC-DDCD-B9800EA0BF05}"/>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79897C3-838D-8514-3E1F-16B18CCD0EDA}"/>
              </a:ext>
            </a:extLst>
          </p:cNvPr>
          <p:cNvSpPr>
            <a:spLocks noGrp="1"/>
          </p:cNvSpPr>
          <p:nvPr>
            <p:ph type="sldNum" sz="quarter" idx="12"/>
          </p:nvPr>
        </p:nvSpPr>
        <p:spPr/>
        <p:txBody>
          <a:bodyPr/>
          <a:lstStyle/>
          <a:p>
            <a:fld id="{9FA19B3E-6694-4471-BB2F-E72CC5650E27}" type="slidenum">
              <a:rPr lang="en-US" smtClean="0"/>
              <a:t>‹#›</a:t>
            </a:fld>
            <a:endParaRPr lang="en-US"/>
          </a:p>
        </p:txBody>
      </p:sp>
    </p:spTree>
    <p:extLst>
      <p:ext uri="{BB962C8B-B14F-4D97-AF65-F5344CB8AC3E}">
        <p14:creationId xmlns:p14="http://schemas.microsoft.com/office/powerpoint/2010/main" val="192839832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E96BE3-B317-C366-D8E1-0BE2621F59D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16D412A-0BB9-90B6-FE54-8AF30F7443F6}"/>
              </a:ext>
            </a:extLst>
          </p:cNvPr>
          <p:cNvSpPr>
            <a:spLocks noGrp="1"/>
          </p:cNvSpPr>
          <p:nvPr>
            <p:ph type="dt" sz="half" idx="10"/>
          </p:nvPr>
        </p:nvSpPr>
        <p:spPr/>
        <p:txBody>
          <a:bodyPr/>
          <a:lstStyle/>
          <a:p>
            <a:fld id="{6EC124F2-B461-4993-8DAA-E392A8E68310}" type="datetimeFigureOut">
              <a:rPr lang="en-US" smtClean="0"/>
              <a:t>6/10/2026</a:t>
            </a:fld>
            <a:endParaRPr lang="en-US"/>
          </a:p>
        </p:txBody>
      </p:sp>
      <p:sp>
        <p:nvSpPr>
          <p:cNvPr id="4" name="Footer Placeholder 3">
            <a:extLst>
              <a:ext uri="{FF2B5EF4-FFF2-40B4-BE49-F238E27FC236}">
                <a16:creationId xmlns:a16="http://schemas.microsoft.com/office/drawing/2014/main" id="{007F6CB3-0733-14D2-5278-BA35F835D37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1EB1FCD-0D5F-B68C-7C4D-ACF08303E975}"/>
              </a:ext>
            </a:extLst>
          </p:cNvPr>
          <p:cNvSpPr>
            <a:spLocks noGrp="1"/>
          </p:cNvSpPr>
          <p:nvPr>
            <p:ph type="sldNum" sz="quarter" idx="12"/>
          </p:nvPr>
        </p:nvSpPr>
        <p:spPr/>
        <p:txBody>
          <a:bodyPr/>
          <a:lstStyle/>
          <a:p>
            <a:fld id="{9FA19B3E-6694-4471-BB2F-E72CC5650E27}" type="slidenum">
              <a:rPr lang="en-US" smtClean="0"/>
              <a:t>‹#›</a:t>
            </a:fld>
            <a:endParaRPr lang="en-US"/>
          </a:p>
        </p:txBody>
      </p:sp>
    </p:spTree>
    <p:extLst>
      <p:ext uri="{BB962C8B-B14F-4D97-AF65-F5344CB8AC3E}">
        <p14:creationId xmlns:p14="http://schemas.microsoft.com/office/powerpoint/2010/main" val="30038652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B63C2D8-6B7D-E6B5-B1A0-E3534BDA3112}"/>
              </a:ext>
            </a:extLst>
          </p:cNvPr>
          <p:cNvSpPr>
            <a:spLocks noGrp="1"/>
          </p:cNvSpPr>
          <p:nvPr>
            <p:ph type="dt" sz="half" idx="10"/>
          </p:nvPr>
        </p:nvSpPr>
        <p:spPr/>
        <p:txBody>
          <a:bodyPr/>
          <a:lstStyle/>
          <a:p>
            <a:fld id="{6EC124F2-B461-4993-8DAA-E392A8E68310}" type="datetimeFigureOut">
              <a:rPr lang="en-US" smtClean="0"/>
              <a:t>6/10/2026</a:t>
            </a:fld>
            <a:endParaRPr lang="en-US"/>
          </a:p>
        </p:txBody>
      </p:sp>
      <p:sp>
        <p:nvSpPr>
          <p:cNvPr id="3" name="Footer Placeholder 2">
            <a:extLst>
              <a:ext uri="{FF2B5EF4-FFF2-40B4-BE49-F238E27FC236}">
                <a16:creationId xmlns:a16="http://schemas.microsoft.com/office/drawing/2014/main" id="{83AAE7AA-3FB9-BE8F-8593-1F91DD64F01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DB5D852-15AB-C27B-B717-454FFA86F062}"/>
              </a:ext>
            </a:extLst>
          </p:cNvPr>
          <p:cNvSpPr>
            <a:spLocks noGrp="1"/>
          </p:cNvSpPr>
          <p:nvPr>
            <p:ph type="sldNum" sz="quarter" idx="12"/>
          </p:nvPr>
        </p:nvSpPr>
        <p:spPr/>
        <p:txBody>
          <a:bodyPr/>
          <a:lstStyle/>
          <a:p>
            <a:fld id="{9FA19B3E-6694-4471-BB2F-E72CC5650E27}" type="slidenum">
              <a:rPr lang="en-US" smtClean="0"/>
              <a:t>‹#›</a:t>
            </a:fld>
            <a:endParaRPr lang="en-US"/>
          </a:p>
        </p:txBody>
      </p:sp>
    </p:spTree>
    <p:extLst>
      <p:ext uri="{BB962C8B-B14F-4D97-AF65-F5344CB8AC3E}">
        <p14:creationId xmlns:p14="http://schemas.microsoft.com/office/powerpoint/2010/main" val="22848911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22E359-9873-302A-B755-3EBB07293B7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B6A92BA-2FF5-BC5C-981F-D1573E2C80F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84FAEE0-F29B-DD65-CB9E-593BE92D472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39A8B39-870D-46D1-CB54-9F06D067C6BA}"/>
              </a:ext>
            </a:extLst>
          </p:cNvPr>
          <p:cNvSpPr>
            <a:spLocks noGrp="1"/>
          </p:cNvSpPr>
          <p:nvPr>
            <p:ph type="dt" sz="half" idx="10"/>
          </p:nvPr>
        </p:nvSpPr>
        <p:spPr/>
        <p:txBody>
          <a:bodyPr/>
          <a:lstStyle/>
          <a:p>
            <a:fld id="{6EC124F2-B461-4993-8DAA-E392A8E68310}" type="datetimeFigureOut">
              <a:rPr lang="en-US" smtClean="0"/>
              <a:t>6/10/2026</a:t>
            </a:fld>
            <a:endParaRPr lang="en-US"/>
          </a:p>
        </p:txBody>
      </p:sp>
      <p:sp>
        <p:nvSpPr>
          <p:cNvPr id="6" name="Footer Placeholder 5">
            <a:extLst>
              <a:ext uri="{FF2B5EF4-FFF2-40B4-BE49-F238E27FC236}">
                <a16:creationId xmlns:a16="http://schemas.microsoft.com/office/drawing/2014/main" id="{2F5F2D39-697F-5276-3077-6BAA8C0041D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8B68A36-0374-19B7-8139-CB7CE5D9D1BD}"/>
              </a:ext>
            </a:extLst>
          </p:cNvPr>
          <p:cNvSpPr>
            <a:spLocks noGrp="1"/>
          </p:cNvSpPr>
          <p:nvPr>
            <p:ph type="sldNum" sz="quarter" idx="12"/>
          </p:nvPr>
        </p:nvSpPr>
        <p:spPr/>
        <p:txBody>
          <a:bodyPr/>
          <a:lstStyle/>
          <a:p>
            <a:fld id="{9FA19B3E-6694-4471-BB2F-E72CC5650E27}" type="slidenum">
              <a:rPr lang="en-US" smtClean="0"/>
              <a:t>‹#›</a:t>
            </a:fld>
            <a:endParaRPr lang="en-US"/>
          </a:p>
        </p:txBody>
      </p:sp>
    </p:spTree>
    <p:extLst>
      <p:ext uri="{BB962C8B-B14F-4D97-AF65-F5344CB8AC3E}">
        <p14:creationId xmlns:p14="http://schemas.microsoft.com/office/powerpoint/2010/main" val="89163637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DFCAEF-4720-6C63-54BD-80DAB434228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C818B7B-0426-6590-BDD1-35399D8B21D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F417E12-40C3-1CB6-8541-7B0427411CA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B0C2761-1F00-9B7C-74F5-5967A1724788}"/>
              </a:ext>
            </a:extLst>
          </p:cNvPr>
          <p:cNvSpPr>
            <a:spLocks noGrp="1"/>
          </p:cNvSpPr>
          <p:nvPr>
            <p:ph type="dt" sz="half" idx="10"/>
          </p:nvPr>
        </p:nvSpPr>
        <p:spPr/>
        <p:txBody>
          <a:bodyPr/>
          <a:lstStyle/>
          <a:p>
            <a:fld id="{6EC124F2-B461-4993-8DAA-E392A8E68310}" type="datetimeFigureOut">
              <a:rPr lang="en-US" smtClean="0"/>
              <a:t>6/10/2026</a:t>
            </a:fld>
            <a:endParaRPr lang="en-US"/>
          </a:p>
        </p:txBody>
      </p:sp>
      <p:sp>
        <p:nvSpPr>
          <p:cNvPr id="6" name="Footer Placeholder 5">
            <a:extLst>
              <a:ext uri="{FF2B5EF4-FFF2-40B4-BE49-F238E27FC236}">
                <a16:creationId xmlns:a16="http://schemas.microsoft.com/office/drawing/2014/main" id="{68653337-BD91-FF64-176C-AD62E5858B9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21AA430-3A2F-91D9-1DEA-7F6E73818DC0}"/>
              </a:ext>
            </a:extLst>
          </p:cNvPr>
          <p:cNvSpPr>
            <a:spLocks noGrp="1"/>
          </p:cNvSpPr>
          <p:nvPr>
            <p:ph type="sldNum" sz="quarter" idx="12"/>
          </p:nvPr>
        </p:nvSpPr>
        <p:spPr/>
        <p:txBody>
          <a:bodyPr/>
          <a:lstStyle/>
          <a:p>
            <a:fld id="{9FA19B3E-6694-4471-BB2F-E72CC5650E27}" type="slidenum">
              <a:rPr lang="en-US" smtClean="0"/>
              <a:t>‹#›</a:t>
            </a:fld>
            <a:endParaRPr lang="en-US"/>
          </a:p>
        </p:txBody>
      </p:sp>
    </p:spTree>
    <p:extLst>
      <p:ext uri="{BB962C8B-B14F-4D97-AF65-F5344CB8AC3E}">
        <p14:creationId xmlns:p14="http://schemas.microsoft.com/office/powerpoint/2010/main" val="15925610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1BAB36-7F86-472C-7B7F-2D248B870D1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DBEF793-CD08-8487-A6DC-7E66FFE569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49A58AB-8F11-A76B-C046-D933FC365AED}"/>
              </a:ext>
            </a:extLst>
          </p:cNvPr>
          <p:cNvSpPr>
            <a:spLocks noGrp="1"/>
          </p:cNvSpPr>
          <p:nvPr>
            <p:ph type="dt" sz="half" idx="10"/>
          </p:nvPr>
        </p:nvSpPr>
        <p:spPr/>
        <p:txBody>
          <a:bodyPr/>
          <a:lstStyle/>
          <a:p>
            <a:fld id="{6EC124F2-B461-4993-8DAA-E392A8E68310}" type="datetimeFigureOut">
              <a:rPr lang="en-US" smtClean="0"/>
              <a:t>6/10/2026</a:t>
            </a:fld>
            <a:endParaRPr lang="en-US"/>
          </a:p>
        </p:txBody>
      </p:sp>
      <p:sp>
        <p:nvSpPr>
          <p:cNvPr id="5" name="Footer Placeholder 4">
            <a:extLst>
              <a:ext uri="{FF2B5EF4-FFF2-40B4-BE49-F238E27FC236}">
                <a16:creationId xmlns:a16="http://schemas.microsoft.com/office/drawing/2014/main" id="{3A5D53E0-E7E8-583A-088F-6977B20B866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F102372-00A1-2547-ABFE-ADD839AAAF5B}"/>
              </a:ext>
            </a:extLst>
          </p:cNvPr>
          <p:cNvSpPr>
            <a:spLocks noGrp="1"/>
          </p:cNvSpPr>
          <p:nvPr>
            <p:ph type="sldNum" sz="quarter" idx="12"/>
          </p:nvPr>
        </p:nvSpPr>
        <p:spPr/>
        <p:txBody>
          <a:bodyPr/>
          <a:lstStyle/>
          <a:p>
            <a:fld id="{9FA19B3E-6694-4471-BB2F-E72CC5650E27}" type="slidenum">
              <a:rPr lang="en-US" smtClean="0"/>
              <a:t>‹#›</a:t>
            </a:fld>
            <a:endParaRPr lang="en-US"/>
          </a:p>
        </p:txBody>
      </p:sp>
    </p:spTree>
    <p:extLst>
      <p:ext uri="{BB962C8B-B14F-4D97-AF65-F5344CB8AC3E}">
        <p14:creationId xmlns:p14="http://schemas.microsoft.com/office/powerpoint/2010/main" val="16907991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221DC8A-6EFF-B657-97AF-0D982500E3C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D9F3373-B825-EE2E-B94A-57268773AFC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AFE750B-CA75-0F31-049A-5B9150DE2DD9}"/>
              </a:ext>
            </a:extLst>
          </p:cNvPr>
          <p:cNvSpPr>
            <a:spLocks noGrp="1"/>
          </p:cNvSpPr>
          <p:nvPr>
            <p:ph type="dt" sz="half" idx="10"/>
          </p:nvPr>
        </p:nvSpPr>
        <p:spPr/>
        <p:txBody>
          <a:bodyPr/>
          <a:lstStyle/>
          <a:p>
            <a:fld id="{6EC124F2-B461-4993-8DAA-E392A8E68310}" type="datetimeFigureOut">
              <a:rPr lang="en-US" smtClean="0"/>
              <a:t>6/10/2026</a:t>
            </a:fld>
            <a:endParaRPr lang="en-US"/>
          </a:p>
        </p:txBody>
      </p:sp>
      <p:sp>
        <p:nvSpPr>
          <p:cNvPr id="5" name="Footer Placeholder 4">
            <a:extLst>
              <a:ext uri="{FF2B5EF4-FFF2-40B4-BE49-F238E27FC236}">
                <a16:creationId xmlns:a16="http://schemas.microsoft.com/office/drawing/2014/main" id="{DE41F94B-4413-4BB4-D61C-9ABB9BFBA24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C1EF7C1-6794-FB71-B301-3A8AC0AF2EDC}"/>
              </a:ext>
            </a:extLst>
          </p:cNvPr>
          <p:cNvSpPr>
            <a:spLocks noGrp="1"/>
          </p:cNvSpPr>
          <p:nvPr>
            <p:ph type="sldNum" sz="quarter" idx="12"/>
          </p:nvPr>
        </p:nvSpPr>
        <p:spPr/>
        <p:txBody>
          <a:bodyPr/>
          <a:lstStyle/>
          <a:p>
            <a:fld id="{9FA19B3E-6694-4471-BB2F-E72CC5650E27}" type="slidenum">
              <a:rPr lang="en-US" smtClean="0"/>
              <a:t>‹#›</a:t>
            </a:fld>
            <a:endParaRPr lang="en-US"/>
          </a:p>
        </p:txBody>
      </p:sp>
    </p:spTree>
    <p:extLst>
      <p:ext uri="{BB962C8B-B14F-4D97-AF65-F5344CB8AC3E}">
        <p14:creationId xmlns:p14="http://schemas.microsoft.com/office/powerpoint/2010/main" val="272222327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4AA0512-A38F-EBCC-626E-B330825DA77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28EAFF7-CC21-78B2-B498-24A56FFA3AF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A6281AB-E118-EB6D-7B5F-BAE65DB970A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EC124F2-B461-4993-8DAA-E392A8E68310}" type="datetimeFigureOut">
              <a:rPr lang="en-US" smtClean="0"/>
              <a:t>6/10/2026</a:t>
            </a:fld>
            <a:endParaRPr lang="en-US"/>
          </a:p>
        </p:txBody>
      </p:sp>
      <p:sp>
        <p:nvSpPr>
          <p:cNvPr id="5" name="Footer Placeholder 4">
            <a:extLst>
              <a:ext uri="{FF2B5EF4-FFF2-40B4-BE49-F238E27FC236}">
                <a16:creationId xmlns:a16="http://schemas.microsoft.com/office/drawing/2014/main" id="{D84F2705-EF30-6C6A-1E0E-12CA0178F38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2842FC6-C7BA-090A-CD19-5508F0705F2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FA19B3E-6694-4471-BB2F-E72CC5650E27}" type="slidenum">
              <a:rPr lang="en-US" smtClean="0"/>
              <a:t>‹#›</a:t>
            </a:fld>
            <a:endParaRPr lang="en-US"/>
          </a:p>
        </p:txBody>
      </p:sp>
    </p:spTree>
    <p:extLst>
      <p:ext uri="{BB962C8B-B14F-4D97-AF65-F5344CB8AC3E}">
        <p14:creationId xmlns:p14="http://schemas.microsoft.com/office/powerpoint/2010/main" val="143368429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FD6C1-910B-B0BB-BF38-A277753C042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D33C49-147B-F884-54AE-6DE910C37259}"/>
              </a:ext>
            </a:extLst>
          </p:cNvPr>
          <p:cNvSpPr>
            <a:spLocks noGrp="1"/>
          </p:cNvSpPr>
          <p:nvPr>
            <p:ph type="ctrTitle"/>
          </p:nvPr>
        </p:nvSpPr>
        <p:spPr>
          <a:xfrm>
            <a:off x="1445342" y="188299"/>
            <a:ext cx="9144000" cy="1748656"/>
          </a:xfrm>
        </p:spPr>
        <p:txBody>
          <a:bodyPr>
            <a:normAutofit/>
          </a:bodyPr>
          <a:lstStyle/>
          <a:p>
            <a:r>
              <a:rPr lang="en-US" dirty="0" err="1"/>
              <a:t>Automatisation</a:t>
            </a:r>
            <a:r>
              <a:rPr lang="en-US" dirty="0"/>
              <a:t> du Cycle de Vie des Identités (IAM)</a:t>
            </a:r>
          </a:p>
        </p:txBody>
      </p:sp>
      <p:sp>
        <p:nvSpPr>
          <p:cNvPr id="3" name="Subtitle 2">
            <a:extLst>
              <a:ext uri="{FF2B5EF4-FFF2-40B4-BE49-F238E27FC236}">
                <a16:creationId xmlns:a16="http://schemas.microsoft.com/office/drawing/2014/main" id="{749AE7DB-FF34-E29B-47F8-07EF775150E7}"/>
              </a:ext>
            </a:extLst>
          </p:cNvPr>
          <p:cNvSpPr>
            <a:spLocks noGrp="1"/>
          </p:cNvSpPr>
          <p:nvPr>
            <p:ph type="subTitle" idx="1"/>
          </p:nvPr>
        </p:nvSpPr>
        <p:spPr>
          <a:xfrm>
            <a:off x="1524000" y="2143433"/>
            <a:ext cx="9144000" cy="4237702"/>
          </a:xfrm>
        </p:spPr>
        <p:txBody>
          <a:bodyPr>
            <a:normAutofit fontScale="92500" lnSpcReduction="20000"/>
          </a:bodyPr>
          <a:lstStyle/>
          <a:p>
            <a:pPr algn="l"/>
            <a:r>
              <a:rPr lang="fr-FR" dirty="0"/>
              <a:t>Automatisation du Cycle de Vie des Identités (IAM)</a:t>
            </a:r>
          </a:p>
          <a:p>
            <a:pPr algn="l"/>
            <a:endParaRPr lang="fr-FR" dirty="0"/>
          </a:p>
          <a:p>
            <a:pPr algn="l"/>
            <a:r>
              <a:rPr lang="fr-FR" dirty="0"/>
              <a:t>Preuve de Concept (PoC)</a:t>
            </a:r>
          </a:p>
          <a:p>
            <a:pPr algn="l"/>
            <a:endParaRPr lang="fr-FR" dirty="0"/>
          </a:p>
          <a:p>
            <a:pPr algn="l"/>
            <a:r>
              <a:rPr lang="fr-FR" dirty="0"/>
              <a:t>Secteur de la Santé</a:t>
            </a:r>
          </a:p>
          <a:p>
            <a:pPr algn="l"/>
            <a:endParaRPr lang="fr-FR" dirty="0"/>
          </a:p>
          <a:p>
            <a:pPr algn="l"/>
            <a:r>
              <a:rPr lang="fr-FR" dirty="0"/>
              <a:t>Gestion des Identités et des Accès</a:t>
            </a:r>
          </a:p>
          <a:p>
            <a:pPr algn="l"/>
            <a:r>
              <a:rPr lang="fr-FR" dirty="0"/>
              <a:t>Joiner • Mover • Leaver • RBAC • Gouvernance</a:t>
            </a:r>
          </a:p>
          <a:p>
            <a:pPr algn="l"/>
            <a:endParaRPr lang="fr-FR" dirty="0"/>
          </a:p>
          <a:p>
            <a:pPr algn="l"/>
            <a:r>
              <a:rPr lang="fr-FR" dirty="0"/>
              <a:t>Présenté par</a:t>
            </a:r>
          </a:p>
          <a:p>
            <a:pPr algn="l"/>
            <a:r>
              <a:rPr lang="fr-FR" dirty="0"/>
              <a:t>Gervais Francis Kangaya</a:t>
            </a:r>
            <a:endParaRPr lang="en-US" dirty="0"/>
          </a:p>
        </p:txBody>
      </p:sp>
    </p:spTree>
    <p:extLst>
      <p:ext uri="{BB962C8B-B14F-4D97-AF65-F5344CB8AC3E}">
        <p14:creationId xmlns:p14="http://schemas.microsoft.com/office/powerpoint/2010/main" val="13867339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38AEA7-7509-F111-B704-0A8955FBA39B}"/>
              </a:ext>
            </a:extLst>
          </p:cNvPr>
          <p:cNvSpPr>
            <a:spLocks noGrp="1"/>
          </p:cNvSpPr>
          <p:nvPr>
            <p:ph type="ctrTitle"/>
          </p:nvPr>
        </p:nvSpPr>
        <p:spPr>
          <a:xfrm>
            <a:off x="1524000" y="406400"/>
            <a:ext cx="9144000" cy="950452"/>
          </a:xfrm>
        </p:spPr>
        <p:txBody>
          <a:bodyPr/>
          <a:lstStyle/>
          <a:p>
            <a:r>
              <a:rPr lang="en-US" dirty="0" err="1"/>
              <a:t>Défis</a:t>
            </a:r>
            <a:r>
              <a:rPr lang="en-US" dirty="0"/>
              <a:t> Métier</a:t>
            </a:r>
          </a:p>
        </p:txBody>
      </p:sp>
      <p:sp>
        <p:nvSpPr>
          <p:cNvPr id="3" name="Subtitle 2">
            <a:extLst>
              <a:ext uri="{FF2B5EF4-FFF2-40B4-BE49-F238E27FC236}">
                <a16:creationId xmlns:a16="http://schemas.microsoft.com/office/drawing/2014/main" id="{6B25A04E-17DD-3B68-1208-602956B4833B}"/>
              </a:ext>
            </a:extLst>
          </p:cNvPr>
          <p:cNvSpPr>
            <a:spLocks noGrp="1"/>
          </p:cNvSpPr>
          <p:nvPr>
            <p:ph type="subTitle" idx="1"/>
          </p:nvPr>
        </p:nvSpPr>
        <p:spPr>
          <a:xfrm>
            <a:off x="1524000" y="1543665"/>
            <a:ext cx="9144000" cy="4109883"/>
          </a:xfrm>
        </p:spPr>
        <p:txBody>
          <a:bodyPr>
            <a:normAutofit fontScale="92500" lnSpcReduction="10000"/>
          </a:bodyPr>
          <a:lstStyle/>
          <a:p>
            <a:pPr algn="l"/>
            <a:r>
              <a:rPr lang="fr-FR" dirty="0"/>
              <a:t>Les établissements de santé font face à plusieurs défis :</a:t>
            </a:r>
          </a:p>
          <a:p>
            <a:pPr algn="l"/>
            <a:endParaRPr lang="fr-FR" dirty="0"/>
          </a:p>
          <a:p>
            <a:pPr algn="l"/>
            <a:r>
              <a:rPr lang="fr-FR" dirty="0"/>
              <a:t>• Création manuelle des comptes</a:t>
            </a:r>
          </a:p>
          <a:p>
            <a:pPr algn="l"/>
            <a:r>
              <a:rPr lang="fr-FR" dirty="0"/>
              <a:t>• Attribution tardive des accès</a:t>
            </a:r>
          </a:p>
          <a:p>
            <a:pPr algn="l"/>
            <a:r>
              <a:rPr lang="fr-FR" dirty="0"/>
              <a:t>• Permissions excessives</a:t>
            </a:r>
          </a:p>
          <a:p>
            <a:pPr algn="l"/>
            <a:r>
              <a:rPr lang="fr-FR" dirty="0"/>
              <a:t>• Comptes orphelins après le départ d'employés</a:t>
            </a:r>
          </a:p>
          <a:p>
            <a:pPr algn="l"/>
            <a:r>
              <a:rPr lang="fr-FR" dirty="0"/>
              <a:t>• Difficultés d'audit et de conformité</a:t>
            </a:r>
          </a:p>
          <a:p>
            <a:pPr algn="l"/>
            <a:r>
              <a:rPr lang="fr-FR" dirty="0"/>
              <a:t>• Risques d'erreurs humaines</a:t>
            </a:r>
          </a:p>
          <a:p>
            <a:pPr algn="l"/>
            <a:endParaRPr lang="fr-FR" dirty="0"/>
          </a:p>
          <a:p>
            <a:pPr algn="l"/>
            <a:r>
              <a:rPr lang="fr-FR" dirty="0"/>
              <a:t>Ces défis augmentent les risques de sécurité et les coûts opérationnels.</a:t>
            </a:r>
            <a:endParaRPr lang="en-US" dirty="0"/>
          </a:p>
        </p:txBody>
      </p:sp>
    </p:spTree>
    <p:extLst>
      <p:ext uri="{BB962C8B-B14F-4D97-AF65-F5344CB8AC3E}">
        <p14:creationId xmlns:p14="http://schemas.microsoft.com/office/powerpoint/2010/main" val="337781302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E66DB36-33CA-6B6B-73C2-EB3E2E6AE9A8}"/>
            </a:ext>
          </a:extLst>
        </p:cNvPr>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1DF91F20-B96F-4F77-AC3E-2CDD3BAA10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 y="0"/>
            <a:ext cx="12192004"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C3D487F7-9050-4871-B351-34A72ADB29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484" y="-1"/>
            <a:ext cx="8111296" cy="6858000"/>
          </a:xfrm>
          <a:prstGeom prst="rect">
            <a:avLst/>
          </a:prstGeom>
          <a:gradFill>
            <a:gsLst>
              <a:gs pos="8000">
                <a:srgbClr val="000000">
                  <a:alpha val="94000"/>
                </a:srgbClr>
              </a:gs>
              <a:gs pos="100000">
                <a:schemeClr val="accent1"/>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F43C27DD-EF6A-4C48-9669-C2970E71A81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858281" y="-401562"/>
            <a:ext cx="6858004" cy="7661129"/>
          </a:xfrm>
          <a:prstGeom prst="rect">
            <a:avLst/>
          </a:prstGeom>
          <a:gradFill>
            <a:gsLst>
              <a:gs pos="0">
                <a:schemeClr val="accent1">
                  <a:alpha val="23000"/>
                </a:schemeClr>
              </a:gs>
              <a:gs pos="71000">
                <a:schemeClr val="accent1">
                  <a:lumMod val="50000"/>
                  <a:alpha val="0"/>
                </a:schemeClr>
              </a:gs>
              <a:gs pos="100000">
                <a:srgbClr val="000000">
                  <a:alpha val="0"/>
                </a:srgb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1" name="Rectangle 30">
            <a:extLst>
              <a:ext uri="{FF2B5EF4-FFF2-40B4-BE49-F238E27FC236}">
                <a16:creationId xmlns:a16="http://schemas.microsoft.com/office/drawing/2014/main" id="{C84384FE-1C88-4CAA-8FB8-2313A3AE73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7519" y="-1"/>
            <a:ext cx="8118331" cy="6858000"/>
          </a:xfrm>
          <a:prstGeom prst="rect">
            <a:avLst/>
          </a:prstGeom>
          <a:gradFill>
            <a:gsLst>
              <a:gs pos="14000">
                <a:schemeClr val="accent1">
                  <a:alpha val="0"/>
                </a:schemeClr>
              </a:gs>
              <a:gs pos="100000">
                <a:srgbClr val="000000">
                  <a:alpha val="82000"/>
                </a:srgb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3" name="Oval 32">
            <a:extLst>
              <a:ext uri="{FF2B5EF4-FFF2-40B4-BE49-F238E27FC236}">
                <a16:creationId xmlns:a16="http://schemas.microsoft.com/office/drawing/2014/main" id="{87B6A113-58CD-406C-BCE4-6E1F1F2BE6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5449520">
            <a:off x="2569700" y="983306"/>
            <a:ext cx="5005754" cy="5005754"/>
          </a:xfrm>
          <a:prstGeom prst="ellipse">
            <a:avLst/>
          </a:prstGeom>
          <a:gradFill>
            <a:gsLst>
              <a:gs pos="17000">
                <a:schemeClr val="accent1">
                  <a:lumMod val="75000"/>
                  <a:alpha val="0"/>
                </a:schemeClr>
              </a:gs>
              <a:gs pos="82000">
                <a:srgbClr val="000000">
                  <a:alpha val="24000"/>
                </a:srgbClr>
              </a:gs>
            </a:gsLst>
            <a:lin ang="9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A90FF9F4-42B1-FBAC-20F2-61BF71051E67}"/>
              </a:ext>
            </a:extLst>
          </p:cNvPr>
          <p:cNvSpPr>
            <a:spLocks noGrp="1"/>
          </p:cNvSpPr>
          <p:nvPr>
            <p:ph type="ctrTitle"/>
          </p:nvPr>
        </p:nvSpPr>
        <p:spPr>
          <a:xfrm>
            <a:off x="1011948" y="857251"/>
            <a:ext cx="6219582" cy="3160113"/>
          </a:xfrm>
        </p:spPr>
        <p:txBody>
          <a:bodyPr anchor="b">
            <a:normAutofit/>
          </a:bodyPr>
          <a:lstStyle/>
          <a:p>
            <a:pPr algn="l"/>
            <a:r>
              <a:rPr lang="en-US" sz="4800">
                <a:solidFill>
                  <a:srgbClr val="FFFFFF"/>
                </a:solidFill>
              </a:rPr>
              <a:t>Vue d’Ensemble de la Solution</a:t>
            </a:r>
          </a:p>
        </p:txBody>
      </p:sp>
      <p:sp>
        <p:nvSpPr>
          <p:cNvPr id="35" name="Rectangle 34">
            <a:extLst>
              <a:ext uri="{FF2B5EF4-FFF2-40B4-BE49-F238E27FC236}">
                <a16:creationId xmlns:a16="http://schemas.microsoft.com/office/drawing/2014/main" id="{05A1AA86-B7E6-4C02-AA34-F1A25CD4CC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7518" y="4354178"/>
            <a:ext cx="8118330" cy="2503817"/>
          </a:xfrm>
          <a:prstGeom prst="rect">
            <a:avLst/>
          </a:prstGeom>
          <a:gradFill>
            <a:gsLst>
              <a:gs pos="0">
                <a:schemeClr val="accent1">
                  <a:lumMod val="75000"/>
                  <a:alpha val="33000"/>
                </a:schemeClr>
              </a:gs>
              <a:gs pos="83000">
                <a:srgbClr val="000000">
                  <a:alpha val="21000"/>
                </a:srgb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Picture 4">
            <a:extLst>
              <a:ext uri="{FF2B5EF4-FFF2-40B4-BE49-F238E27FC236}">
                <a16:creationId xmlns:a16="http://schemas.microsoft.com/office/drawing/2014/main" id="{4767D998-7D07-7EC4-699F-EB1AB3575100}"/>
              </a:ext>
            </a:extLst>
          </p:cNvPr>
          <p:cNvPicPr>
            <a:picLocks noChangeAspect="1"/>
          </p:cNvPicPr>
          <p:nvPr/>
        </p:nvPicPr>
        <p:blipFill>
          <a:blip r:embed="rId3"/>
          <a:stretch>
            <a:fillRect/>
          </a:stretch>
        </p:blipFill>
        <p:spPr>
          <a:xfrm>
            <a:off x="8560981" y="905373"/>
            <a:ext cx="3173819" cy="5047254"/>
          </a:xfrm>
          <a:prstGeom prst="rect">
            <a:avLst/>
          </a:prstGeom>
        </p:spPr>
      </p:pic>
    </p:spTree>
    <p:extLst>
      <p:ext uri="{BB962C8B-B14F-4D97-AF65-F5344CB8AC3E}">
        <p14:creationId xmlns:p14="http://schemas.microsoft.com/office/powerpoint/2010/main" val="228725206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BA31B07-FEDF-8094-A1BB-931D801D1C91}"/>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855C5EC-BD62-8D6B-F1C4-8AEA6E38949B}"/>
              </a:ext>
            </a:extLst>
          </p:cNvPr>
          <p:cNvSpPr>
            <a:spLocks noGrp="1"/>
          </p:cNvSpPr>
          <p:nvPr>
            <p:ph type="ctrTitle"/>
          </p:nvPr>
        </p:nvSpPr>
        <p:spPr>
          <a:xfrm>
            <a:off x="699713" y="248038"/>
            <a:ext cx="7063721" cy="1159200"/>
          </a:xfrm>
        </p:spPr>
        <p:txBody>
          <a:bodyPr anchor="ctr">
            <a:normAutofit/>
          </a:bodyPr>
          <a:lstStyle/>
          <a:p>
            <a:pPr algn="l"/>
            <a:r>
              <a:rPr lang="en-US" sz="4000">
                <a:solidFill>
                  <a:srgbClr val="FFFFFF"/>
                </a:solidFill>
              </a:rPr>
              <a:t>Local MVP Architecture</a:t>
            </a:r>
          </a:p>
        </p:txBody>
      </p:sp>
      <p:sp>
        <p:nvSpPr>
          <p:cNvPr id="3" name="Subtitle 2">
            <a:extLst>
              <a:ext uri="{FF2B5EF4-FFF2-40B4-BE49-F238E27FC236}">
                <a16:creationId xmlns:a16="http://schemas.microsoft.com/office/drawing/2014/main" id="{0F99365E-07E3-42C0-7A67-BBAE846CFBC6}"/>
              </a:ext>
            </a:extLst>
          </p:cNvPr>
          <p:cNvSpPr>
            <a:spLocks noGrp="1"/>
          </p:cNvSpPr>
          <p:nvPr>
            <p:ph type="subTitle" idx="1"/>
          </p:nvPr>
        </p:nvSpPr>
        <p:spPr>
          <a:xfrm>
            <a:off x="8572499" y="390832"/>
            <a:ext cx="3233585" cy="873612"/>
          </a:xfrm>
        </p:spPr>
        <p:txBody>
          <a:bodyPr anchor="ctr">
            <a:normAutofit/>
          </a:bodyPr>
          <a:lstStyle/>
          <a:p>
            <a:pPr algn="l"/>
            <a:endParaRPr lang="en-US" sz="2000" dirty="0">
              <a:solidFill>
                <a:srgbClr val="FFFFFF"/>
              </a:solidFill>
            </a:endParaRPr>
          </a:p>
        </p:txBody>
      </p:sp>
      <p:pic>
        <p:nvPicPr>
          <p:cNvPr id="5" name="Picture 4">
            <a:extLst>
              <a:ext uri="{FF2B5EF4-FFF2-40B4-BE49-F238E27FC236}">
                <a16:creationId xmlns:a16="http://schemas.microsoft.com/office/drawing/2014/main" id="{AFCA4B0F-95E7-A1C4-A95C-03FF85695A7A}"/>
              </a:ext>
            </a:extLst>
          </p:cNvPr>
          <p:cNvPicPr>
            <a:picLocks noChangeAspect="1"/>
          </p:cNvPicPr>
          <p:nvPr/>
        </p:nvPicPr>
        <p:blipFill>
          <a:blip r:embed="rId3"/>
          <a:stretch>
            <a:fillRect/>
          </a:stretch>
        </p:blipFill>
        <p:spPr>
          <a:xfrm>
            <a:off x="478535" y="1973342"/>
            <a:ext cx="11327549" cy="4417742"/>
          </a:xfrm>
          <a:prstGeom prst="rect">
            <a:avLst/>
          </a:prstGeom>
        </p:spPr>
      </p:pic>
    </p:spTree>
    <p:extLst>
      <p:ext uri="{BB962C8B-B14F-4D97-AF65-F5344CB8AC3E}">
        <p14:creationId xmlns:p14="http://schemas.microsoft.com/office/powerpoint/2010/main" val="18143164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BC6840E-61A4-79EC-4576-E20FA440EC1F}"/>
            </a:ext>
          </a:extLst>
        </p:cNvPr>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91E5A9A7-95C6-4F4F-B00E-C82E07FE6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Rectangle 24">
            <a:extLst>
              <a:ext uri="{FF2B5EF4-FFF2-40B4-BE49-F238E27FC236}">
                <a16:creationId xmlns:a16="http://schemas.microsoft.com/office/drawing/2014/main" id="{D07DD2DE-F619-49DD-B5E7-03A290FF4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85149191-5F60-4A28-AAFF-039F96B0F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9" name="Freeform: Shape 28">
            <a:extLst>
              <a:ext uri="{FF2B5EF4-FFF2-40B4-BE49-F238E27FC236}">
                <a16:creationId xmlns:a16="http://schemas.microsoft.com/office/drawing/2014/main" id="{F8260ED5-17F7-4158-B241-D51DD4CF1B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52958DF8-3FA7-B527-C0B7-2E9974914535}"/>
              </a:ext>
            </a:extLst>
          </p:cNvPr>
          <p:cNvSpPr>
            <a:spLocks noGrp="1"/>
          </p:cNvSpPr>
          <p:nvPr>
            <p:ph type="ctrTitle"/>
          </p:nvPr>
        </p:nvSpPr>
        <p:spPr>
          <a:xfrm>
            <a:off x="112734" y="2767106"/>
            <a:ext cx="3695178" cy="2481299"/>
          </a:xfrm>
        </p:spPr>
        <p:txBody>
          <a:bodyPr anchor="t">
            <a:normAutofit/>
          </a:bodyPr>
          <a:lstStyle/>
          <a:p>
            <a:pPr algn="l"/>
            <a:r>
              <a:rPr lang="en-US" sz="4000" dirty="0">
                <a:solidFill>
                  <a:srgbClr val="FFFFFF"/>
                </a:solidFill>
              </a:rPr>
              <a:t>Joiner Workflow</a:t>
            </a:r>
            <a:br>
              <a:rPr lang="en-US" sz="4000" dirty="0">
                <a:solidFill>
                  <a:srgbClr val="FFFFFF"/>
                </a:solidFill>
              </a:rPr>
            </a:br>
            <a:br>
              <a:rPr lang="en-US" sz="4000" dirty="0">
                <a:solidFill>
                  <a:srgbClr val="FFFFFF"/>
                </a:solidFill>
              </a:rPr>
            </a:br>
            <a:r>
              <a:rPr lang="en-US" sz="4000" dirty="0">
                <a:solidFill>
                  <a:srgbClr val="FFFFFF"/>
                </a:solidFill>
              </a:rPr>
              <a:t>: </a:t>
            </a:r>
            <a:r>
              <a:rPr lang="en-US" sz="4000" dirty="0" err="1">
                <a:solidFill>
                  <a:srgbClr val="FFFFFF"/>
                </a:solidFill>
              </a:rPr>
              <a:t>Arrivées</a:t>
            </a:r>
            <a:r>
              <a:rPr lang="en-US" sz="4000" dirty="0">
                <a:solidFill>
                  <a:srgbClr val="FFFFFF"/>
                </a:solidFill>
              </a:rPr>
              <a:t> des </a:t>
            </a:r>
            <a:r>
              <a:rPr lang="en-US" sz="4000" dirty="0" err="1">
                <a:solidFill>
                  <a:srgbClr val="FFFFFF"/>
                </a:solidFill>
              </a:rPr>
              <a:t>employés</a:t>
            </a:r>
            <a:endParaRPr lang="en-US" sz="4000" dirty="0">
              <a:solidFill>
                <a:srgbClr val="FFFFFF"/>
              </a:solidFill>
            </a:endParaRPr>
          </a:p>
        </p:txBody>
      </p:sp>
      <p:sp>
        <p:nvSpPr>
          <p:cNvPr id="3" name="Subtitle 2">
            <a:extLst>
              <a:ext uri="{FF2B5EF4-FFF2-40B4-BE49-F238E27FC236}">
                <a16:creationId xmlns:a16="http://schemas.microsoft.com/office/drawing/2014/main" id="{42FB810B-773C-56BE-DE24-F588482D3D1D}"/>
              </a:ext>
            </a:extLst>
          </p:cNvPr>
          <p:cNvSpPr>
            <a:spLocks noGrp="1"/>
          </p:cNvSpPr>
          <p:nvPr>
            <p:ph type="subTitle" idx="1"/>
          </p:nvPr>
        </p:nvSpPr>
        <p:spPr>
          <a:xfrm>
            <a:off x="660042" y="806824"/>
            <a:ext cx="2919738" cy="1494117"/>
          </a:xfrm>
        </p:spPr>
        <p:txBody>
          <a:bodyPr anchor="b">
            <a:normAutofit/>
          </a:bodyPr>
          <a:lstStyle/>
          <a:p>
            <a:pPr algn="l"/>
            <a:endParaRPr lang="en-US" sz="2000">
              <a:solidFill>
                <a:srgbClr val="FFFFFF"/>
              </a:solidFill>
            </a:endParaRPr>
          </a:p>
        </p:txBody>
      </p:sp>
      <p:pic>
        <p:nvPicPr>
          <p:cNvPr id="5" name="Picture 4">
            <a:extLst>
              <a:ext uri="{FF2B5EF4-FFF2-40B4-BE49-F238E27FC236}">
                <a16:creationId xmlns:a16="http://schemas.microsoft.com/office/drawing/2014/main" id="{CD11E1C4-AE5B-4383-9430-6AC32492D84A}"/>
              </a:ext>
            </a:extLst>
          </p:cNvPr>
          <p:cNvPicPr>
            <a:picLocks noChangeAspect="1"/>
          </p:cNvPicPr>
          <p:nvPr/>
        </p:nvPicPr>
        <p:blipFill>
          <a:blip r:embed="rId3"/>
          <a:stretch>
            <a:fillRect/>
          </a:stretch>
        </p:blipFill>
        <p:spPr>
          <a:xfrm>
            <a:off x="4870988" y="274084"/>
            <a:ext cx="6125258" cy="6431515"/>
          </a:xfrm>
          <a:prstGeom prst="rect">
            <a:avLst/>
          </a:prstGeom>
        </p:spPr>
      </p:pic>
    </p:spTree>
    <p:extLst>
      <p:ext uri="{BB962C8B-B14F-4D97-AF65-F5344CB8AC3E}">
        <p14:creationId xmlns:p14="http://schemas.microsoft.com/office/powerpoint/2010/main" val="148237658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91FEB4E-CF6E-D015-38CC-16F47749656B}"/>
            </a:ext>
          </a:extLst>
        </p:cNvPr>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91E5A9A7-95C6-4F4F-B00E-C82E07FE6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Rectangle 24">
            <a:extLst>
              <a:ext uri="{FF2B5EF4-FFF2-40B4-BE49-F238E27FC236}">
                <a16:creationId xmlns:a16="http://schemas.microsoft.com/office/drawing/2014/main" id="{D07DD2DE-F619-49DD-B5E7-03A290FF4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85149191-5F60-4A28-AAFF-039F96B0F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9" name="Freeform: Shape 28">
            <a:extLst>
              <a:ext uri="{FF2B5EF4-FFF2-40B4-BE49-F238E27FC236}">
                <a16:creationId xmlns:a16="http://schemas.microsoft.com/office/drawing/2014/main" id="{F8260ED5-17F7-4158-B241-D51DD4CF1B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EE38D403-1F08-8657-138A-3C1C500B41F7}"/>
              </a:ext>
            </a:extLst>
          </p:cNvPr>
          <p:cNvSpPr>
            <a:spLocks noGrp="1"/>
          </p:cNvSpPr>
          <p:nvPr>
            <p:ph type="ctrTitle"/>
          </p:nvPr>
        </p:nvSpPr>
        <p:spPr>
          <a:xfrm>
            <a:off x="175364" y="2767106"/>
            <a:ext cx="3757809" cy="3071906"/>
          </a:xfrm>
        </p:spPr>
        <p:txBody>
          <a:bodyPr anchor="t">
            <a:normAutofit/>
          </a:bodyPr>
          <a:lstStyle/>
          <a:p>
            <a:pPr algn="l"/>
            <a:r>
              <a:rPr lang="en-US" sz="4000" dirty="0">
                <a:solidFill>
                  <a:srgbClr val="FFFFFF"/>
                </a:solidFill>
              </a:rPr>
              <a:t>Mover Workflow:</a:t>
            </a:r>
            <a:br>
              <a:rPr lang="en-US" sz="4000" dirty="0">
                <a:solidFill>
                  <a:srgbClr val="FFFFFF"/>
                </a:solidFill>
              </a:rPr>
            </a:br>
            <a:br>
              <a:rPr lang="en-US" sz="4000" dirty="0">
                <a:solidFill>
                  <a:srgbClr val="FFFFFF"/>
                </a:solidFill>
              </a:rPr>
            </a:br>
            <a:r>
              <a:rPr lang="en-US" sz="4000" dirty="0">
                <a:solidFill>
                  <a:srgbClr val="FFFFFF"/>
                </a:solidFill>
              </a:rPr>
              <a:t>changement de poste </a:t>
            </a:r>
            <a:r>
              <a:rPr lang="en-US" sz="4000" dirty="0" err="1">
                <a:solidFill>
                  <a:srgbClr val="FFFFFF"/>
                </a:solidFill>
              </a:rPr>
              <a:t>ou</a:t>
            </a:r>
            <a:r>
              <a:rPr lang="en-US" sz="4000" dirty="0">
                <a:solidFill>
                  <a:srgbClr val="FFFFFF"/>
                </a:solidFill>
              </a:rPr>
              <a:t> </a:t>
            </a:r>
            <a:r>
              <a:rPr lang="en-US" sz="4000" dirty="0" err="1">
                <a:solidFill>
                  <a:srgbClr val="FFFFFF"/>
                </a:solidFill>
              </a:rPr>
              <a:t>mobilité</a:t>
            </a:r>
            <a:r>
              <a:rPr lang="en-US" sz="4000" dirty="0">
                <a:solidFill>
                  <a:srgbClr val="FFFFFF"/>
                </a:solidFill>
              </a:rPr>
              <a:t> interne</a:t>
            </a:r>
          </a:p>
        </p:txBody>
      </p:sp>
      <p:sp>
        <p:nvSpPr>
          <p:cNvPr id="3" name="Subtitle 2">
            <a:extLst>
              <a:ext uri="{FF2B5EF4-FFF2-40B4-BE49-F238E27FC236}">
                <a16:creationId xmlns:a16="http://schemas.microsoft.com/office/drawing/2014/main" id="{84468651-2CC9-2E73-7D8A-D548EA6F0F2F}"/>
              </a:ext>
            </a:extLst>
          </p:cNvPr>
          <p:cNvSpPr>
            <a:spLocks noGrp="1"/>
          </p:cNvSpPr>
          <p:nvPr>
            <p:ph type="subTitle" idx="1"/>
          </p:nvPr>
        </p:nvSpPr>
        <p:spPr>
          <a:xfrm>
            <a:off x="660042" y="806824"/>
            <a:ext cx="2919738" cy="1494117"/>
          </a:xfrm>
        </p:spPr>
        <p:txBody>
          <a:bodyPr anchor="b">
            <a:normAutofit/>
          </a:bodyPr>
          <a:lstStyle/>
          <a:p>
            <a:pPr algn="l"/>
            <a:endParaRPr lang="en-US" sz="2000">
              <a:solidFill>
                <a:srgbClr val="FFFFFF"/>
              </a:solidFill>
            </a:endParaRPr>
          </a:p>
        </p:txBody>
      </p:sp>
      <p:pic>
        <p:nvPicPr>
          <p:cNvPr id="5" name="Picture 4">
            <a:extLst>
              <a:ext uri="{FF2B5EF4-FFF2-40B4-BE49-F238E27FC236}">
                <a16:creationId xmlns:a16="http://schemas.microsoft.com/office/drawing/2014/main" id="{389B2645-F115-7204-8A61-26EE0B28DC15}"/>
              </a:ext>
            </a:extLst>
          </p:cNvPr>
          <p:cNvPicPr>
            <a:picLocks noChangeAspect="1"/>
          </p:cNvPicPr>
          <p:nvPr/>
        </p:nvPicPr>
        <p:blipFill>
          <a:blip r:embed="rId3"/>
          <a:stretch>
            <a:fillRect/>
          </a:stretch>
        </p:blipFill>
        <p:spPr>
          <a:xfrm>
            <a:off x="5156965" y="-18881"/>
            <a:ext cx="5569650" cy="6894700"/>
          </a:xfrm>
          <a:prstGeom prst="rect">
            <a:avLst/>
          </a:prstGeom>
        </p:spPr>
      </p:pic>
    </p:spTree>
    <p:extLst>
      <p:ext uri="{BB962C8B-B14F-4D97-AF65-F5344CB8AC3E}">
        <p14:creationId xmlns:p14="http://schemas.microsoft.com/office/powerpoint/2010/main" val="246795048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4B23413-D518-1B48-2CDF-8A36B25F17CC}"/>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91E5A9A7-95C6-4F4F-B00E-C82E07FE6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Rectangle 13">
            <a:extLst>
              <a:ext uri="{FF2B5EF4-FFF2-40B4-BE49-F238E27FC236}">
                <a16:creationId xmlns:a16="http://schemas.microsoft.com/office/drawing/2014/main" id="{D07DD2DE-F619-49DD-B5E7-03A290FF4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85149191-5F60-4A28-AAFF-039F96B0F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F8260ED5-17F7-4158-B241-D51DD4CF1B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EE2D57C3-60FB-8AE0-E2DB-40F6A6914AEF}"/>
              </a:ext>
            </a:extLst>
          </p:cNvPr>
          <p:cNvSpPr>
            <a:spLocks noGrp="1"/>
          </p:cNvSpPr>
          <p:nvPr>
            <p:ph type="ctrTitle"/>
          </p:nvPr>
        </p:nvSpPr>
        <p:spPr>
          <a:xfrm>
            <a:off x="660041" y="2767106"/>
            <a:ext cx="2880828" cy="3071906"/>
          </a:xfrm>
        </p:spPr>
        <p:txBody>
          <a:bodyPr anchor="t">
            <a:normAutofit/>
          </a:bodyPr>
          <a:lstStyle/>
          <a:p>
            <a:pPr algn="l"/>
            <a:r>
              <a:rPr lang="en-US" sz="4000" dirty="0">
                <a:solidFill>
                  <a:srgbClr val="FFFFFF"/>
                </a:solidFill>
              </a:rPr>
              <a:t>Leaver Workflow</a:t>
            </a:r>
            <a:br>
              <a:rPr lang="en-US" sz="4000" dirty="0">
                <a:solidFill>
                  <a:srgbClr val="FFFFFF"/>
                </a:solidFill>
              </a:rPr>
            </a:br>
            <a:br>
              <a:rPr lang="en-US" sz="4000" dirty="0">
                <a:solidFill>
                  <a:srgbClr val="FFFFFF"/>
                </a:solidFill>
              </a:rPr>
            </a:br>
            <a:r>
              <a:rPr lang="en-US" sz="4000" dirty="0" err="1">
                <a:solidFill>
                  <a:srgbClr val="FFFFFF"/>
                </a:solidFill>
              </a:rPr>
              <a:t>Départ</a:t>
            </a:r>
            <a:r>
              <a:rPr lang="en-US" sz="4000" dirty="0">
                <a:solidFill>
                  <a:srgbClr val="FFFFFF"/>
                </a:solidFill>
              </a:rPr>
              <a:t> des </a:t>
            </a:r>
            <a:r>
              <a:rPr lang="en-US" sz="4000" dirty="0" err="1">
                <a:solidFill>
                  <a:srgbClr val="FFFFFF"/>
                </a:solidFill>
              </a:rPr>
              <a:t>employés</a:t>
            </a:r>
            <a:endParaRPr lang="en-US" sz="4000" dirty="0">
              <a:solidFill>
                <a:srgbClr val="FFFFFF"/>
              </a:solidFill>
            </a:endParaRPr>
          </a:p>
        </p:txBody>
      </p:sp>
      <p:sp>
        <p:nvSpPr>
          <p:cNvPr id="3" name="Subtitle 2">
            <a:extLst>
              <a:ext uri="{FF2B5EF4-FFF2-40B4-BE49-F238E27FC236}">
                <a16:creationId xmlns:a16="http://schemas.microsoft.com/office/drawing/2014/main" id="{81CC693F-9D23-90AA-0F89-63EB20C505AC}"/>
              </a:ext>
            </a:extLst>
          </p:cNvPr>
          <p:cNvSpPr>
            <a:spLocks noGrp="1"/>
          </p:cNvSpPr>
          <p:nvPr>
            <p:ph type="subTitle" idx="1"/>
          </p:nvPr>
        </p:nvSpPr>
        <p:spPr>
          <a:xfrm>
            <a:off x="660042" y="806824"/>
            <a:ext cx="2919738" cy="1494117"/>
          </a:xfrm>
        </p:spPr>
        <p:txBody>
          <a:bodyPr anchor="b">
            <a:normAutofit/>
          </a:bodyPr>
          <a:lstStyle/>
          <a:p>
            <a:pPr algn="l"/>
            <a:endParaRPr lang="en-US" sz="2000">
              <a:solidFill>
                <a:srgbClr val="FFFFFF"/>
              </a:solidFill>
            </a:endParaRPr>
          </a:p>
        </p:txBody>
      </p:sp>
      <p:pic>
        <p:nvPicPr>
          <p:cNvPr id="5" name="Picture 4">
            <a:extLst>
              <a:ext uri="{FF2B5EF4-FFF2-40B4-BE49-F238E27FC236}">
                <a16:creationId xmlns:a16="http://schemas.microsoft.com/office/drawing/2014/main" id="{03B9D63C-08E3-D2CC-4E9A-E5028718A87E}"/>
              </a:ext>
            </a:extLst>
          </p:cNvPr>
          <p:cNvPicPr>
            <a:picLocks noChangeAspect="1"/>
          </p:cNvPicPr>
          <p:nvPr/>
        </p:nvPicPr>
        <p:blipFill>
          <a:blip r:embed="rId3"/>
          <a:stretch>
            <a:fillRect/>
          </a:stretch>
        </p:blipFill>
        <p:spPr>
          <a:xfrm>
            <a:off x="5953760" y="91440"/>
            <a:ext cx="4368800" cy="6583680"/>
          </a:xfrm>
          <a:prstGeom prst="rect">
            <a:avLst/>
          </a:prstGeom>
        </p:spPr>
      </p:pic>
    </p:spTree>
    <p:extLst>
      <p:ext uri="{BB962C8B-B14F-4D97-AF65-F5344CB8AC3E}">
        <p14:creationId xmlns:p14="http://schemas.microsoft.com/office/powerpoint/2010/main" val="287025700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6342E6F-447A-B870-8447-8EAA06EC5F28}"/>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8A94871E-96FC-4ADE-815B-41A636E34F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EF78AAB-EAAE-0BB9-8B22-86F99FC0694B}"/>
              </a:ext>
            </a:extLst>
          </p:cNvPr>
          <p:cNvSpPr>
            <a:spLocks noGrp="1"/>
          </p:cNvSpPr>
          <p:nvPr>
            <p:ph type="ctrTitle"/>
          </p:nvPr>
        </p:nvSpPr>
        <p:spPr>
          <a:xfrm>
            <a:off x="640080" y="320040"/>
            <a:ext cx="6692827" cy="3892669"/>
          </a:xfrm>
        </p:spPr>
        <p:txBody>
          <a:bodyPr>
            <a:normAutofit/>
          </a:bodyPr>
          <a:lstStyle/>
          <a:p>
            <a:pPr algn="l"/>
            <a:r>
              <a:rPr lang="en-US" sz="6600"/>
              <a:t>Contrôle d’Accès Basé sur les Rôles (RBAC)</a:t>
            </a:r>
          </a:p>
        </p:txBody>
      </p:sp>
      <p:sp>
        <p:nvSpPr>
          <p:cNvPr id="3" name="Subtitle 2">
            <a:extLst>
              <a:ext uri="{FF2B5EF4-FFF2-40B4-BE49-F238E27FC236}">
                <a16:creationId xmlns:a16="http://schemas.microsoft.com/office/drawing/2014/main" id="{7CCD6606-A33B-614D-954B-36C549363296}"/>
              </a:ext>
            </a:extLst>
          </p:cNvPr>
          <p:cNvSpPr>
            <a:spLocks noGrp="1"/>
          </p:cNvSpPr>
          <p:nvPr>
            <p:ph type="subTitle" idx="1"/>
          </p:nvPr>
        </p:nvSpPr>
        <p:spPr>
          <a:xfrm>
            <a:off x="640080" y="4532750"/>
            <a:ext cx="6692827" cy="2005210"/>
          </a:xfrm>
        </p:spPr>
        <p:txBody>
          <a:bodyPr>
            <a:normAutofit fontScale="70000" lnSpcReduction="20000"/>
          </a:bodyPr>
          <a:lstStyle/>
          <a:p>
            <a:pPr algn="l"/>
            <a:r>
              <a:rPr lang="fr-FR" dirty="0"/>
              <a:t>Les accès sont attribués automatiquement selon les responsabilités du poste.</a:t>
            </a:r>
          </a:p>
          <a:p>
            <a:pPr algn="l"/>
            <a:endParaRPr lang="fr-FR" dirty="0"/>
          </a:p>
          <a:p>
            <a:pPr algn="l"/>
            <a:r>
              <a:rPr lang="fr-FR" dirty="0"/>
              <a:t>Principe du moindre privilège</a:t>
            </a:r>
          </a:p>
          <a:p>
            <a:pPr algn="l"/>
            <a:endParaRPr lang="fr-FR" dirty="0"/>
          </a:p>
          <a:p>
            <a:pPr algn="l"/>
            <a:r>
              <a:rPr lang="fr-FR" dirty="0"/>
              <a:t>Chaque employé reçoit uniquement les accès nécessaires à l'exercice de ses fonctions.</a:t>
            </a:r>
            <a:endParaRPr lang="en-US" dirty="0"/>
          </a:p>
        </p:txBody>
      </p:sp>
      <p:sp>
        <p:nvSpPr>
          <p:cNvPr id="11"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14562" y="4409267"/>
            <a:ext cx="4243589" cy="18288"/>
          </a:xfrm>
          <a:custGeom>
            <a:avLst/>
            <a:gdLst>
              <a:gd name="csX0" fmla="*/ 0 w 4243589"/>
              <a:gd name="csY0" fmla="*/ 0 h 18288"/>
              <a:gd name="csX1" fmla="*/ 563791 w 4243589"/>
              <a:gd name="csY1" fmla="*/ 0 h 18288"/>
              <a:gd name="csX2" fmla="*/ 1042710 w 4243589"/>
              <a:gd name="csY2" fmla="*/ 0 h 18288"/>
              <a:gd name="csX3" fmla="*/ 1564066 w 4243589"/>
              <a:gd name="csY3" fmla="*/ 0 h 18288"/>
              <a:gd name="csX4" fmla="*/ 2212729 w 4243589"/>
              <a:gd name="csY4" fmla="*/ 0 h 18288"/>
              <a:gd name="csX5" fmla="*/ 2776520 w 4243589"/>
              <a:gd name="csY5" fmla="*/ 0 h 18288"/>
              <a:gd name="csX6" fmla="*/ 3297875 w 4243589"/>
              <a:gd name="csY6" fmla="*/ 0 h 18288"/>
              <a:gd name="csX7" fmla="*/ 4243589 w 4243589"/>
              <a:gd name="csY7" fmla="*/ 0 h 18288"/>
              <a:gd name="csX8" fmla="*/ 4243589 w 4243589"/>
              <a:gd name="csY8" fmla="*/ 18288 h 18288"/>
              <a:gd name="csX9" fmla="*/ 3637362 w 4243589"/>
              <a:gd name="csY9" fmla="*/ 18288 h 18288"/>
              <a:gd name="csX10" fmla="*/ 3116007 w 4243589"/>
              <a:gd name="csY10" fmla="*/ 18288 h 18288"/>
              <a:gd name="csX11" fmla="*/ 2424908 w 4243589"/>
              <a:gd name="csY11" fmla="*/ 18288 h 18288"/>
              <a:gd name="csX12" fmla="*/ 1861117 w 4243589"/>
              <a:gd name="csY12" fmla="*/ 18288 h 18288"/>
              <a:gd name="csX13" fmla="*/ 1382198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157351" y="-15653"/>
                  <a:pt x="378877" y="-5828"/>
                  <a:pt x="563791" y="0"/>
                </a:cubicBezTo>
                <a:cubicBezTo>
                  <a:pt x="748705" y="5828"/>
                  <a:pt x="905659" y="-5525"/>
                  <a:pt x="1042710" y="0"/>
                </a:cubicBezTo>
                <a:cubicBezTo>
                  <a:pt x="1179761" y="5525"/>
                  <a:pt x="1356845" y="-21288"/>
                  <a:pt x="1564066" y="0"/>
                </a:cubicBezTo>
                <a:cubicBezTo>
                  <a:pt x="1771287" y="21288"/>
                  <a:pt x="1912099" y="25135"/>
                  <a:pt x="2212729" y="0"/>
                </a:cubicBezTo>
                <a:cubicBezTo>
                  <a:pt x="2513359" y="-25135"/>
                  <a:pt x="2514918" y="-27119"/>
                  <a:pt x="2776520" y="0"/>
                </a:cubicBezTo>
                <a:cubicBezTo>
                  <a:pt x="3038122" y="27119"/>
                  <a:pt x="3178771" y="18116"/>
                  <a:pt x="3297875" y="0"/>
                </a:cubicBezTo>
                <a:cubicBezTo>
                  <a:pt x="3416980" y="-18116"/>
                  <a:pt x="4012240" y="-40869"/>
                  <a:pt x="4243589" y="0"/>
                </a:cubicBezTo>
                <a:cubicBezTo>
                  <a:pt x="4243987" y="7429"/>
                  <a:pt x="4243569" y="10822"/>
                  <a:pt x="4243589" y="18288"/>
                </a:cubicBezTo>
                <a:cubicBezTo>
                  <a:pt x="4112949" y="-2855"/>
                  <a:pt x="3928037" y="1831"/>
                  <a:pt x="3637362" y="18288"/>
                </a:cubicBezTo>
                <a:cubicBezTo>
                  <a:pt x="3346687" y="34745"/>
                  <a:pt x="3254446" y="26669"/>
                  <a:pt x="3116007" y="18288"/>
                </a:cubicBezTo>
                <a:cubicBezTo>
                  <a:pt x="2977569" y="9907"/>
                  <a:pt x="2620228" y="28873"/>
                  <a:pt x="2424908" y="18288"/>
                </a:cubicBezTo>
                <a:cubicBezTo>
                  <a:pt x="2229588" y="7703"/>
                  <a:pt x="2088287" y="-3854"/>
                  <a:pt x="1861117" y="18288"/>
                </a:cubicBezTo>
                <a:cubicBezTo>
                  <a:pt x="1633947" y="40430"/>
                  <a:pt x="1502447" y="-871"/>
                  <a:pt x="1382198" y="18288"/>
                </a:cubicBezTo>
                <a:cubicBezTo>
                  <a:pt x="1261949" y="37447"/>
                  <a:pt x="1045440" y="28353"/>
                  <a:pt x="733535" y="18288"/>
                </a:cubicBezTo>
                <a:cubicBezTo>
                  <a:pt x="421630" y="8223"/>
                  <a:pt x="341257" y="-18359"/>
                  <a:pt x="0" y="18288"/>
                </a:cubicBezTo>
                <a:cubicBezTo>
                  <a:pt x="-591" y="13205"/>
                  <a:pt x="-663" y="6329"/>
                  <a:pt x="0" y="0"/>
                </a:cubicBezTo>
                <a:close/>
              </a:path>
              <a:path w="4243589" h="18288" stroke="0" extrusionOk="0">
                <a:moveTo>
                  <a:pt x="0" y="0"/>
                </a:moveTo>
                <a:cubicBezTo>
                  <a:pt x="128164" y="17204"/>
                  <a:pt x="312653" y="1129"/>
                  <a:pt x="563791" y="0"/>
                </a:cubicBezTo>
                <a:cubicBezTo>
                  <a:pt x="814929" y="-1129"/>
                  <a:pt x="837271" y="8503"/>
                  <a:pt x="1042710" y="0"/>
                </a:cubicBezTo>
                <a:cubicBezTo>
                  <a:pt x="1248149" y="-8503"/>
                  <a:pt x="1588432" y="-28862"/>
                  <a:pt x="1733809" y="0"/>
                </a:cubicBezTo>
                <a:cubicBezTo>
                  <a:pt x="1879186" y="28862"/>
                  <a:pt x="2052815" y="5974"/>
                  <a:pt x="2297600" y="0"/>
                </a:cubicBezTo>
                <a:cubicBezTo>
                  <a:pt x="2542385" y="-5974"/>
                  <a:pt x="2699960" y="-23550"/>
                  <a:pt x="2861391" y="0"/>
                </a:cubicBezTo>
                <a:cubicBezTo>
                  <a:pt x="3022822" y="23550"/>
                  <a:pt x="3390411" y="25272"/>
                  <a:pt x="3552490" y="0"/>
                </a:cubicBezTo>
                <a:cubicBezTo>
                  <a:pt x="3714569" y="-25272"/>
                  <a:pt x="3950585" y="-31327"/>
                  <a:pt x="4243589" y="0"/>
                </a:cubicBezTo>
                <a:cubicBezTo>
                  <a:pt x="4242703" y="5429"/>
                  <a:pt x="4244410" y="14046"/>
                  <a:pt x="4243589" y="18288"/>
                </a:cubicBezTo>
                <a:cubicBezTo>
                  <a:pt x="4130424" y="-1240"/>
                  <a:pt x="3932803" y="42249"/>
                  <a:pt x="3722234" y="18288"/>
                </a:cubicBezTo>
                <a:cubicBezTo>
                  <a:pt x="3511665" y="-5673"/>
                  <a:pt x="3269903" y="45994"/>
                  <a:pt x="3116007" y="18288"/>
                </a:cubicBezTo>
                <a:cubicBezTo>
                  <a:pt x="2962111" y="-9418"/>
                  <a:pt x="2744280" y="23224"/>
                  <a:pt x="2509780" y="18288"/>
                </a:cubicBezTo>
                <a:cubicBezTo>
                  <a:pt x="2275280" y="13352"/>
                  <a:pt x="2066059" y="43664"/>
                  <a:pt x="1945989" y="18288"/>
                </a:cubicBezTo>
                <a:cubicBezTo>
                  <a:pt x="1825919" y="-7088"/>
                  <a:pt x="1407329" y="12616"/>
                  <a:pt x="1254890" y="18288"/>
                </a:cubicBezTo>
                <a:cubicBezTo>
                  <a:pt x="1102451" y="23960"/>
                  <a:pt x="837950" y="31673"/>
                  <a:pt x="563791" y="18288"/>
                </a:cubicBezTo>
                <a:cubicBezTo>
                  <a:pt x="289632" y="4903"/>
                  <a:pt x="132768" y="7105"/>
                  <a:pt x="0" y="18288"/>
                </a:cubicBezTo>
                <a:cubicBezTo>
                  <a:pt x="668" y="13665"/>
                  <a:pt x="578" y="5675"/>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4" name="Table 3">
            <a:extLst>
              <a:ext uri="{FF2B5EF4-FFF2-40B4-BE49-F238E27FC236}">
                <a16:creationId xmlns:a16="http://schemas.microsoft.com/office/drawing/2014/main" id="{CFC62470-5539-2F14-D8B2-CF2BC4C0094C}"/>
              </a:ext>
            </a:extLst>
          </p:cNvPr>
          <p:cNvGraphicFramePr>
            <a:graphicFrameLocks noGrp="1"/>
          </p:cNvGraphicFramePr>
          <p:nvPr>
            <p:extLst>
              <p:ext uri="{D42A27DB-BD31-4B8C-83A1-F6EECF244321}">
                <p14:modId xmlns:p14="http://schemas.microsoft.com/office/powerpoint/2010/main" val="3194775741"/>
              </p:ext>
            </p:extLst>
          </p:nvPr>
        </p:nvGraphicFramePr>
        <p:xfrm>
          <a:off x="7781544" y="1550456"/>
          <a:ext cx="4087369" cy="3520618"/>
        </p:xfrm>
        <a:graphic>
          <a:graphicData uri="http://schemas.openxmlformats.org/drawingml/2006/table">
            <a:tbl>
              <a:tblPr>
                <a:solidFill>
                  <a:schemeClr val="bg1"/>
                </a:solidFill>
              </a:tblPr>
              <a:tblGrid>
                <a:gridCol w="1375515">
                  <a:extLst>
                    <a:ext uri="{9D8B030D-6E8A-4147-A177-3AD203B41FA5}">
                      <a16:colId xmlns:a16="http://schemas.microsoft.com/office/drawing/2014/main" val="2595530736"/>
                    </a:ext>
                  </a:extLst>
                </a:gridCol>
                <a:gridCol w="2711854">
                  <a:extLst>
                    <a:ext uri="{9D8B030D-6E8A-4147-A177-3AD203B41FA5}">
                      <a16:colId xmlns:a16="http://schemas.microsoft.com/office/drawing/2014/main" val="1755134806"/>
                    </a:ext>
                  </a:extLst>
                </a:gridCol>
              </a:tblGrid>
              <a:tr h="415913">
                <a:tc>
                  <a:txBody>
                    <a:bodyPr/>
                    <a:lstStyle/>
                    <a:p>
                      <a:pPr>
                        <a:buNone/>
                      </a:pPr>
                      <a:r>
                        <a:rPr lang="en-US" sz="1300" cap="none" spc="0">
                          <a:solidFill>
                            <a:schemeClr val="tx1"/>
                          </a:solidFill>
                        </a:rPr>
                        <a:t>Rôle</a:t>
                      </a:r>
                    </a:p>
                  </a:txBody>
                  <a:tcPr marL="114230" marR="87869" marT="87869" marB="87869" anchor="ctr">
                    <a:lnL w="19050" cap="flat" cmpd="sng" algn="ctr">
                      <a:solidFill>
                        <a:schemeClr val="tx1"/>
                      </a:solidFill>
                      <a:prstDash val="solid"/>
                    </a:lnL>
                    <a:lnR w="6350" cap="flat" cmpd="sng" algn="ctr">
                      <a:solidFill>
                        <a:schemeClr val="tx1">
                          <a:lumMod val="50000"/>
                          <a:lumOff val="50000"/>
                        </a:schemeClr>
                      </a:solidFill>
                      <a:prstDash val="solid"/>
                    </a:lnR>
                    <a:lnT w="19050" cap="flat" cmpd="sng" algn="ctr">
                      <a:solidFill>
                        <a:schemeClr val="tx1"/>
                      </a:solidFill>
                      <a:prstDash val="solid"/>
                    </a:lnT>
                    <a:lnB w="19050" cap="flat" cmpd="sng" algn="ctr">
                      <a:solidFill>
                        <a:schemeClr val="tx1"/>
                      </a:solidFill>
                      <a:prstDash val="solid"/>
                    </a:lnB>
                    <a:noFill/>
                  </a:tcPr>
                </a:tc>
                <a:tc>
                  <a:txBody>
                    <a:bodyPr/>
                    <a:lstStyle/>
                    <a:p>
                      <a:pPr>
                        <a:buNone/>
                      </a:pPr>
                      <a:r>
                        <a:rPr lang="en-US" sz="1300" cap="none" spc="0">
                          <a:solidFill>
                            <a:schemeClr val="tx1"/>
                          </a:solidFill>
                        </a:rPr>
                        <a:t>Groupes attribués</a:t>
                      </a:r>
                    </a:p>
                  </a:txBody>
                  <a:tcPr marL="114230" marR="87869" marT="87869" marB="87869" anchor="ctr">
                    <a:lnL w="6350" cap="flat" cmpd="sng" algn="ctr">
                      <a:solidFill>
                        <a:schemeClr val="tx1">
                          <a:lumMod val="50000"/>
                          <a:lumOff val="50000"/>
                        </a:schemeClr>
                      </a:solidFill>
                      <a:prstDash val="solid"/>
                    </a:lnL>
                    <a:lnR w="19050" cap="flat" cmpd="sng" algn="ctr">
                      <a:solidFill>
                        <a:schemeClr val="tx1"/>
                      </a:solidFill>
                      <a:prstDash val="solid"/>
                    </a:lnR>
                    <a:lnT w="19050" cap="flat" cmpd="sng" algn="ctr">
                      <a:solidFill>
                        <a:schemeClr val="tx1"/>
                      </a:solidFill>
                      <a:prstDash val="solid"/>
                    </a:lnT>
                    <a:lnB w="19050" cap="flat" cmpd="sng" algn="ctr">
                      <a:solidFill>
                        <a:schemeClr val="tx1"/>
                      </a:solidFill>
                      <a:prstDash val="solid"/>
                    </a:lnB>
                    <a:noFill/>
                  </a:tcPr>
                </a:tc>
                <a:extLst>
                  <a:ext uri="{0D108BD9-81ED-4DB2-BD59-A6C34878D82A}">
                    <a16:rowId xmlns:a16="http://schemas.microsoft.com/office/drawing/2014/main" val="4122563176"/>
                  </a:ext>
                </a:extLst>
              </a:tr>
              <a:tr h="620941">
                <a:tc>
                  <a:txBody>
                    <a:bodyPr/>
                    <a:lstStyle/>
                    <a:p>
                      <a:pPr>
                        <a:buNone/>
                      </a:pPr>
                      <a:r>
                        <a:rPr lang="en-US" sz="1300" cap="none" spc="0">
                          <a:solidFill>
                            <a:schemeClr val="tx1"/>
                          </a:solidFill>
                        </a:rPr>
                        <a:t>Infirmier(ère)</a:t>
                      </a:r>
                    </a:p>
                  </a:txBody>
                  <a:tcPr marL="114230" marR="87869" marT="87869" marB="87869" anchor="ctr">
                    <a:lnL w="19050" cap="flat" cmpd="sng" algn="ctr">
                      <a:solidFill>
                        <a:schemeClr val="tx1"/>
                      </a:solidFill>
                      <a:prstDash val="solid"/>
                    </a:lnL>
                    <a:lnR w="6350" cap="flat" cmpd="sng" algn="ctr">
                      <a:solidFill>
                        <a:schemeClr val="tx1">
                          <a:lumMod val="50000"/>
                          <a:lumOff val="50000"/>
                        </a:schemeClr>
                      </a:solidFill>
                      <a:prstDash val="solid"/>
                    </a:lnR>
                    <a:lnT w="19050" cap="flat" cmpd="sng" algn="ctr">
                      <a:solidFill>
                        <a:schemeClr val="tx1"/>
                      </a:solidFill>
                      <a:prstDash val="solid"/>
                    </a:lnT>
                    <a:lnB w="19050" cap="flat" cmpd="sng" algn="ctr">
                      <a:solidFill>
                        <a:schemeClr val="tx1"/>
                      </a:solidFill>
                      <a:prstDash val="solid"/>
                    </a:lnB>
                    <a:noFill/>
                  </a:tcPr>
                </a:tc>
                <a:tc>
                  <a:txBody>
                    <a:bodyPr/>
                    <a:lstStyle/>
                    <a:p>
                      <a:pPr>
                        <a:buNone/>
                      </a:pPr>
                      <a:r>
                        <a:rPr lang="en-US" sz="1300" cap="none" spc="0">
                          <a:solidFill>
                            <a:schemeClr val="tx1"/>
                          </a:solidFill>
                        </a:rPr>
                        <a:t>GRP_NURSES, GRP_PATIENT_PORTAL</a:t>
                      </a:r>
                    </a:p>
                  </a:txBody>
                  <a:tcPr marL="114230" marR="87869" marT="87869" marB="87869" anchor="ctr">
                    <a:lnL w="6350" cap="flat" cmpd="sng" algn="ctr">
                      <a:solidFill>
                        <a:schemeClr val="tx1">
                          <a:lumMod val="50000"/>
                          <a:lumOff val="50000"/>
                        </a:schemeClr>
                      </a:solidFill>
                      <a:prstDash val="solid"/>
                    </a:lnL>
                    <a:lnR w="19050" cap="flat" cmpd="sng" algn="ctr">
                      <a:solidFill>
                        <a:schemeClr val="tx1"/>
                      </a:solidFill>
                      <a:prstDash val="solid"/>
                    </a:lnR>
                    <a:lnT w="19050" cap="flat" cmpd="sng" algn="ctr">
                      <a:solidFill>
                        <a:schemeClr val="tx1"/>
                      </a:solidFill>
                      <a:prstDash val="solid"/>
                    </a:lnT>
                    <a:lnB w="19050" cap="flat" cmpd="sng" algn="ctr">
                      <a:solidFill>
                        <a:schemeClr val="tx1"/>
                      </a:solidFill>
                      <a:prstDash val="solid"/>
                    </a:lnB>
                    <a:noFill/>
                  </a:tcPr>
                </a:tc>
                <a:extLst>
                  <a:ext uri="{0D108BD9-81ED-4DB2-BD59-A6C34878D82A}">
                    <a16:rowId xmlns:a16="http://schemas.microsoft.com/office/drawing/2014/main" val="2626155050"/>
                  </a:ext>
                </a:extLst>
              </a:tr>
              <a:tr h="620941">
                <a:tc>
                  <a:txBody>
                    <a:bodyPr/>
                    <a:lstStyle/>
                    <a:p>
                      <a:pPr>
                        <a:buNone/>
                      </a:pPr>
                      <a:r>
                        <a:rPr lang="en-US" sz="1300" cap="none" spc="0">
                          <a:solidFill>
                            <a:schemeClr val="tx1"/>
                          </a:solidFill>
                        </a:rPr>
                        <a:t>Chef infirmier</a:t>
                      </a:r>
                    </a:p>
                  </a:txBody>
                  <a:tcPr marL="114230" marR="87869" marT="87869" marB="87869" anchor="ctr">
                    <a:lnL w="19050" cap="flat" cmpd="sng" algn="ctr">
                      <a:solidFill>
                        <a:schemeClr val="tx1"/>
                      </a:solidFill>
                      <a:prstDash val="solid"/>
                    </a:lnL>
                    <a:lnR w="6350" cap="flat" cmpd="sng" algn="ctr">
                      <a:solidFill>
                        <a:schemeClr val="tx1">
                          <a:lumMod val="50000"/>
                          <a:lumOff val="50000"/>
                        </a:schemeClr>
                      </a:solidFill>
                      <a:prstDash val="solid"/>
                    </a:lnR>
                    <a:lnT w="19050" cap="flat" cmpd="sng" algn="ctr">
                      <a:solidFill>
                        <a:schemeClr val="tx1"/>
                      </a:solidFill>
                      <a:prstDash val="solid"/>
                    </a:lnT>
                    <a:lnB w="19050" cap="flat" cmpd="sng" algn="ctr">
                      <a:solidFill>
                        <a:schemeClr val="tx1"/>
                      </a:solidFill>
                      <a:prstDash val="solid"/>
                    </a:lnB>
                    <a:noFill/>
                  </a:tcPr>
                </a:tc>
                <a:tc>
                  <a:txBody>
                    <a:bodyPr/>
                    <a:lstStyle/>
                    <a:p>
                      <a:pPr>
                        <a:buNone/>
                      </a:pPr>
                      <a:r>
                        <a:rPr lang="en-US" sz="1300" cap="none" spc="0">
                          <a:solidFill>
                            <a:schemeClr val="tx1"/>
                          </a:solidFill>
                        </a:rPr>
                        <a:t>GRP_NURSES, GRP_NURSE_SUPERVISORS</a:t>
                      </a:r>
                    </a:p>
                  </a:txBody>
                  <a:tcPr marL="114230" marR="87869" marT="87869" marB="87869" anchor="ctr">
                    <a:lnL w="6350" cap="flat" cmpd="sng" algn="ctr">
                      <a:solidFill>
                        <a:schemeClr val="tx1">
                          <a:lumMod val="50000"/>
                          <a:lumOff val="50000"/>
                        </a:schemeClr>
                      </a:solidFill>
                      <a:prstDash val="solid"/>
                    </a:lnL>
                    <a:lnR w="19050" cap="flat" cmpd="sng" algn="ctr">
                      <a:solidFill>
                        <a:schemeClr val="tx1"/>
                      </a:solidFill>
                      <a:prstDash val="solid"/>
                    </a:lnR>
                    <a:lnT w="19050" cap="flat" cmpd="sng" algn="ctr">
                      <a:solidFill>
                        <a:schemeClr val="tx1"/>
                      </a:solidFill>
                      <a:prstDash val="solid"/>
                    </a:lnT>
                    <a:lnB w="19050" cap="flat" cmpd="sng" algn="ctr">
                      <a:solidFill>
                        <a:schemeClr val="tx1"/>
                      </a:solidFill>
                      <a:prstDash val="solid"/>
                    </a:lnB>
                    <a:noFill/>
                  </a:tcPr>
                </a:tc>
                <a:extLst>
                  <a:ext uri="{0D108BD9-81ED-4DB2-BD59-A6C34878D82A}">
                    <a16:rowId xmlns:a16="http://schemas.microsoft.com/office/drawing/2014/main" val="3404220927"/>
                  </a:ext>
                </a:extLst>
              </a:tr>
              <a:tr h="620941">
                <a:tc>
                  <a:txBody>
                    <a:bodyPr/>
                    <a:lstStyle/>
                    <a:p>
                      <a:pPr>
                        <a:buNone/>
                      </a:pPr>
                      <a:r>
                        <a:rPr lang="en-US" sz="1300" cap="none" spc="0">
                          <a:solidFill>
                            <a:schemeClr val="tx1"/>
                          </a:solidFill>
                        </a:rPr>
                        <a:t>Analyste IAM</a:t>
                      </a:r>
                    </a:p>
                  </a:txBody>
                  <a:tcPr marL="114230" marR="87869" marT="87869" marB="87869" anchor="ctr">
                    <a:lnL w="19050" cap="flat" cmpd="sng" algn="ctr">
                      <a:solidFill>
                        <a:schemeClr val="tx1"/>
                      </a:solidFill>
                      <a:prstDash val="solid"/>
                    </a:lnL>
                    <a:lnR w="6350" cap="flat" cmpd="sng" algn="ctr">
                      <a:solidFill>
                        <a:schemeClr val="tx1">
                          <a:lumMod val="50000"/>
                          <a:lumOff val="50000"/>
                        </a:schemeClr>
                      </a:solidFill>
                      <a:prstDash val="solid"/>
                    </a:lnR>
                    <a:lnT w="19050" cap="flat" cmpd="sng" algn="ctr">
                      <a:solidFill>
                        <a:schemeClr val="tx1"/>
                      </a:solidFill>
                      <a:prstDash val="solid"/>
                    </a:lnT>
                    <a:lnB w="19050" cap="flat" cmpd="sng" algn="ctr">
                      <a:solidFill>
                        <a:schemeClr val="tx1"/>
                      </a:solidFill>
                      <a:prstDash val="solid"/>
                    </a:lnB>
                    <a:noFill/>
                  </a:tcPr>
                </a:tc>
                <a:tc>
                  <a:txBody>
                    <a:bodyPr/>
                    <a:lstStyle/>
                    <a:p>
                      <a:pPr>
                        <a:buNone/>
                      </a:pPr>
                      <a:r>
                        <a:rPr lang="en-US" sz="1300" cap="none" spc="0">
                          <a:solidFill>
                            <a:schemeClr val="tx1"/>
                          </a:solidFill>
                        </a:rPr>
                        <a:t>GRP_IT_IAM, GRP_ADMIN_TOOLS</a:t>
                      </a:r>
                    </a:p>
                  </a:txBody>
                  <a:tcPr marL="114230" marR="87869" marT="87869" marB="87869" anchor="ctr">
                    <a:lnL w="6350" cap="flat" cmpd="sng" algn="ctr">
                      <a:solidFill>
                        <a:schemeClr val="tx1">
                          <a:lumMod val="50000"/>
                          <a:lumOff val="50000"/>
                        </a:schemeClr>
                      </a:solidFill>
                      <a:prstDash val="solid"/>
                    </a:lnL>
                    <a:lnR w="19050" cap="flat" cmpd="sng" algn="ctr">
                      <a:solidFill>
                        <a:schemeClr val="tx1"/>
                      </a:solidFill>
                      <a:prstDash val="solid"/>
                    </a:lnR>
                    <a:lnT w="19050" cap="flat" cmpd="sng" algn="ctr">
                      <a:solidFill>
                        <a:schemeClr val="tx1"/>
                      </a:solidFill>
                      <a:prstDash val="solid"/>
                    </a:lnT>
                    <a:lnB w="19050" cap="flat" cmpd="sng" algn="ctr">
                      <a:solidFill>
                        <a:schemeClr val="tx1"/>
                      </a:solidFill>
                      <a:prstDash val="solid"/>
                    </a:lnB>
                    <a:noFill/>
                  </a:tcPr>
                </a:tc>
                <a:extLst>
                  <a:ext uri="{0D108BD9-81ED-4DB2-BD59-A6C34878D82A}">
                    <a16:rowId xmlns:a16="http://schemas.microsoft.com/office/drawing/2014/main" val="1063993586"/>
                  </a:ext>
                </a:extLst>
              </a:tr>
              <a:tr h="620941">
                <a:tc>
                  <a:txBody>
                    <a:bodyPr/>
                    <a:lstStyle/>
                    <a:p>
                      <a:pPr>
                        <a:buNone/>
                      </a:pPr>
                      <a:r>
                        <a:rPr lang="en-US" sz="1300" cap="none" spc="0">
                          <a:solidFill>
                            <a:schemeClr val="tx1"/>
                          </a:solidFill>
                        </a:rPr>
                        <a:t>Technicien de laboratoire</a:t>
                      </a:r>
                    </a:p>
                  </a:txBody>
                  <a:tcPr marL="114230" marR="87869" marT="87869" marB="87869" anchor="ctr">
                    <a:lnL w="19050" cap="flat" cmpd="sng" algn="ctr">
                      <a:solidFill>
                        <a:schemeClr val="tx1"/>
                      </a:solidFill>
                      <a:prstDash val="solid"/>
                    </a:lnL>
                    <a:lnR w="6350" cap="flat" cmpd="sng" algn="ctr">
                      <a:solidFill>
                        <a:schemeClr val="tx1">
                          <a:lumMod val="50000"/>
                          <a:lumOff val="50000"/>
                        </a:schemeClr>
                      </a:solidFill>
                      <a:prstDash val="solid"/>
                    </a:lnR>
                    <a:lnT w="19050" cap="flat" cmpd="sng" algn="ctr">
                      <a:solidFill>
                        <a:schemeClr val="tx1"/>
                      </a:solidFill>
                      <a:prstDash val="solid"/>
                    </a:lnT>
                    <a:lnB w="19050" cap="flat" cmpd="sng" algn="ctr">
                      <a:solidFill>
                        <a:schemeClr val="tx1"/>
                      </a:solidFill>
                      <a:prstDash val="solid"/>
                    </a:lnB>
                    <a:noFill/>
                  </a:tcPr>
                </a:tc>
                <a:tc>
                  <a:txBody>
                    <a:bodyPr/>
                    <a:lstStyle/>
                    <a:p>
                      <a:pPr>
                        <a:buNone/>
                      </a:pPr>
                      <a:r>
                        <a:rPr lang="en-US" sz="1300" cap="none" spc="0">
                          <a:solidFill>
                            <a:schemeClr val="tx1"/>
                          </a:solidFill>
                        </a:rPr>
                        <a:t>GRP_LAB, GRP_LAB_SYSTEM</a:t>
                      </a:r>
                    </a:p>
                  </a:txBody>
                  <a:tcPr marL="114230" marR="87869" marT="87869" marB="87869" anchor="ctr">
                    <a:lnL w="6350" cap="flat" cmpd="sng" algn="ctr">
                      <a:solidFill>
                        <a:schemeClr val="tx1">
                          <a:lumMod val="50000"/>
                          <a:lumOff val="50000"/>
                        </a:schemeClr>
                      </a:solidFill>
                      <a:prstDash val="solid"/>
                    </a:lnL>
                    <a:lnR w="19050" cap="flat" cmpd="sng" algn="ctr">
                      <a:solidFill>
                        <a:schemeClr val="tx1"/>
                      </a:solidFill>
                      <a:prstDash val="solid"/>
                    </a:lnR>
                    <a:lnT w="19050" cap="flat" cmpd="sng" algn="ctr">
                      <a:solidFill>
                        <a:schemeClr val="tx1"/>
                      </a:solidFill>
                      <a:prstDash val="solid"/>
                    </a:lnT>
                    <a:lnB w="19050" cap="flat" cmpd="sng" algn="ctr">
                      <a:solidFill>
                        <a:schemeClr val="tx1"/>
                      </a:solidFill>
                      <a:prstDash val="solid"/>
                    </a:lnB>
                    <a:noFill/>
                  </a:tcPr>
                </a:tc>
                <a:extLst>
                  <a:ext uri="{0D108BD9-81ED-4DB2-BD59-A6C34878D82A}">
                    <a16:rowId xmlns:a16="http://schemas.microsoft.com/office/drawing/2014/main" val="3116536684"/>
                  </a:ext>
                </a:extLst>
              </a:tr>
              <a:tr h="620941">
                <a:tc>
                  <a:txBody>
                    <a:bodyPr/>
                    <a:lstStyle/>
                    <a:p>
                      <a:pPr>
                        <a:buNone/>
                      </a:pPr>
                      <a:r>
                        <a:rPr lang="en-US" sz="1300" cap="none" spc="0">
                          <a:solidFill>
                            <a:schemeClr val="tx1"/>
                          </a:solidFill>
                        </a:rPr>
                        <a:t>Comptable</a:t>
                      </a:r>
                    </a:p>
                  </a:txBody>
                  <a:tcPr marL="114230" marR="87869" marT="87869" marB="87869" anchor="ctr">
                    <a:lnL w="19050" cap="flat" cmpd="sng" algn="ctr">
                      <a:solidFill>
                        <a:schemeClr val="tx1"/>
                      </a:solidFill>
                      <a:prstDash val="solid"/>
                    </a:lnL>
                    <a:lnR w="6350" cap="flat" cmpd="sng" algn="ctr">
                      <a:solidFill>
                        <a:schemeClr val="tx1">
                          <a:lumMod val="50000"/>
                          <a:lumOff val="50000"/>
                        </a:schemeClr>
                      </a:solidFill>
                      <a:prstDash val="solid"/>
                    </a:lnR>
                    <a:lnT w="19050" cap="flat" cmpd="sng" algn="ctr">
                      <a:solidFill>
                        <a:schemeClr val="tx1"/>
                      </a:solidFill>
                      <a:prstDash val="solid"/>
                    </a:lnT>
                    <a:lnB w="19050" cap="flat" cmpd="sng" algn="ctr">
                      <a:solidFill>
                        <a:schemeClr val="tx1"/>
                      </a:solidFill>
                      <a:prstDash val="solid"/>
                    </a:lnB>
                    <a:noFill/>
                  </a:tcPr>
                </a:tc>
                <a:tc>
                  <a:txBody>
                    <a:bodyPr/>
                    <a:lstStyle/>
                    <a:p>
                      <a:pPr>
                        <a:buNone/>
                      </a:pPr>
                      <a:r>
                        <a:rPr lang="en-US" sz="1300" cap="none" spc="0">
                          <a:solidFill>
                            <a:schemeClr val="tx1"/>
                          </a:solidFill>
                        </a:rPr>
                        <a:t>GRP_FINANCE, GRP_FINANCE_SYSTEM</a:t>
                      </a:r>
                    </a:p>
                  </a:txBody>
                  <a:tcPr marL="114230" marR="87869" marT="87869" marB="87869" anchor="ctr">
                    <a:lnL w="6350" cap="flat" cmpd="sng" algn="ctr">
                      <a:solidFill>
                        <a:schemeClr val="tx1">
                          <a:lumMod val="50000"/>
                          <a:lumOff val="50000"/>
                        </a:schemeClr>
                      </a:solidFill>
                      <a:prstDash val="solid"/>
                    </a:lnL>
                    <a:lnR w="19050" cap="flat" cmpd="sng" algn="ctr">
                      <a:solidFill>
                        <a:schemeClr val="tx1"/>
                      </a:solidFill>
                      <a:prstDash val="solid"/>
                    </a:lnR>
                    <a:lnT w="19050" cap="flat" cmpd="sng" algn="ctr">
                      <a:solidFill>
                        <a:schemeClr val="tx1"/>
                      </a:solidFill>
                      <a:prstDash val="solid"/>
                    </a:lnT>
                    <a:lnB w="19050" cap="flat" cmpd="sng" algn="ctr">
                      <a:solidFill>
                        <a:schemeClr val="tx1"/>
                      </a:solidFill>
                      <a:prstDash val="solid"/>
                    </a:lnB>
                    <a:noFill/>
                  </a:tcPr>
                </a:tc>
                <a:extLst>
                  <a:ext uri="{0D108BD9-81ED-4DB2-BD59-A6C34878D82A}">
                    <a16:rowId xmlns:a16="http://schemas.microsoft.com/office/drawing/2014/main" val="1796771452"/>
                  </a:ext>
                </a:extLst>
              </a:tr>
            </a:tbl>
          </a:graphicData>
        </a:graphic>
      </p:graphicFrame>
    </p:spTree>
    <p:extLst>
      <p:ext uri="{BB962C8B-B14F-4D97-AF65-F5344CB8AC3E}">
        <p14:creationId xmlns:p14="http://schemas.microsoft.com/office/powerpoint/2010/main" val="254368346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52A8C76-0BC3-33FA-C909-914D24E5CC34}"/>
            </a:ext>
          </a:extLst>
        </p:cNvPr>
        <p:cNvGrpSpPr/>
        <p:nvPr/>
      </p:nvGrpSpPr>
      <p:grpSpPr>
        <a:xfrm>
          <a:off x="0" y="0"/>
          <a:ext cx="0" cy="0"/>
          <a:chOff x="0" y="0"/>
          <a:chExt cx="0" cy="0"/>
        </a:xfrm>
      </p:grpSpPr>
      <p:sp useBgFill="1">
        <p:nvSpPr>
          <p:cNvPr id="40" name="Rectangle 39">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41">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43">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8" name="Freeform: Shape 47">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0" name="Rectangle 49">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921D162-DF61-7F3D-4F82-10EF44D6D4ED}"/>
              </a:ext>
            </a:extLst>
          </p:cNvPr>
          <p:cNvSpPr>
            <a:spLocks noGrp="1"/>
          </p:cNvSpPr>
          <p:nvPr>
            <p:ph type="ctrTitle"/>
          </p:nvPr>
        </p:nvSpPr>
        <p:spPr>
          <a:xfrm>
            <a:off x="466722" y="586855"/>
            <a:ext cx="3201366" cy="3387497"/>
          </a:xfrm>
        </p:spPr>
        <p:txBody>
          <a:bodyPr vert="horz" lIns="91440" tIns="45720" rIns="91440" bIns="45720" rtlCol="0" anchor="b">
            <a:normAutofit/>
          </a:bodyPr>
          <a:lstStyle/>
          <a:p>
            <a:pPr algn="r"/>
            <a:r>
              <a:rPr lang="en-US" sz="4000" kern="1200">
                <a:solidFill>
                  <a:srgbClr val="FFFFFF"/>
                </a:solidFill>
                <a:latin typeface="+mj-lt"/>
                <a:ea typeface="+mj-ea"/>
                <a:cs typeface="+mj-cs"/>
              </a:rPr>
              <a:t>Contrôles de Gouvernance</a:t>
            </a:r>
          </a:p>
        </p:txBody>
      </p:sp>
      <p:sp>
        <p:nvSpPr>
          <p:cNvPr id="3" name="Subtitle 2">
            <a:extLst>
              <a:ext uri="{FF2B5EF4-FFF2-40B4-BE49-F238E27FC236}">
                <a16:creationId xmlns:a16="http://schemas.microsoft.com/office/drawing/2014/main" id="{524D62E4-A2F1-7B5B-1EEA-3C6BBF949F57}"/>
              </a:ext>
            </a:extLst>
          </p:cNvPr>
          <p:cNvSpPr>
            <a:spLocks noGrp="1"/>
          </p:cNvSpPr>
          <p:nvPr>
            <p:ph type="subTitle" idx="1"/>
          </p:nvPr>
        </p:nvSpPr>
        <p:spPr>
          <a:xfrm>
            <a:off x="4134811" y="649481"/>
            <a:ext cx="6154388" cy="5517640"/>
          </a:xfrm>
        </p:spPr>
        <p:txBody>
          <a:bodyPr vert="horz" lIns="91440" tIns="45720" rIns="91440" bIns="45720" rtlCol="0" anchor="ctr">
            <a:noAutofit/>
          </a:bodyPr>
          <a:lstStyle/>
          <a:p>
            <a:pPr indent="-228600" algn="l">
              <a:buFont typeface="Arial" panose="020B0604020202020204" pitchFamily="34" charset="0"/>
              <a:buChar char="•"/>
            </a:pPr>
            <a:r>
              <a:rPr lang="en-US" sz="1400" dirty="0"/>
              <a:t>Le </a:t>
            </a:r>
            <a:r>
              <a:rPr lang="en-US" sz="1400" dirty="0" err="1"/>
              <a:t>système</a:t>
            </a:r>
            <a:r>
              <a:rPr lang="en-US" sz="1400" dirty="0"/>
              <a:t> </a:t>
            </a:r>
            <a:r>
              <a:rPr lang="en-US" sz="1400" dirty="0" err="1"/>
              <a:t>valide</a:t>
            </a:r>
            <a:r>
              <a:rPr lang="en-US" sz="1400" dirty="0"/>
              <a:t> les données RH avant toute attribution </a:t>
            </a:r>
            <a:r>
              <a:rPr lang="en-US" sz="1400" dirty="0" err="1"/>
              <a:t>d'accès</a:t>
            </a:r>
            <a:r>
              <a:rPr lang="en-US" sz="1400" dirty="0"/>
              <a:t>.</a:t>
            </a:r>
          </a:p>
          <a:p>
            <a:pPr indent="-228600" algn="l">
              <a:buFont typeface="Arial" panose="020B0604020202020204" pitchFamily="34" charset="0"/>
              <a:buChar char="•"/>
            </a:pPr>
            <a:endParaRPr lang="en-US" sz="1400" dirty="0"/>
          </a:p>
          <a:p>
            <a:pPr indent="-228600" algn="l">
              <a:buFont typeface="Arial" panose="020B0604020202020204" pitchFamily="34" charset="0"/>
              <a:buChar char="•"/>
            </a:pPr>
            <a:r>
              <a:rPr lang="en-US" sz="1400" dirty="0" err="1"/>
              <a:t>Contrôles</a:t>
            </a:r>
            <a:r>
              <a:rPr lang="en-US" sz="1400" dirty="0"/>
              <a:t> </a:t>
            </a:r>
            <a:r>
              <a:rPr lang="en-US" sz="1400" dirty="0" err="1"/>
              <a:t>obligatoires</a:t>
            </a:r>
            <a:r>
              <a:rPr lang="en-US" sz="1400" dirty="0"/>
              <a:t> :</a:t>
            </a:r>
          </a:p>
          <a:p>
            <a:pPr indent="-228600" algn="l">
              <a:buFont typeface="Arial" panose="020B0604020202020204" pitchFamily="34" charset="0"/>
              <a:buChar char="•"/>
            </a:pPr>
            <a:endParaRPr lang="en-US" sz="1400" dirty="0"/>
          </a:p>
          <a:p>
            <a:pPr indent="-228600" algn="l">
              <a:buFont typeface="Arial" panose="020B0604020202020204" pitchFamily="34" charset="0"/>
              <a:buChar char="•"/>
            </a:pPr>
            <a:r>
              <a:rPr lang="en-US" sz="1400" dirty="0"/>
              <a:t>✓ </a:t>
            </a:r>
            <a:r>
              <a:rPr lang="en-US" sz="1400" dirty="0" err="1"/>
              <a:t>Gestionnaire</a:t>
            </a:r>
            <a:endParaRPr lang="en-US" sz="1400" dirty="0"/>
          </a:p>
          <a:p>
            <a:pPr indent="-228600" algn="l">
              <a:buFont typeface="Arial" panose="020B0604020202020204" pitchFamily="34" charset="0"/>
              <a:buChar char="•"/>
            </a:pPr>
            <a:r>
              <a:rPr lang="en-US" sz="1400" dirty="0"/>
              <a:t>✓ Département</a:t>
            </a:r>
          </a:p>
          <a:p>
            <a:pPr indent="-228600" algn="l">
              <a:buFont typeface="Arial" panose="020B0604020202020204" pitchFamily="34" charset="0"/>
              <a:buChar char="•"/>
            </a:pPr>
            <a:r>
              <a:rPr lang="en-US" sz="1400" dirty="0"/>
              <a:t>✓ </a:t>
            </a:r>
            <a:r>
              <a:rPr lang="en-US" sz="1400" dirty="0" err="1"/>
              <a:t>Titre</a:t>
            </a:r>
            <a:r>
              <a:rPr lang="en-US" sz="1400" dirty="0"/>
              <a:t> du poste</a:t>
            </a:r>
          </a:p>
          <a:p>
            <a:pPr indent="-228600" algn="l">
              <a:buFont typeface="Arial" panose="020B0604020202020204" pitchFamily="34" charset="0"/>
              <a:buChar char="•"/>
            </a:pPr>
            <a:r>
              <a:rPr lang="en-US" sz="1400" dirty="0"/>
              <a:t>✓ Date de début</a:t>
            </a:r>
          </a:p>
          <a:p>
            <a:pPr indent="-228600" algn="l">
              <a:buFont typeface="Arial" panose="020B0604020202020204" pitchFamily="34" charset="0"/>
              <a:buChar char="•"/>
            </a:pPr>
            <a:r>
              <a:rPr lang="en-US" sz="1400" dirty="0"/>
              <a:t>✓ </a:t>
            </a:r>
            <a:r>
              <a:rPr lang="en-US" sz="1400" dirty="0" err="1"/>
              <a:t>Correspondance</a:t>
            </a:r>
            <a:r>
              <a:rPr lang="en-US" sz="1400" dirty="0"/>
              <a:t> RBAC</a:t>
            </a:r>
            <a:br>
              <a:rPr lang="en-US" sz="1400" dirty="0"/>
            </a:br>
            <a:br>
              <a:rPr lang="en-US" sz="1400" dirty="0"/>
            </a:br>
            <a:r>
              <a:rPr lang="en-US" sz="1400" dirty="0" err="1"/>
              <a:t>Exemples</a:t>
            </a:r>
            <a:r>
              <a:rPr lang="en-US" sz="1400" dirty="0"/>
              <a:t> de </a:t>
            </a:r>
            <a:r>
              <a:rPr lang="en-US" sz="1400" dirty="0" err="1"/>
              <a:t>demandes</a:t>
            </a:r>
            <a:r>
              <a:rPr lang="en-US" sz="1400" dirty="0"/>
              <a:t> </a:t>
            </a:r>
            <a:r>
              <a:rPr lang="en-US" sz="1400" dirty="0" err="1"/>
              <a:t>bloquées</a:t>
            </a:r>
            <a:r>
              <a:rPr lang="en-US" sz="1400" dirty="0"/>
              <a:t> :</a:t>
            </a:r>
            <a:br>
              <a:rPr lang="en-US" sz="1400" dirty="0"/>
            </a:br>
            <a:r>
              <a:rPr lang="en-US" sz="1400" dirty="0"/>
              <a:t>• </a:t>
            </a:r>
            <a:r>
              <a:rPr lang="en-US" sz="1400" dirty="0" err="1"/>
              <a:t>Gestionnaire</a:t>
            </a:r>
            <a:r>
              <a:rPr lang="en-US" sz="1400" dirty="0"/>
              <a:t> </a:t>
            </a:r>
            <a:r>
              <a:rPr lang="en-US" sz="1400" dirty="0" err="1"/>
              <a:t>manquant</a:t>
            </a:r>
            <a:endParaRPr lang="en-US" sz="1400" dirty="0"/>
          </a:p>
          <a:p>
            <a:pPr indent="-228600" algn="l">
              <a:buFont typeface="Arial" panose="020B0604020202020204" pitchFamily="34" charset="0"/>
              <a:buChar char="•"/>
            </a:pPr>
            <a:r>
              <a:rPr lang="en-US" sz="1400" dirty="0"/>
              <a:t>• Département </a:t>
            </a:r>
            <a:r>
              <a:rPr lang="en-US" sz="1400" dirty="0" err="1"/>
              <a:t>manquant</a:t>
            </a:r>
            <a:endParaRPr lang="en-US" sz="1400" dirty="0"/>
          </a:p>
          <a:p>
            <a:pPr indent="-228600" algn="l">
              <a:buFont typeface="Arial" panose="020B0604020202020204" pitchFamily="34" charset="0"/>
              <a:buChar char="•"/>
            </a:pPr>
            <a:r>
              <a:rPr lang="en-US" sz="1400" dirty="0"/>
              <a:t>• Nom </a:t>
            </a:r>
            <a:r>
              <a:rPr lang="en-US" sz="1400" dirty="0" err="1"/>
              <a:t>manquant</a:t>
            </a:r>
            <a:endParaRPr lang="en-US" sz="1400" dirty="0"/>
          </a:p>
          <a:p>
            <a:pPr indent="-228600" algn="l">
              <a:buFont typeface="Arial" panose="020B0604020202020204" pitchFamily="34" charset="0"/>
              <a:buChar char="•"/>
            </a:pPr>
            <a:r>
              <a:rPr lang="en-US" sz="1400" dirty="0"/>
              <a:t>• </a:t>
            </a:r>
            <a:r>
              <a:rPr lang="en-US" sz="1400" dirty="0" err="1"/>
              <a:t>Rôle</a:t>
            </a:r>
            <a:r>
              <a:rPr lang="en-US" sz="1400" dirty="0"/>
              <a:t> non </a:t>
            </a:r>
            <a:r>
              <a:rPr lang="en-US" sz="1400" dirty="0" err="1"/>
              <a:t>défini</a:t>
            </a:r>
            <a:r>
              <a:rPr lang="en-US" sz="1400" dirty="0"/>
              <a:t> dans le RBAC</a:t>
            </a:r>
            <a:br>
              <a:rPr lang="en-US" sz="1400" dirty="0"/>
            </a:br>
            <a:br>
              <a:rPr lang="en-US" sz="1400" dirty="0"/>
            </a:br>
            <a:r>
              <a:rPr lang="en-US" sz="1400" dirty="0"/>
              <a:t>Message :</a:t>
            </a:r>
            <a:br>
              <a:rPr lang="en-US" sz="1400" dirty="0"/>
            </a:br>
            <a:r>
              <a:rPr lang="en-US" sz="1400" dirty="0" err="1"/>
              <a:t>Aucun</a:t>
            </a:r>
            <a:r>
              <a:rPr lang="en-US" sz="1400" dirty="0"/>
              <a:t> </a:t>
            </a:r>
            <a:r>
              <a:rPr lang="en-US" sz="1400" dirty="0" err="1"/>
              <a:t>accès</a:t>
            </a:r>
            <a:r>
              <a:rPr lang="en-US" sz="1400" dirty="0"/>
              <a:t> </a:t>
            </a:r>
            <a:r>
              <a:rPr lang="en-US" sz="1400" dirty="0" err="1"/>
              <a:t>n'est</a:t>
            </a:r>
            <a:r>
              <a:rPr lang="en-US" sz="1400" dirty="0"/>
              <a:t> </a:t>
            </a:r>
            <a:r>
              <a:rPr lang="en-US" sz="1400" dirty="0" err="1"/>
              <a:t>accordé</a:t>
            </a:r>
            <a:r>
              <a:rPr lang="en-US" sz="1400" dirty="0"/>
              <a:t> tant </a:t>
            </a:r>
            <a:r>
              <a:rPr lang="en-US" sz="1400" dirty="0" err="1"/>
              <a:t>que</a:t>
            </a:r>
            <a:r>
              <a:rPr lang="en-US" sz="1400" dirty="0"/>
              <a:t> les données </a:t>
            </a:r>
            <a:r>
              <a:rPr lang="en-US" sz="1400" dirty="0" err="1"/>
              <a:t>requises</a:t>
            </a:r>
            <a:r>
              <a:rPr lang="en-US" sz="1400" dirty="0"/>
              <a:t> ne </a:t>
            </a:r>
            <a:r>
              <a:rPr lang="en-US" sz="1400" dirty="0" err="1"/>
              <a:t>sont</a:t>
            </a:r>
            <a:r>
              <a:rPr lang="en-US" sz="1400" dirty="0"/>
              <a:t> pas </a:t>
            </a:r>
            <a:r>
              <a:rPr lang="en-US" sz="1400" dirty="0" err="1"/>
              <a:t>conformes</a:t>
            </a:r>
            <a:r>
              <a:rPr lang="en-US" sz="1400" dirty="0"/>
              <a:t>.</a:t>
            </a:r>
            <a:br>
              <a:rPr lang="en-US" sz="1400" dirty="0"/>
            </a:br>
            <a:r>
              <a:rPr lang="en-US" sz="1400" dirty="0" err="1"/>
              <a:t>Aucun</a:t>
            </a:r>
            <a:r>
              <a:rPr lang="en-US" sz="1400" dirty="0"/>
              <a:t> compte </a:t>
            </a:r>
            <a:r>
              <a:rPr lang="en-US" sz="1400" dirty="0" err="1"/>
              <a:t>n'est</a:t>
            </a:r>
            <a:r>
              <a:rPr lang="en-US" sz="1400" dirty="0"/>
              <a:t> </a:t>
            </a:r>
            <a:r>
              <a:rPr lang="en-US" sz="1400" dirty="0" err="1"/>
              <a:t>créé</a:t>
            </a:r>
            <a:r>
              <a:rPr lang="en-US" sz="1400" dirty="0"/>
              <a:t> </a:t>
            </a:r>
            <a:r>
              <a:rPr lang="en-US" sz="1400" dirty="0" err="1"/>
              <a:t>si</a:t>
            </a:r>
            <a:r>
              <a:rPr lang="en-US" sz="1400" dirty="0"/>
              <a:t> les validations </a:t>
            </a:r>
            <a:r>
              <a:rPr lang="en-US" sz="1400" dirty="0" err="1"/>
              <a:t>échouent</a:t>
            </a:r>
            <a:r>
              <a:rPr lang="en-US" sz="1400" dirty="0"/>
              <a:t>.</a:t>
            </a:r>
          </a:p>
        </p:txBody>
      </p:sp>
      <p:pic>
        <p:nvPicPr>
          <p:cNvPr id="5" name="Picture 4">
            <a:extLst>
              <a:ext uri="{FF2B5EF4-FFF2-40B4-BE49-F238E27FC236}">
                <a16:creationId xmlns:a16="http://schemas.microsoft.com/office/drawing/2014/main" id="{ECBDD05C-DA03-4903-3532-A199CAD818C1}"/>
              </a:ext>
            </a:extLst>
          </p:cNvPr>
          <p:cNvPicPr>
            <a:picLocks noChangeAspect="1"/>
          </p:cNvPicPr>
          <p:nvPr/>
        </p:nvPicPr>
        <p:blipFill>
          <a:blip r:embed="rId3"/>
          <a:stretch>
            <a:fillRect/>
          </a:stretch>
        </p:blipFill>
        <p:spPr>
          <a:xfrm>
            <a:off x="10426060" y="535096"/>
            <a:ext cx="1485040" cy="5348026"/>
          </a:xfrm>
          <a:prstGeom prst="rect">
            <a:avLst/>
          </a:prstGeom>
        </p:spPr>
      </p:pic>
    </p:spTree>
    <p:extLst>
      <p:ext uri="{BB962C8B-B14F-4D97-AF65-F5344CB8AC3E}">
        <p14:creationId xmlns:p14="http://schemas.microsoft.com/office/powerpoint/2010/main" val="10885297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D2D202B-1C22-A0B1-9754-1A5AB01B0897}"/>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170150A-238B-C692-4481-DEC8783FD172}"/>
              </a:ext>
            </a:extLst>
          </p:cNvPr>
          <p:cNvSpPr>
            <a:spLocks noGrp="1"/>
          </p:cNvSpPr>
          <p:nvPr>
            <p:ph type="ctrTitle"/>
          </p:nvPr>
        </p:nvSpPr>
        <p:spPr>
          <a:xfrm>
            <a:off x="699713" y="248038"/>
            <a:ext cx="7063721" cy="1159200"/>
          </a:xfrm>
        </p:spPr>
        <p:txBody>
          <a:bodyPr anchor="ctr">
            <a:normAutofit/>
          </a:bodyPr>
          <a:lstStyle/>
          <a:p>
            <a:pPr algn="l"/>
            <a:r>
              <a:rPr lang="en-US" sz="4000">
                <a:solidFill>
                  <a:srgbClr val="FFFFFF"/>
                </a:solidFill>
              </a:rPr>
              <a:t>Audit &amp; Reporting</a:t>
            </a:r>
          </a:p>
        </p:txBody>
      </p:sp>
      <p:sp>
        <p:nvSpPr>
          <p:cNvPr id="3" name="Subtitle 2">
            <a:extLst>
              <a:ext uri="{FF2B5EF4-FFF2-40B4-BE49-F238E27FC236}">
                <a16:creationId xmlns:a16="http://schemas.microsoft.com/office/drawing/2014/main" id="{E972BEAB-375A-9DD8-C438-9E6B305DDDB8}"/>
              </a:ext>
            </a:extLst>
          </p:cNvPr>
          <p:cNvSpPr>
            <a:spLocks noGrp="1"/>
          </p:cNvSpPr>
          <p:nvPr>
            <p:ph type="subTitle" idx="1"/>
          </p:nvPr>
        </p:nvSpPr>
        <p:spPr>
          <a:xfrm>
            <a:off x="8572499" y="390832"/>
            <a:ext cx="3233585" cy="873612"/>
          </a:xfrm>
        </p:spPr>
        <p:txBody>
          <a:bodyPr anchor="ctr">
            <a:normAutofit/>
          </a:bodyPr>
          <a:lstStyle/>
          <a:p>
            <a:pPr algn="l"/>
            <a:endParaRPr lang="en-US" sz="2000" dirty="0">
              <a:solidFill>
                <a:srgbClr val="FFFFFF"/>
              </a:solidFill>
            </a:endParaRPr>
          </a:p>
        </p:txBody>
      </p:sp>
      <p:pic>
        <p:nvPicPr>
          <p:cNvPr id="5" name="Picture 4">
            <a:extLst>
              <a:ext uri="{FF2B5EF4-FFF2-40B4-BE49-F238E27FC236}">
                <a16:creationId xmlns:a16="http://schemas.microsoft.com/office/drawing/2014/main" id="{971B3BF0-195A-30E3-FD0F-E3C41C77E94D}"/>
              </a:ext>
            </a:extLst>
          </p:cNvPr>
          <p:cNvPicPr>
            <a:picLocks noChangeAspect="1"/>
          </p:cNvPicPr>
          <p:nvPr/>
        </p:nvPicPr>
        <p:blipFill>
          <a:blip r:embed="rId3"/>
          <a:stretch>
            <a:fillRect/>
          </a:stretch>
        </p:blipFill>
        <p:spPr>
          <a:xfrm>
            <a:off x="619432" y="1655276"/>
            <a:ext cx="11186652" cy="4954686"/>
          </a:xfrm>
          <a:prstGeom prst="rect">
            <a:avLst/>
          </a:prstGeom>
        </p:spPr>
      </p:pic>
    </p:spTree>
    <p:extLst>
      <p:ext uri="{BB962C8B-B14F-4D97-AF65-F5344CB8AC3E}">
        <p14:creationId xmlns:p14="http://schemas.microsoft.com/office/powerpoint/2010/main" val="18332567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2AFC15D-D345-FFDC-EAA0-56FDEEFF7A86}"/>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91E5A9A7-95C6-4F4F-B00E-C82E07FE6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Rectangle 13">
            <a:extLst>
              <a:ext uri="{FF2B5EF4-FFF2-40B4-BE49-F238E27FC236}">
                <a16:creationId xmlns:a16="http://schemas.microsoft.com/office/drawing/2014/main" id="{D07DD2DE-F619-49DD-B5E7-03A290FF4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85149191-5F60-4A28-AAFF-039F96B0F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F8260ED5-17F7-4158-B241-D51DD4CF1B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E3180E48-298B-5FBC-6F0A-8D349AFAA1AF}"/>
              </a:ext>
            </a:extLst>
          </p:cNvPr>
          <p:cNvSpPr>
            <a:spLocks noGrp="1"/>
          </p:cNvSpPr>
          <p:nvPr>
            <p:ph type="ctrTitle"/>
          </p:nvPr>
        </p:nvSpPr>
        <p:spPr>
          <a:xfrm>
            <a:off x="660041" y="2767106"/>
            <a:ext cx="2880828" cy="3071906"/>
          </a:xfrm>
        </p:spPr>
        <p:txBody>
          <a:bodyPr anchor="t">
            <a:normAutofit/>
          </a:bodyPr>
          <a:lstStyle/>
          <a:p>
            <a:pPr algn="l"/>
            <a:r>
              <a:rPr lang="en-US" sz="4000">
                <a:solidFill>
                  <a:srgbClr val="FFFFFF"/>
                </a:solidFill>
              </a:rPr>
              <a:t>Future Enterprise Architecture</a:t>
            </a:r>
          </a:p>
        </p:txBody>
      </p:sp>
      <p:sp>
        <p:nvSpPr>
          <p:cNvPr id="3" name="Subtitle 2">
            <a:extLst>
              <a:ext uri="{FF2B5EF4-FFF2-40B4-BE49-F238E27FC236}">
                <a16:creationId xmlns:a16="http://schemas.microsoft.com/office/drawing/2014/main" id="{C92A73DF-3A8E-9DA8-ED34-0A06348B9DC3}"/>
              </a:ext>
            </a:extLst>
          </p:cNvPr>
          <p:cNvSpPr>
            <a:spLocks noGrp="1"/>
          </p:cNvSpPr>
          <p:nvPr>
            <p:ph type="subTitle" idx="1"/>
          </p:nvPr>
        </p:nvSpPr>
        <p:spPr>
          <a:xfrm>
            <a:off x="640586" y="4562169"/>
            <a:ext cx="2919738" cy="2074606"/>
          </a:xfrm>
        </p:spPr>
        <p:txBody>
          <a:bodyPr anchor="b">
            <a:normAutofit fontScale="77500" lnSpcReduction="20000"/>
          </a:bodyPr>
          <a:lstStyle/>
          <a:p>
            <a:pPr algn="l"/>
            <a:r>
              <a:rPr lang="fr-FR" sz="2000" dirty="0">
                <a:solidFill>
                  <a:srgbClr val="FFFFFF"/>
                </a:solidFill>
              </a:rPr>
              <a:t>Prochaine phase du projet :</a:t>
            </a:r>
          </a:p>
          <a:p>
            <a:pPr algn="l"/>
            <a:endParaRPr lang="fr-FR" sz="2000" dirty="0">
              <a:solidFill>
                <a:srgbClr val="FFFFFF"/>
              </a:solidFill>
            </a:endParaRPr>
          </a:p>
          <a:p>
            <a:pPr algn="l"/>
            <a:r>
              <a:rPr lang="fr-FR" sz="2000" dirty="0">
                <a:solidFill>
                  <a:srgbClr val="FFFFFF"/>
                </a:solidFill>
              </a:rPr>
              <a:t>• Windows Server 2022</a:t>
            </a:r>
          </a:p>
          <a:p>
            <a:pPr algn="l"/>
            <a:r>
              <a:rPr lang="fr-FR" sz="2000" dirty="0">
                <a:solidFill>
                  <a:srgbClr val="FFFFFF"/>
                </a:solidFill>
              </a:rPr>
              <a:t>• Active Directory</a:t>
            </a:r>
          </a:p>
          <a:p>
            <a:pPr algn="l"/>
            <a:r>
              <a:rPr lang="fr-FR" sz="2000" dirty="0">
                <a:solidFill>
                  <a:srgbClr val="FFFFFF"/>
                </a:solidFill>
              </a:rPr>
              <a:t>• Microsoft Entra ID</a:t>
            </a:r>
          </a:p>
          <a:p>
            <a:pPr algn="l"/>
            <a:r>
              <a:rPr lang="fr-FR" sz="2000" dirty="0">
                <a:solidFill>
                  <a:srgbClr val="FFFFFF"/>
                </a:solidFill>
              </a:rPr>
              <a:t>• Microsoft 365</a:t>
            </a:r>
          </a:p>
          <a:p>
            <a:pPr algn="l"/>
            <a:r>
              <a:rPr lang="fr-FR" sz="2000" dirty="0">
                <a:solidFill>
                  <a:srgbClr val="FFFFFF"/>
                </a:solidFill>
              </a:rPr>
              <a:t>• Intégration ITSM</a:t>
            </a:r>
            <a:endParaRPr lang="en-US" sz="2000" dirty="0">
              <a:solidFill>
                <a:srgbClr val="FFFFFF"/>
              </a:solidFill>
            </a:endParaRPr>
          </a:p>
        </p:txBody>
      </p:sp>
      <p:pic>
        <p:nvPicPr>
          <p:cNvPr id="5" name="Picture 4">
            <a:extLst>
              <a:ext uri="{FF2B5EF4-FFF2-40B4-BE49-F238E27FC236}">
                <a16:creationId xmlns:a16="http://schemas.microsoft.com/office/drawing/2014/main" id="{0EE988A8-A4EF-BD17-E474-5A07167C68E2}"/>
              </a:ext>
            </a:extLst>
          </p:cNvPr>
          <p:cNvPicPr>
            <a:picLocks noChangeAspect="1"/>
          </p:cNvPicPr>
          <p:nvPr/>
        </p:nvPicPr>
        <p:blipFill>
          <a:blip r:embed="rId3"/>
          <a:stretch>
            <a:fillRect/>
          </a:stretch>
        </p:blipFill>
        <p:spPr>
          <a:xfrm>
            <a:off x="4546877" y="467208"/>
            <a:ext cx="7136849" cy="5923584"/>
          </a:xfrm>
          <a:prstGeom prst="rect">
            <a:avLst/>
          </a:prstGeom>
        </p:spPr>
      </p:pic>
    </p:spTree>
    <p:extLst>
      <p:ext uri="{BB962C8B-B14F-4D97-AF65-F5344CB8AC3E}">
        <p14:creationId xmlns:p14="http://schemas.microsoft.com/office/powerpoint/2010/main" val="26480172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144C716-0872-D602-61DD-2F57C0C026A7}"/>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91E5A9A7-95C6-4F4F-B00E-C82E07FE6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Rectangle 13">
            <a:extLst>
              <a:ext uri="{FF2B5EF4-FFF2-40B4-BE49-F238E27FC236}">
                <a16:creationId xmlns:a16="http://schemas.microsoft.com/office/drawing/2014/main" id="{D07DD2DE-F619-49DD-B5E7-03A290FF4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85149191-5F60-4A28-AAFF-039F96B0F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F8260ED5-17F7-4158-B241-D51DD4CF1B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458589AF-0722-EE99-BA73-8A93DB8E091D}"/>
              </a:ext>
            </a:extLst>
          </p:cNvPr>
          <p:cNvSpPr>
            <a:spLocks noGrp="1"/>
          </p:cNvSpPr>
          <p:nvPr>
            <p:ph type="ctrTitle"/>
          </p:nvPr>
        </p:nvSpPr>
        <p:spPr>
          <a:xfrm>
            <a:off x="660041" y="2767106"/>
            <a:ext cx="2880828" cy="3071906"/>
          </a:xfrm>
        </p:spPr>
        <p:txBody>
          <a:bodyPr anchor="t">
            <a:normAutofit/>
          </a:bodyPr>
          <a:lstStyle/>
          <a:p>
            <a:pPr algn="l"/>
            <a:r>
              <a:rPr lang="en-US" sz="4000">
                <a:solidFill>
                  <a:srgbClr val="FFFFFF"/>
                </a:solidFill>
              </a:rPr>
              <a:t>Feuille de Route</a:t>
            </a:r>
          </a:p>
        </p:txBody>
      </p:sp>
      <p:sp>
        <p:nvSpPr>
          <p:cNvPr id="3" name="Subtitle 2">
            <a:extLst>
              <a:ext uri="{FF2B5EF4-FFF2-40B4-BE49-F238E27FC236}">
                <a16:creationId xmlns:a16="http://schemas.microsoft.com/office/drawing/2014/main" id="{2A4C9189-F6D9-57E3-B740-3904A9DB6867}"/>
              </a:ext>
            </a:extLst>
          </p:cNvPr>
          <p:cNvSpPr>
            <a:spLocks noGrp="1"/>
          </p:cNvSpPr>
          <p:nvPr>
            <p:ph type="subTitle" idx="1"/>
          </p:nvPr>
        </p:nvSpPr>
        <p:spPr>
          <a:xfrm>
            <a:off x="255639" y="4060723"/>
            <a:ext cx="3490451" cy="2430567"/>
          </a:xfrm>
        </p:spPr>
        <p:txBody>
          <a:bodyPr anchor="b">
            <a:normAutofit/>
          </a:bodyPr>
          <a:lstStyle/>
          <a:p>
            <a:pPr algn="l"/>
            <a:r>
              <a:rPr lang="en-US" sz="2000" dirty="0">
                <a:solidFill>
                  <a:srgbClr val="FFFFFF"/>
                </a:solidFill>
              </a:rPr>
              <a:t>Phase 1  MVP Local          ✓</a:t>
            </a:r>
          </a:p>
          <a:p>
            <a:pPr algn="l"/>
            <a:r>
              <a:rPr lang="en-US" sz="2000" dirty="0">
                <a:solidFill>
                  <a:srgbClr val="FFFFFF"/>
                </a:solidFill>
              </a:rPr>
              <a:t>Phase 2  Active Directory</a:t>
            </a:r>
          </a:p>
          <a:p>
            <a:pPr algn="l"/>
            <a:r>
              <a:rPr lang="en-US" sz="2000" dirty="0">
                <a:solidFill>
                  <a:srgbClr val="FFFFFF"/>
                </a:solidFill>
              </a:rPr>
              <a:t>Phase 3  Entra ID</a:t>
            </a:r>
          </a:p>
          <a:p>
            <a:pPr algn="l"/>
            <a:r>
              <a:rPr lang="en-US" sz="2000" dirty="0">
                <a:solidFill>
                  <a:srgbClr val="FFFFFF"/>
                </a:solidFill>
              </a:rPr>
              <a:t>Phase 4  ITSM</a:t>
            </a:r>
          </a:p>
          <a:p>
            <a:pPr algn="l"/>
            <a:r>
              <a:rPr lang="en-US" sz="2000" dirty="0">
                <a:solidFill>
                  <a:srgbClr val="FFFFFF"/>
                </a:solidFill>
              </a:rPr>
              <a:t>Phase 5  IAM </a:t>
            </a:r>
            <a:r>
              <a:rPr lang="en-US" sz="2000" dirty="0" err="1">
                <a:solidFill>
                  <a:srgbClr val="FFFFFF"/>
                </a:solidFill>
              </a:rPr>
              <a:t>Entreprise</a:t>
            </a:r>
            <a:endParaRPr lang="en-US" sz="2000" dirty="0">
              <a:solidFill>
                <a:srgbClr val="FFFFFF"/>
              </a:solidFill>
            </a:endParaRPr>
          </a:p>
        </p:txBody>
      </p:sp>
      <p:pic>
        <p:nvPicPr>
          <p:cNvPr id="5" name="Picture 4">
            <a:extLst>
              <a:ext uri="{FF2B5EF4-FFF2-40B4-BE49-F238E27FC236}">
                <a16:creationId xmlns:a16="http://schemas.microsoft.com/office/drawing/2014/main" id="{EFDB99E8-90D3-AFEC-79EE-AB36438B7EF4}"/>
              </a:ext>
            </a:extLst>
          </p:cNvPr>
          <p:cNvPicPr>
            <a:picLocks noChangeAspect="1"/>
          </p:cNvPicPr>
          <p:nvPr/>
        </p:nvPicPr>
        <p:blipFill>
          <a:blip r:embed="rId3"/>
          <a:stretch>
            <a:fillRect/>
          </a:stretch>
        </p:blipFill>
        <p:spPr>
          <a:xfrm>
            <a:off x="5251939" y="467207"/>
            <a:ext cx="5008708" cy="6273561"/>
          </a:xfrm>
          <a:prstGeom prst="rect">
            <a:avLst/>
          </a:prstGeom>
        </p:spPr>
      </p:pic>
    </p:spTree>
    <p:extLst>
      <p:ext uri="{BB962C8B-B14F-4D97-AF65-F5344CB8AC3E}">
        <p14:creationId xmlns:p14="http://schemas.microsoft.com/office/powerpoint/2010/main" val="177681935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75E1F63-3608-174A-BF31-FAB881FB79BE}"/>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91E5A9A7-95C6-4F4F-B00E-C82E07FE6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Rectangle 13">
            <a:extLst>
              <a:ext uri="{FF2B5EF4-FFF2-40B4-BE49-F238E27FC236}">
                <a16:creationId xmlns:a16="http://schemas.microsoft.com/office/drawing/2014/main" id="{D07DD2DE-F619-49DD-B5E7-03A290FF4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85149191-5F60-4A28-AAFF-039F96B0F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F8260ED5-17F7-4158-B241-D51DD4CF1B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53DF98EC-FDEF-43F5-21C4-1F4CD6591518}"/>
              </a:ext>
            </a:extLst>
          </p:cNvPr>
          <p:cNvSpPr>
            <a:spLocks noGrp="1"/>
          </p:cNvSpPr>
          <p:nvPr>
            <p:ph type="ctrTitle"/>
          </p:nvPr>
        </p:nvSpPr>
        <p:spPr>
          <a:xfrm>
            <a:off x="660041" y="2767106"/>
            <a:ext cx="2880828" cy="3071906"/>
          </a:xfrm>
        </p:spPr>
        <p:txBody>
          <a:bodyPr anchor="t">
            <a:normAutofit/>
          </a:bodyPr>
          <a:lstStyle/>
          <a:p>
            <a:pPr algn="l"/>
            <a:r>
              <a:rPr lang="en-US" sz="4000" dirty="0">
                <a:solidFill>
                  <a:schemeClr val="bg1"/>
                </a:solidFill>
              </a:rPr>
              <a:t>À </a:t>
            </a:r>
            <a:r>
              <a:rPr lang="en-US" sz="4000" dirty="0" err="1">
                <a:solidFill>
                  <a:schemeClr val="bg1"/>
                </a:solidFill>
              </a:rPr>
              <a:t>propos</a:t>
            </a:r>
            <a:r>
              <a:rPr lang="en-US" sz="4000" dirty="0">
                <a:solidFill>
                  <a:schemeClr val="bg1"/>
                </a:solidFill>
              </a:rPr>
              <a:t> de </a:t>
            </a:r>
            <a:r>
              <a:rPr lang="en-US" sz="4000" dirty="0" err="1">
                <a:solidFill>
                  <a:schemeClr val="bg1"/>
                </a:solidFill>
              </a:rPr>
              <a:t>l’auteur</a:t>
            </a:r>
            <a:endParaRPr lang="en-US" sz="4000" dirty="0">
              <a:solidFill>
                <a:schemeClr val="bg1"/>
              </a:solidFill>
            </a:endParaRPr>
          </a:p>
        </p:txBody>
      </p:sp>
      <p:sp>
        <p:nvSpPr>
          <p:cNvPr id="3" name="Subtitle 2">
            <a:extLst>
              <a:ext uri="{FF2B5EF4-FFF2-40B4-BE49-F238E27FC236}">
                <a16:creationId xmlns:a16="http://schemas.microsoft.com/office/drawing/2014/main" id="{2009ED5F-3706-9B13-6C0D-8910BDD27605}"/>
              </a:ext>
            </a:extLst>
          </p:cNvPr>
          <p:cNvSpPr>
            <a:spLocks noGrp="1"/>
          </p:cNvSpPr>
          <p:nvPr>
            <p:ph type="subTitle" idx="1"/>
          </p:nvPr>
        </p:nvSpPr>
        <p:spPr>
          <a:xfrm>
            <a:off x="660042" y="806824"/>
            <a:ext cx="2919738" cy="1494117"/>
          </a:xfrm>
        </p:spPr>
        <p:txBody>
          <a:bodyPr anchor="b">
            <a:normAutofit/>
          </a:bodyPr>
          <a:lstStyle/>
          <a:p>
            <a:pPr algn="l"/>
            <a:endParaRPr lang="en-US" sz="2000">
              <a:solidFill>
                <a:srgbClr val="FFFFFF"/>
              </a:solidFill>
            </a:endParaRPr>
          </a:p>
        </p:txBody>
      </p:sp>
      <p:pic>
        <p:nvPicPr>
          <p:cNvPr id="5" name="Picture 4">
            <a:extLst>
              <a:ext uri="{FF2B5EF4-FFF2-40B4-BE49-F238E27FC236}">
                <a16:creationId xmlns:a16="http://schemas.microsoft.com/office/drawing/2014/main" id="{2D3F6BE2-1DF4-DB8E-4A76-EFBFF0918722}"/>
              </a:ext>
            </a:extLst>
          </p:cNvPr>
          <p:cNvPicPr>
            <a:picLocks noChangeAspect="1"/>
          </p:cNvPicPr>
          <p:nvPr/>
        </p:nvPicPr>
        <p:blipFill>
          <a:blip r:embed="rId2"/>
          <a:stretch>
            <a:fillRect/>
          </a:stretch>
        </p:blipFill>
        <p:spPr>
          <a:xfrm>
            <a:off x="5568161" y="467208"/>
            <a:ext cx="5094281" cy="5923584"/>
          </a:xfrm>
          <a:prstGeom prst="rect">
            <a:avLst/>
          </a:prstGeom>
        </p:spPr>
      </p:pic>
    </p:spTree>
    <p:extLst>
      <p:ext uri="{BB962C8B-B14F-4D97-AF65-F5344CB8AC3E}">
        <p14:creationId xmlns:p14="http://schemas.microsoft.com/office/powerpoint/2010/main" val="123621100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1604</TotalTime>
  <Words>1712</Words>
  <Application>Microsoft Office PowerPoint</Application>
  <PresentationFormat>Widescreen</PresentationFormat>
  <Paragraphs>104</Paragraphs>
  <Slides>13</Slides>
  <Notes>12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Aptos</vt:lpstr>
      <vt:lpstr>Aptos Display</vt:lpstr>
      <vt:lpstr>Arial</vt:lpstr>
      <vt:lpstr>Office Theme</vt:lpstr>
      <vt:lpstr>Automatisation du Cycle de Vie des Identités (IAM)</vt:lpstr>
      <vt:lpstr>Défis Métier</vt:lpstr>
      <vt:lpstr>Vue d’Ensemble de la Solution</vt:lpstr>
      <vt:lpstr>Local MVP Architecture</vt:lpstr>
      <vt:lpstr>Joiner Workflow  : Arrivées des employés</vt:lpstr>
      <vt:lpstr>Mover Workflow:  changement de poste ou mobilité interne</vt:lpstr>
      <vt:lpstr>Leaver Workflow  Départ des employés</vt:lpstr>
      <vt:lpstr>Contrôle d’Accès Basé sur les Rôles (RBAC)</vt:lpstr>
      <vt:lpstr>Contrôles de Gouvernance</vt:lpstr>
      <vt:lpstr>Audit &amp; Reporting</vt:lpstr>
      <vt:lpstr>Future Enterprise Architecture</vt:lpstr>
      <vt:lpstr>Feuille de Route</vt:lpstr>
      <vt:lpstr>À propos de l’auteur</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francis kgf</dc:creator>
  <cp:lastModifiedBy>francis kgf</cp:lastModifiedBy>
  <cp:revision>20</cp:revision>
  <dcterms:created xsi:type="dcterms:W3CDTF">2026-06-05T22:42:36Z</dcterms:created>
  <dcterms:modified xsi:type="dcterms:W3CDTF">2026-06-10T14:02:13Z</dcterms:modified>
</cp:coreProperties>
</file>