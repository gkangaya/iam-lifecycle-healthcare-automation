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68" r:id="rId2"/>
    <p:sldId id="256" r:id="rId3"/>
    <p:sldId id="257" r:id="rId4"/>
    <p:sldId id="258" r:id="rId5"/>
    <p:sldId id="260" r:id="rId6"/>
    <p:sldId id="262" r:id="rId7"/>
    <p:sldId id="263" r:id="rId8"/>
    <p:sldId id="259" r:id="rId9"/>
    <p:sldId id="261"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987" autoAdjust="0"/>
  </p:normalViewPr>
  <p:slideViewPr>
    <p:cSldViewPr snapToGrid="0">
      <p:cViewPr varScale="1">
        <p:scale>
          <a:sx n="61" d="100"/>
          <a:sy n="61" d="100"/>
        </p:scale>
        <p:origin x="1493"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0E9DBE-3662-4895-B281-A721E3F5222D}"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ADF99C-AF7E-4688-B727-7B33BD5CCDA3}" type="slidenum">
              <a:rPr lang="en-US" smtClean="0"/>
              <a:t>‹#›</a:t>
            </a:fld>
            <a:endParaRPr lang="en-US"/>
          </a:p>
        </p:txBody>
      </p:sp>
    </p:spTree>
    <p:extLst>
      <p:ext uri="{BB962C8B-B14F-4D97-AF65-F5344CB8AC3E}">
        <p14:creationId xmlns:p14="http://schemas.microsoft.com/office/powerpoint/2010/main" val="2491075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2000" dirty="0"/>
              <a:t>Les </a:t>
            </a:r>
            <a:r>
              <a:rPr lang="en-US" sz="2000" dirty="0" err="1"/>
              <a:t>établissements</a:t>
            </a:r>
            <a:r>
              <a:rPr lang="en-US" sz="2000" dirty="0"/>
              <a:t> de santé </a:t>
            </a:r>
            <a:r>
              <a:rPr lang="en-US" sz="2000" dirty="0" err="1"/>
              <a:t>gèrent</a:t>
            </a:r>
            <a:r>
              <a:rPr lang="en-US" sz="2000" dirty="0"/>
              <a:t> des </a:t>
            </a:r>
            <a:r>
              <a:rPr lang="en-US" sz="2000" dirty="0" err="1"/>
              <a:t>centaines</a:t>
            </a:r>
            <a:r>
              <a:rPr lang="en-US" sz="2000" dirty="0"/>
              <a:t> </a:t>
            </a:r>
            <a:r>
              <a:rPr lang="en-US" sz="2000" dirty="0" err="1"/>
              <a:t>voire</a:t>
            </a:r>
            <a:r>
              <a:rPr lang="en-US" sz="2000" dirty="0"/>
              <a:t> des </a:t>
            </a:r>
            <a:r>
              <a:rPr lang="en-US" sz="2000" dirty="0" err="1"/>
              <a:t>milliers</a:t>
            </a:r>
            <a:r>
              <a:rPr lang="en-US" sz="2000" dirty="0"/>
              <a:t> </a:t>
            </a:r>
            <a:r>
              <a:rPr lang="en-US" sz="2000" dirty="0" err="1"/>
              <a:t>d'employés</a:t>
            </a:r>
            <a:r>
              <a:rPr lang="en-US" sz="2000" dirty="0"/>
              <a:t>. La </a:t>
            </a:r>
            <a:r>
              <a:rPr lang="en-US" sz="2000" dirty="0" err="1"/>
              <a:t>création</a:t>
            </a:r>
            <a:r>
              <a:rPr lang="en-US" sz="2000" dirty="0"/>
              <a:t> </a:t>
            </a:r>
            <a:r>
              <a:rPr lang="en-US" sz="2000" dirty="0" err="1"/>
              <a:t>manuelle</a:t>
            </a:r>
            <a:r>
              <a:rPr lang="en-US" sz="2000" dirty="0"/>
              <a:t> des </a:t>
            </a:r>
            <a:r>
              <a:rPr lang="en-US" sz="2000" dirty="0" err="1"/>
              <a:t>comptes</a:t>
            </a:r>
            <a:r>
              <a:rPr lang="en-US" sz="2000" dirty="0"/>
              <a:t> </a:t>
            </a:r>
            <a:r>
              <a:rPr lang="en-US" sz="2000" dirty="0" err="1"/>
              <a:t>peut</a:t>
            </a:r>
            <a:r>
              <a:rPr lang="en-US" sz="2000" dirty="0"/>
              <a:t> </a:t>
            </a:r>
            <a:r>
              <a:rPr lang="en-US" sz="2000" dirty="0" err="1"/>
              <a:t>entraîner</a:t>
            </a:r>
            <a:r>
              <a:rPr lang="en-US" sz="2000" dirty="0"/>
              <a:t> des retards, des </a:t>
            </a:r>
            <a:r>
              <a:rPr lang="en-US" sz="2000" dirty="0" err="1"/>
              <a:t>erreurs</a:t>
            </a:r>
            <a:r>
              <a:rPr lang="en-US" sz="2000" dirty="0"/>
              <a:t> </a:t>
            </a:r>
            <a:r>
              <a:rPr lang="en-US" sz="2000" dirty="0" err="1"/>
              <a:t>ou</a:t>
            </a:r>
            <a:r>
              <a:rPr lang="en-US" sz="2000" dirty="0"/>
              <a:t> des </a:t>
            </a:r>
            <a:r>
              <a:rPr lang="en-US" sz="2000" dirty="0" err="1"/>
              <a:t>risques</a:t>
            </a:r>
            <a:r>
              <a:rPr lang="en-US" sz="2000" dirty="0"/>
              <a:t> de sécurité. Notre </a:t>
            </a:r>
            <a:r>
              <a:rPr lang="en-US" sz="2000" dirty="0" err="1"/>
              <a:t>objectif</a:t>
            </a:r>
            <a:r>
              <a:rPr lang="en-US" sz="2000" dirty="0"/>
              <a:t> est </a:t>
            </a:r>
            <a:r>
              <a:rPr lang="en-US" sz="2000" dirty="0" err="1"/>
              <a:t>d'automatiser</a:t>
            </a:r>
            <a:r>
              <a:rPr lang="en-US" sz="2000" dirty="0"/>
              <a:t> </a:t>
            </a:r>
            <a:r>
              <a:rPr lang="en-US" sz="2000" dirty="0" err="1"/>
              <a:t>ces</a:t>
            </a:r>
            <a:r>
              <a:rPr lang="en-US" sz="2000" dirty="0"/>
              <a:t> processus </a:t>
            </a:r>
            <a:r>
              <a:rPr lang="en-US" sz="2000" dirty="0" err="1"/>
              <a:t>afin</a:t>
            </a:r>
            <a:r>
              <a:rPr lang="en-US" sz="2000" dirty="0"/>
              <a:t> de </a:t>
            </a:r>
            <a:r>
              <a:rPr lang="en-US" sz="2000" dirty="0" err="1"/>
              <a:t>réduire</a:t>
            </a:r>
            <a:r>
              <a:rPr lang="en-US" sz="2000" dirty="0"/>
              <a:t> les </a:t>
            </a:r>
            <a:r>
              <a:rPr lang="en-US" sz="2000" dirty="0" err="1"/>
              <a:t>risques</a:t>
            </a:r>
            <a:r>
              <a:rPr lang="en-US" sz="2000" dirty="0"/>
              <a:t> et </a:t>
            </a:r>
            <a:r>
              <a:rPr lang="en-US" sz="2000" dirty="0" err="1"/>
              <a:t>améliorer</a:t>
            </a:r>
            <a:r>
              <a:rPr lang="en-US" sz="2000" dirty="0"/>
              <a:t> </a:t>
            </a:r>
            <a:r>
              <a:rPr lang="en-US" sz="2000" dirty="0" err="1"/>
              <a:t>l'efficacité</a:t>
            </a:r>
            <a:r>
              <a:rPr lang="en-US" sz="2000" dirty="0"/>
              <a:t> </a:t>
            </a:r>
            <a:r>
              <a:rPr lang="en-US" sz="2000" dirty="0" err="1"/>
              <a:t>opérationnelle</a:t>
            </a:r>
            <a:r>
              <a:rPr lang="en-US" sz="2000" dirty="0"/>
              <a:t>.</a:t>
            </a:r>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2</a:t>
            </a:fld>
            <a:endParaRPr lang="en-US"/>
          </a:p>
        </p:txBody>
      </p:sp>
    </p:spTree>
    <p:extLst>
      <p:ext uri="{BB962C8B-B14F-4D97-AF65-F5344CB8AC3E}">
        <p14:creationId xmlns:p14="http://schemas.microsoft.com/office/powerpoint/2010/main" val="3422279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Lorsqu'un nouvel employé rejoint l'organisation, le système valide les données RH, vérifie les règles RBAC, crée le compte utilisateur, attribue les groupes nécessaires et enregistre toutes les actions dans les journaux d'audit.</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5</a:t>
            </a:fld>
            <a:endParaRPr lang="en-US"/>
          </a:p>
        </p:txBody>
      </p:sp>
    </p:spTree>
    <p:extLst>
      <p:ext uri="{BB962C8B-B14F-4D97-AF65-F5344CB8AC3E}">
        <p14:creationId xmlns:p14="http://schemas.microsoft.com/office/powerpoint/2010/main" val="42136082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
            </a:r>
            <a:r>
              <a:rPr lang="en-US" dirty="0" err="1"/>
              <a:t>système</a:t>
            </a:r>
            <a:r>
              <a:rPr lang="en-US" dirty="0"/>
              <a:t> applique le </a:t>
            </a:r>
            <a:r>
              <a:rPr lang="en-US" dirty="0" err="1"/>
              <a:t>principe</a:t>
            </a:r>
            <a:r>
              <a:rPr lang="en-US" dirty="0"/>
              <a:t> du </a:t>
            </a:r>
            <a:r>
              <a:rPr lang="en-US" dirty="0" err="1"/>
              <a:t>moindre</a:t>
            </a:r>
            <a:r>
              <a:rPr lang="en-US" dirty="0"/>
              <a:t> </a:t>
            </a:r>
            <a:r>
              <a:rPr lang="en-US" dirty="0" err="1"/>
              <a:t>privilège</a:t>
            </a:r>
            <a:r>
              <a:rPr lang="en-US" dirty="0"/>
              <a:t>. Les </a:t>
            </a:r>
            <a:r>
              <a:rPr lang="en-US" dirty="0" err="1"/>
              <a:t>accès</a:t>
            </a:r>
            <a:r>
              <a:rPr lang="en-US" dirty="0"/>
              <a:t> </a:t>
            </a:r>
            <a:r>
              <a:rPr lang="en-US" dirty="0" err="1"/>
              <a:t>sont</a:t>
            </a:r>
            <a:r>
              <a:rPr lang="en-US" dirty="0"/>
              <a:t> </a:t>
            </a:r>
            <a:r>
              <a:rPr lang="en-US" dirty="0" err="1"/>
              <a:t>attribués</a:t>
            </a:r>
            <a:r>
              <a:rPr lang="en-US" dirty="0"/>
              <a:t> </a:t>
            </a:r>
            <a:r>
              <a:rPr lang="en-US" dirty="0" err="1"/>
              <a:t>automatiquement</a:t>
            </a:r>
            <a:r>
              <a:rPr lang="en-US" dirty="0"/>
              <a:t> </a:t>
            </a:r>
            <a:r>
              <a:rPr lang="en-US" dirty="0" err="1"/>
              <a:t>selon</a:t>
            </a:r>
            <a:r>
              <a:rPr lang="en-US" dirty="0"/>
              <a:t> le </a:t>
            </a:r>
            <a:r>
              <a:rPr lang="en-US" dirty="0" err="1"/>
              <a:t>rôle</a:t>
            </a:r>
            <a:r>
              <a:rPr lang="en-US" dirty="0"/>
              <a:t> de </a:t>
            </a:r>
            <a:r>
              <a:rPr lang="en-US" dirty="0" err="1"/>
              <a:t>l'employé</a:t>
            </a:r>
            <a:r>
              <a:rPr lang="en-US" dirty="0"/>
              <a:t> </a:t>
            </a:r>
            <a:r>
              <a:rPr lang="en-US" dirty="0" err="1"/>
              <a:t>afin</a:t>
            </a:r>
            <a:r>
              <a:rPr lang="en-US" dirty="0"/>
              <a:t> de limiter les </a:t>
            </a:r>
            <a:r>
              <a:rPr lang="en-US" dirty="0" err="1"/>
              <a:t>accès</a:t>
            </a:r>
            <a:r>
              <a:rPr lang="en-US" dirty="0"/>
              <a:t> </a:t>
            </a:r>
            <a:r>
              <a:rPr lang="en-US" dirty="0" err="1"/>
              <a:t>excessifs</a:t>
            </a:r>
            <a:r>
              <a:rPr lang="en-US" dirty="0"/>
              <a:t> et </a:t>
            </a:r>
            <a:r>
              <a:rPr lang="en-US" dirty="0" err="1"/>
              <a:t>renforcer</a:t>
            </a:r>
            <a:r>
              <a:rPr lang="en-US" dirty="0"/>
              <a:t> la sécurité.</a:t>
            </a:r>
          </a:p>
        </p:txBody>
      </p:sp>
      <p:sp>
        <p:nvSpPr>
          <p:cNvPr id="4" name="Slide Number Placeholder 3"/>
          <p:cNvSpPr>
            <a:spLocks noGrp="1"/>
          </p:cNvSpPr>
          <p:nvPr>
            <p:ph type="sldNum" sz="quarter" idx="5"/>
          </p:nvPr>
        </p:nvSpPr>
        <p:spPr/>
        <p:txBody>
          <a:bodyPr/>
          <a:lstStyle/>
          <a:p>
            <a:fld id="{8CADF99C-AF7E-4688-B727-7B33BD5CCDA3}" type="slidenum">
              <a:rPr lang="en-US" smtClean="0"/>
              <a:t>8</a:t>
            </a:fld>
            <a:endParaRPr lang="en-US"/>
          </a:p>
        </p:txBody>
      </p:sp>
    </p:spTree>
    <p:extLst>
      <p:ext uri="{BB962C8B-B14F-4D97-AF65-F5344CB8AC3E}">
        <p14:creationId xmlns:p14="http://schemas.microsoft.com/office/powerpoint/2010/main" val="25165402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toute </a:t>
            </a:r>
            <a:r>
              <a:rPr lang="en-US" dirty="0" err="1"/>
              <a:t>création</a:t>
            </a:r>
            <a:r>
              <a:rPr lang="en-US" dirty="0"/>
              <a:t> de compte, le </a:t>
            </a:r>
            <a:r>
              <a:rPr lang="en-US" dirty="0" err="1"/>
              <a:t>système</a:t>
            </a:r>
            <a:r>
              <a:rPr lang="en-US" dirty="0"/>
              <a:t> </a:t>
            </a:r>
            <a:r>
              <a:rPr lang="en-US" dirty="0" err="1"/>
              <a:t>vérifie</a:t>
            </a:r>
            <a:r>
              <a:rPr lang="en-US" dirty="0"/>
              <a:t> </a:t>
            </a:r>
            <a:r>
              <a:rPr lang="en-US" dirty="0" err="1"/>
              <a:t>que</a:t>
            </a:r>
            <a:r>
              <a:rPr lang="en-US" dirty="0"/>
              <a:t> les </a:t>
            </a:r>
            <a:r>
              <a:rPr lang="en-US" dirty="0" err="1"/>
              <a:t>informations</a:t>
            </a:r>
            <a:r>
              <a:rPr lang="en-US" dirty="0"/>
              <a:t> </a:t>
            </a:r>
            <a:r>
              <a:rPr lang="en-US" dirty="0" err="1"/>
              <a:t>essentielles</a:t>
            </a:r>
            <a:r>
              <a:rPr lang="en-US" dirty="0"/>
              <a:t> </a:t>
            </a:r>
            <a:r>
              <a:rPr lang="en-US" dirty="0" err="1"/>
              <a:t>sont</a:t>
            </a:r>
            <a:r>
              <a:rPr lang="en-US" dirty="0"/>
              <a:t> </a:t>
            </a:r>
            <a:r>
              <a:rPr lang="en-US" dirty="0" err="1"/>
              <a:t>présentes</a:t>
            </a:r>
            <a:r>
              <a:rPr lang="en-US" dirty="0"/>
              <a:t>. Si un </a:t>
            </a:r>
            <a:r>
              <a:rPr lang="en-US" dirty="0" err="1"/>
              <a:t>gestionnaire</a:t>
            </a:r>
            <a:r>
              <a:rPr lang="en-US" dirty="0"/>
              <a:t>, un département </a:t>
            </a:r>
            <a:r>
              <a:rPr lang="en-US" dirty="0" err="1"/>
              <a:t>ou</a:t>
            </a:r>
            <a:r>
              <a:rPr lang="en-US" dirty="0"/>
              <a:t> un </a:t>
            </a:r>
            <a:r>
              <a:rPr lang="en-US" dirty="0" err="1"/>
              <a:t>rôle</a:t>
            </a:r>
            <a:r>
              <a:rPr lang="en-US" dirty="0"/>
              <a:t> est </a:t>
            </a:r>
            <a:r>
              <a:rPr lang="en-US" dirty="0" err="1"/>
              <a:t>manquant</a:t>
            </a:r>
            <a:r>
              <a:rPr lang="en-US" dirty="0"/>
              <a:t>, le processus est </a:t>
            </a:r>
            <a:r>
              <a:rPr lang="en-US" dirty="0" err="1"/>
              <a:t>bloqué</a:t>
            </a:r>
            <a:r>
              <a:rPr lang="en-US" dirty="0"/>
              <a:t> </a:t>
            </a:r>
            <a:r>
              <a:rPr lang="en-US" dirty="0" err="1"/>
              <a:t>afin</a:t>
            </a:r>
            <a:r>
              <a:rPr lang="en-US" dirty="0"/>
              <a:t> </a:t>
            </a:r>
            <a:r>
              <a:rPr lang="en-US" dirty="0" err="1"/>
              <a:t>d'éviter</a:t>
            </a:r>
            <a:r>
              <a:rPr lang="en-US" dirty="0"/>
              <a:t> des </a:t>
            </a:r>
            <a:r>
              <a:rPr lang="en-US" dirty="0" err="1"/>
              <a:t>erreurs</a:t>
            </a:r>
            <a:r>
              <a:rPr lang="en-US" dirty="0"/>
              <a:t> de sécurité.</a:t>
            </a:r>
          </a:p>
        </p:txBody>
      </p:sp>
      <p:sp>
        <p:nvSpPr>
          <p:cNvPr id="4" name="Slide Number Placeholder 3"/>
          <p:cNvSpPr>
            <a:spLocks noGrp="1"/>
          </p:cNvSpPr>
          <p:nvPr>
            <p:ph type="sldNum" sz="quarter" idx="5"/>
          </p:nvPr>
        </p:nvSpPr>
        <p:spPr/>
        <p:txBody>
          <a:bodyPr/>
          <a:lstStyle/>
          <a:p>
            <a:fld id="{8CADF99C-AF7E-4688-B727-7B33BD5CCDA3}" type="slidenum">
              <a:rPr lang="en-US" smtClean="0"/>
              <a:t>9</a:t>
            </a:fld>
            <a:endParaRPr lang="en-US"/>
          </a:p>
        </p:txBody>
      </p:sp>
    </p:spTree>
    <p:extLst>
      <p:ext uri="{BB962C8B-B14F-4D97-AF65-F5344CB8AC3E}">
        <p14:creationId xmlns:p14="http://schemas.microsoft.com/office/powerpoint/2010/main" val="4253024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architecture </a:t>
            </a:r>
            <a:r>
              <a:rPr lang="en-US" dirty="0" err="1"/>
              <a:t>représente</a:t>
            </a:r>
            <a:r>
              <a:rPr lang="en-US" dirty="0"/>
              <a:t> </a:t>
            </a:r>
            <a:r>
              <a:rPr lang="en-US" dirty="0" err="1"/>
              <a:t>l'évolution</a:t>
            </a:r>
            <a:r>
              <a:rPr lang="en-US" dirty="0"/>
              <a:t> du MVP vers </a:t>
            </a:r>
            <a:r>
              <a:rPr lang="en-US" dirty="0" err="1"/>
              <a:t>une</a:t>
            </a:r>
            <a:r>
              <a:rPr lang="en-US" dirty="0"/>
              <a:t> solution </a:t>
            </a:r>
            <a:r>
              <a:rPr lang="en-US" dirty="0" err="1"/>
              <a:t>d'entreprise</a:t>
            </a:r>
            <a:r>
              <a:rPr lang="en-US" dirty="0"/>
              <a:t> </a:t>
            </a:r>
            <a:r>
              <a:rPr lang="en-US" dirty="0" err="1"/>
              <a:t>intégrant</a:t>
            </a:r>
            <a:r>
              <a:rPr lang="en-US" dirty="0"/>
              <a:t> Active Directory, Microsoft Entra ID, Microsoft 365, les </a:t>
            </a:r>
            <a:r>
              <a:rPr lang="en-US" dirty="0" err="1"/>
              <a:t>systèmes</a:t>
            </a:r>
            <a:r>
              <a:rPr lang="en-US" dirty="0"/>
              <a:t> RH et les </a:t>
            </a:r>
            <a:r>
              <a:rPr lang="en-US" dirty="0" err="1"/>
              <a:t>outils</a:t>
            </a:r>
            <a:r>
              <a:rPr lang="en-US" dirty="0"/>
              <a:t> ITSM.</a:t>
            </a:r>
          </a:p>
        </p:txBody>
      </p:sp>
      <p:sp>
        <p:nvSpPr>
          <p:cNvPr id="4" name="Slide Number Placeholder 3"/>
          <p:cNvSpPr>
            <a:spLocks noGrp="1"/>
          </p:cNvSpPr>
          <p:nvPr>
            <p:ph type="sldNum" sz="quarter" idx="5"/>
          </p:nvPr>
        </p:nvSpPr>
        <p:spPr/>
        <p:txBody>
          <a:bodyPr/>
          <a:lstStyle/>
          <a:p>
            <a:fld id="{8CADF99C-AF7E-4688-B727-7B33BD5CCDA3}" type="slidenum">
              <a:rPr lang="en-US" smtClean="0"/>
              <a:t>11</a:t>
            </a:fld>
            <a:endParaRPr lang="en-US"/>
          </a:p>
        </p:txBody>
      </p:sp>
    </p:spTree>
    <p:extLst>
      <p:ext uri="{BB962C8B-B14F-4D97-AF65-F5344CB8AC3E}">
        <p14:creationId xmlns:p14="http://schemas.microsoft.com/office/powerpoint/2010/main" val="2736463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F1AA6-5CBB-A86B-9865-6AACBAE79A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8D1ECC-63D4-566C-CCD3-FB37D3CEF7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B55D25-8435-9BB5-A886-0A76519613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A6E1C0-8584-EBD6-7699-240E516AEF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719C3-F93E-3145-16B7-D6959242B997}"/>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183586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14A5B-339C-B264-082D-64B257A3F0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898D23-8973-5DC3-B7EA-6F121D81BB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148C99-FCD9-5D2E-E6C5-CBB910C7EC5B}"/>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B7F7EBCD-486B-D362-FA05-AC7480EF04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57F92E-AF75-418C-A257-18991B7A16B3}"/>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647422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0C003-B55F-D5A6-D76F-13A8F6B705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D025D6-6F0C-2153-6BD8-57551FC65B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F28483-E273-3105-E7B9-C33FA33BD7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FA8E36-F424-3678-ED4C-FF9B23E0E8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812F7-1574-D50B-420D-F155D214F4E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411639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FAE69-906E-069D-F7C5-860AD20849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6C791C-FFE0-9EC3-D233-3FBB6306289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47FFE4E-6DAB-53E3-9E1E-D4831B296A8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658C8FB-326C-6CA9-AF81-BD204DD7110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1AC363D-96ED-DDB6-5B38-4FD58A3DDF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4B866-07A5-C97F-0795-1AF5E04D924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639331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7A5D2-A258-7322-C81C-44353957D0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70AAE-9CB6-0FB8-7E32-C2365114E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57118A-2760-CD93-2F0B-7DCB8D9CBA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FAF4D9-DF33-D0BF-AB98-9C7B5A045F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0F2C00-DDBA-702A-C077-CD24E658D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A3FA4C7-73F1-2F94-1259-6CA7C49F38C4}"/>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8" name="Footer Placeholder 7">
            <a:extLst>
              <a:ext uri="{FF2B5EF4-FFF2-40B4-BE49-F238E27FC236}">
                <a16:creationId xmlns:a16="http://schemas.microsoft.com/office/drawing/2014/main" id="{9AE55F99-7D57-E9FC-DDCD-B9800EA0BF0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9897C3-838D-8514-3E1F-16B18CCD0EDA}"/>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928398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96BE3-B317-C366-D8E1-0BE2621F59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6D412A-0BB9-90B6-FE54-8AF30F7443F6}"/>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4" name="Footer Placeholder 3">
            <a:extLst>
              <a:ext uri="{FF2B5EF4-FFF2-40B4-BE49-F238E27FC236}">
                <a16:creationId xmlns:a16="http://schemas.microsoft.com/office/drawing/2014/main" id="{007F6CB3-0733-14D2-5278-BA35F835D37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B1FCD-0D5F-B68C-7C4D-ACF08303E97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003865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63C2D8-6B7D-E6B5-B1A0-E3534BDA311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3" name="Footer Placeholder 2">
            <a:extLst>
              <a:ext uri="{FF2B5EF4-FFF2-40B4-BE49-F238E27FC236}">
                <a16:creationId xmlns:a16="http://schemas.microsoft.com/office/drawing/2014/main" id="{83AAE7AA-3FB9-BE8F-8593-1F91DD64F0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DB5D852-15AB-C27B-B717-454FFA86F062}"/>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284891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2E359-9873-302A-B755-3EBB07293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B6A92BA-2FF5-BC5C-981F-D1573E2C80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4FAEE0-F29B-DD65-CB9E-593BE92D47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9A8B39-870D-46D1-CB54-9F06D067C6BA}"/>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F5F2D39-697F-5276-3077-6BAA8C0041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68A36-0374-19B7-8139-CB7CE5D9D1BD}"/>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891636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CAEF-4720-6C63-54BD-80DAB43422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818B7B-0426-6590-BDD1-35399D8B21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417E12-40C3-1CB6-8541-7B0427411C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C2761-1F00-9B7C-74F5-5967A1724788}"/>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68653337-BD91-FF64-176C-AD62E5858B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1AA430-3A2F-91D9-1DEA-7F6E73818DC0}"/>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592561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BAB36-7F86-472C-7B7F-2D248B870D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DBEF793-CD08-8487-A6DC-7E66FFE569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9A58AB-8F11-A76B-C046-D933FC365AED}"/>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3A5D53E0-E7E8-583A-088F-6977B20B86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102372-00A1-2547-ABFE-ADD839AAAF5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690799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21DC8A-6EFF-B657-97AF-0D982500E3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D9F3373-B825-EE2E-B94A-57268773AF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FE750B-CA75-0F31-049A-5B9150DE2DD9}"/>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E41F94B-4413-4BB4-D61C-9ABB9BFBA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EF7C1-6794-FB71-B301-3A8AC0AF2EDC}"/>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722223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AA0512-A38F-EBCC-626E-B330825DA7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8EAFF7-CC21-78B2-B498-24A56FFA3A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6281AB-E118-EB6D-7B5F-BAE65DB970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84F2705-EF30-6C6A-1E0E-12CA0178F3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842FC6-C7BA-090A-CD19-5508F0705F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A19B3E-6694-4471-BB2F-E72CC5650E27}" type="slidenum">
              <a:rPr lang="en-US" smtClean="0"/>
              <a:t>‹#›</a:t>
            </a:fld>
            <a:endParaRPr lang="en-US"/>
          </a:p>
        </p:txBody>
      </p:sp>
    </p:spTree>
    <p:extLst>
      <p:ext uri="{BB962C8B-B14F-4D97-AF65-F5344CB8AC3E}">
        <p14:creationId xmlns:p14="http://schemas.microsoft.com/office/powerpoint/2010/main" val="1433684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FD6C1-910B-B0BB-BF38-A277753C0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D33C49-147B-F884-54AE-6DE910C37259}"/>
              </a:ext>
            </a:extLst>
          </p:cNvPr>
          <p:cNvSpPr>
            <a:spLocks noGrp="1"/>
          </p:cNvSpPr>
          <p:nvPr>
            <p:ph type="ctrTitle"/>
          </p:nvPr>
        </p:nvSpPr>
        <p:spPr>
          <a:xfrm>
            <a:off x="1445342" y="188299"/>
            <a:ext cx="9144000" cy="1748656"/>
          </a:xfrm>
        </p:spPr>
        <p:txBody>
          <a:bodyPr>
            <a:normAutofit/>
          </a:bodyPr>
          <a:lstStyle/>
          <a:p>
            <a:r>
              <a:rPr lang="en-US" dirty="0" err="1"/>
              <a:t>Automatisation</a:t>
            </a:r>
            <a:r>
              <a:rPr lang="en-US" dirty="0"/>
              <a:t> du Cycle de Vie des Identités (IAM)</a:t>
            </a:r>
          </a:p>
        </p:txBody>
      </p:sp>
      <p:sp>
        <p:nvSpPr>
          <p:cNvPr id="3" name="Subtitle 2">
            <a:extLst>
              <a:ext uri="{FF2B5EF4-FFF2-40B4-BE49-F238E27FC236}">
                <a16:creationId xmlns:a16="http://schemas.microsoft.com/office/drawing/2014/main" id="{749AE7DB-FF34-E29B-47F8-07EF775150E7}"/>
              </a:ext>
            </a:extLst>
          </p:cNvPr>
          <p:cNvSpPr>
            <a:spLocks noGrp="1"/>
          </p:cNvSpPr>
          <p:nvPr>
            <p:ph type="subTitle" idx="1"/>
          </p:nvPr>
        </p:nvSpPr>
        <p:spPr>
          <a:xfrm>
            <a:off x="1524000" y="2143433"/>
            <a:ext cx="9144000" cy="4237702"/>
          </a:xfrm>
        </p:spPr>
        <p:txBody>
          <a:bodyPr>
            <a:normAutofit fontScale="92500" lnSpcReduction="20000"/>
          </a:bodyPr>
          <a:lstStyle/>
          <a:p>
            <a:pPr algn="l"/>
            <a:r>
              <a:rPr lang="fr-FR" dirty="0"/>
              <a:t>Automatisation du Cycle de Vie des Identités (IAM)</a:t>
            </a:r>
          </a:p>
          <a:p>
            <a:pPr algn="l"/>
            <a:endParaRPr lang="fr-FR" dirty="0"/>
          </a:p>
          <a:p>
            <a:pPr algn="l"/>
            <a:r>
              <a:rPr lang="fr-FR" dirty="0"/>
              <a:t>Preuve de Concept (PoC)</a:t>
            </a:r>
          </a:p>
          <a:p>
            <a:pPr algn="l"/>
            <a:endParaRPr lang="fr-FR" dirty="0"/>
          </a:p>
          <a:p>
            <a:pPr algn="l"/>
            <a:r>
              <a:rPr lang="fr-FR" dirty="0"/>
              <a:t>Secteur de la Santé</a:t>
            </a:r>
          </a:p>
          <a:p>
            <a:pPr algn="l"/>
            <a:endParaRPr lang="fr-FR" dirty="0"/>
          </a:p>
          <a:p>
            <a:pPr algn="l"/>
            <a:r>
              <a:rPr lang="fr-FR" dirty="0"/>
              <a:t>Gestion des Identités et des Accès</a:t>
            </a:r>
          </a:p>
          <a:p>
            <a:pPr algn="l"/>
            <a:r>
              <a:rPr lang="fr-FR" dirty="0"/>
              <a:t>Joiner • Mover • Leaver • RBAC • Gouvernance</a:t>
            </a:r>
          </a:p>
          <a:p>
            <a:pPr algn="l"/>
            <a:endParaRPr lang="fr-FR" dirty="0"/>
          </a:p>
          <a:p>
            <a:pPr algn="l"/>
            <a:r>
              <a:rPr lang="fr-FR" dirty="0"/>
              <a:t>Présenté par</a:t>
            </a:r>
          </a:p>
          <a:p>
            <a:pPr algn="l"/>
            <a:r>
              <a:rPr lang="fr-FR" dirty="0"/>
              <a:t>Gervais Francis Kangaya</a:t>
            </a:r>
            <a:endParaRPr lang="en-US" dirty="0"/>
          </a:p>
        </p:txBody>
      </p:sp>
    </p:spTree>
    <p:extLst>
      <p:ext uri="{BB962C8B-B14F-4D97-AF65-F5344CB8AC3E}">
        <p14:creationId xmlns:p14="http://schemas.microsoft.com/office/powerpoint/2010/main" val="138673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8AEA7-7509-F111-B704-0A8955FBA39B}"/>
              </a:ext>
            </a:extLst>
          </p:cNvPr>
          <p:cNvSpPr>
            <a:spLocks noGrp="1"/>
          </p:cNvSpPr>
          <p:nvPr>
            <p:ph type="ctrTitle"/>
          </p:nvPr>
        </p:nvSpPr>
        <p:spPr>
          <a:xfrm>
            <a:off x="1524000" y="406400"/>
            <a:ext cx="9144000" cy="950452"/>
          </a:xfrm>
        </p:spPr>
        <p:txBody>
          <a:bodyPr/>
          <a:lstStyle/>
          <a:p>
            <a:r>
              <a:rPr lang="en-US" dirty="0" err="1"/>
              <a:t>Défis</a:t>
            </a:r>
            <a:r>
              <a:rPr lang="en-US" dirty="0"/>
              <a:t> Métier</a:t>
            </a:r>
          </a:p>
        </p:txBody>
      </p:sp>
      <p:sp>
        <p:nvSpPr>
          <p:cNvPr id="3" name="Subtitle 2">
            <a:extLst>
              <a:ext uri="{FF2B5EF4-FFF2-40B4-BE49-F238E27FC236}">
                <a16:creationId xmlns:a16="http://schemas.microsoft.com/office/drawing/2014/main" id="{6B25A04E-17DD-3B68-1208-602956B4833B}"/>
              </a:ext>
            </a:extLst>
          </p:cNvPr>
          <p:cNvSpPr>
            <a:spLocks noGrp="1"/>
          </p:cNvSpPr>
          <p:nvPr>
            <p:ph type="subTitle" idx="1"/>
          </p:nvPr>
        </p:nvSpPr>
        <p:spPr>
          <a:xfrm>
            <a:off x="1524000" y="1543665"/>
            <a:ext cx="9144000" cy="4109883"/>
          </a:xfrm>
        </p:spPr>
        <p:txBody>
          <a:bodyPr>
            <a:normAutofit fontScale="92500" lnSpcReduction="10000"/>
          </a:bodyPr>
          <a:lstStyle/>
          <a:p>
            <a:pPr algn="l"/>
            <a:r>
              <a:rPr lang="fr-FR" dirty="0"/>
              <a:t>Les établissements de santé font face à plusieurs défis :</a:t>
            </a:r>
          </a:p>
          <a:p>
            <a:pPr algn="l"/>
            <a:endParaRPr lang="fr-FR" dirty="0"/>
          </a:p>
          <a:p>
            <a:pPr algn="l"/>
            <a:r>
              <a:rPr lang="fr-FR" dirty="0"/>
              <a:t>• Création manuelle des comptes</a:t>
            </a:r>
          </a:p>
          <a:p>
            <a:pPr algn="l"/>
            <a:r>
              <a:rPr lang="fr-FR" dirty="0"/>
              <a:t>• Attribution tardive des accès</a:t>
            </a:r>
          </a:p>
          <a:p>
            <a:pPr algn="l"/>
            <a:r>
              <a:rPr lang="fr-FR" dirty="0"/>
              <a:t>• Permissions excessives</a:t>
            </a:r>
          </a:p>
          <a:p>
            <a:pPr algn="l"/>
            <a:r>
              <a:rPr lang="fr-FR" dirty="0"/>
              <a:t>• Comptes orphelins après le départ d'employés</a:t>
            </a:r>
          </a:p>
          <a:p>
            <a:pPr algn="l"/>
            <a:r>
              <a:rPr lang="fr-FR" dirty="0"/>
              <a:t>• Difficultés d'audit et de conformité</a:t>
            </a:r>
          </a:p>
          <a:p>
            <a:pPr algn="l"/>
            <a:r>
              <a:rPr lang="fr-FR" dirty="0"/>
              <a:t>• Risques d'erreurs humaines</a:t>
            </a:r>
          </a:p>
          <a:p>
            <a:pPr algn="l"/>
            <a:endParaRPr lang="fr-FR" dirty="0"/>
          </a:p>
          <a:p>
            <a:pPr algn="l"/>
            <a:r>
              <a:rPr lang="fr-FR" dirty="0"/>
              <a:t>Ces défis augmentent les risques de sécurité et les coûts opérationnels.</a:t>
            </a:r>
            <a:endParaRPr lang="en-US" dirty="0"/>
          </a:p>
        </p:txBody>
      </p:sp>
    </p:spTree>
    <p:extLst>
      <p:ext uri="{BB962C8B-B14F-4D97-AF65-F5344CB8AC3E}">
        <p14:creationId xmlns:p14="http://schemas.microsoft.com/office/powerpoint/2010/main" val="33778130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66DB36-33CA-6B6B-73C2-EB3E2E6AE9A8}"/>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DF91F20-B96F-4F77-AC3E-2CDD3BAA1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3D487F7-9050-4871-B351-34A72ADB2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43C27DD-EF6A-4C48-9669-C2970E71A8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C84384FE-1C88-4CAA-8FB8-2313A3AE7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87B6A113-58CD-406C-BCE4-6E1F1F2BE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90FF9F4-42B1-FBAC-20F2-61BF71051E67}"/>
              </a:ext>
            </a:extLst>
          </p:cNvPr>
          <p:cNvSpPr>
            <a:spLocks noGrp="1"/>
          </p:cNvSpPr>
          <p:nvPr>
            <p:ph type="ctrTitle"/>
          </p:nvPr>
        </p:nvSpPr>
        <p:spPr>
          <a:xfrm>
            <a:off x="1011948" y="857251"/>
            <a:ext cx="6219582" cy="3160113"/>
          </a:xfrm>
        </p:spPr>
        <p:txBody>
          <a:bodyPr anchor="b">
            <a:normAutofit/>
          </a:bodyPr>
          <a:lstStyle/>
          <a:p>
            <a:pPr algn="l"/>
            <a:r>
              <a:rPr lang="en-US" sz="4800">
                <a:solidFill>
                  <a:srgbClr val="FFFFFF"/>
                </a:solidFill>
              </a:rPr>
              <a:t>Vue d’Ensemble de la Solution</a:t>
            </a:r>
          </a:p>
        </p:txBody>
      </p:sp>
      <p:sp>
        <p:nvSpPr>
          <p:cNvPr id="35" name="Rectangle 34">
            <a:extLst>
              <a:ext uri="{FF2B5EF4-FFF2-40B4-BE49-F238E27FC236}">
                <a16:creationId xmlns:a16="http://schemas.microsoft.com/office/drawing/2014/main" id="{05A1AA86-B7E6-4C02-AA34-F1A25CD4CC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6">
            <a:extLst>
              <a:ext uri="{FF2B5EF4-FFF2-40B4-BE49-F238E27FC236}">
                <a16:creationId xmlns:a16="http://schemas.microsoft.com/office/drawing/2014/main" id="{BB06E2AE-6DB9-FDE5-F89B-EAD160B0D055}"/>
              </a:ext>
            </a:extLst>
          </p:cNvPr>
          <p:cNvSpPr>
            <a:spLocks noGrp="1"/>
          </p:cNvSpPr>
          <p:nvPr>
            <p:ph type="subTitle" idx="1"/>
          </p:nvPr>
        </p:nvSpPr>
        <p:spPr>
          <a:xfrm>
            <a:off x="1105661" y="4800600"/>
            <a:ext cx="5179879" cy="1200149"/>
          </a:xfrm>
        </p:spPr>
        <p:txBody>
          <a:bodyPr anchor="t">
            <a:normAutofit/>
          </a:bodyPr>
          <a:lstStyle/>
          <a:p>
            <a:pPr algn="l"/>
            <a:endParaRPr lang="en-US">
              <a:solidFill>
                <a:srgbClr val="FFFFFF"/>
              </a:solidFill>
            </a:endParaRPr>
          </a:p>
        </p:txBody>
      </p:sp>
      <p:pic>
        <p:nvPicPr>
          <p:cNvPr id="5" name="Picture 4">
            <a:extLst>
              <a:ext uri="{FF2B5EF4-FFF2-40B4-BE49-F238E27FC236}">
                <a16:creationId xmlns:a16="http://schemas.microsoft.com/office/drawing/2014/main" id="{4767D998-7D07-7EC4-699F-EB1AB3575100}"/>
              </a:ext>
            </a:extLst>
          </p:cNvPr>
          <p:cNvPicPr>
            <a:picLocks noChangeAspect="1"/>
          </p:cNvPicPr>
          <p:nvPr/>
        </p:nvPicPr>
        <p:blipFill>
          <a:blip r:embed="rId2"/>
          <a:stretch>
            <a:fillRect/>
          </a:stretch>
        </p:blipFill>
        <p:spPr>
          <a:xfrm>
            <a:off x="8560981" y="905373"/>
            <a:ext cx="3173819" cy="5047254"/>
          </a:xfrm>
          <a:prstGeom prst="rect">
            <a:avLst/>
          </a:prstGeom>
        </p:spPr>
      </p:pic>
    </p:spTree>
    <p:extLst>
      <p:ext uri="{BB962C8B-B14F-4D97-AF65-F5344CB8AC3E}">
        <p14:creationId xmlns:p14="http://schemas.microsoft.com/office/powerpoint/2010/main" val="228725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A31B07-FEDF-8094-A1BB-931D801D1C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55C5EC-BD62-8D6B-F1C4-8AEA6E38949B}"/>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Local MVP Architecture</a:t>
            </a:r>
          </a:p>
        </p:txBody>
      </p:sp>
      <p:sp>
        <p:nvSpPr>
          <p:cNvPr id="3" name="Subtitle 2">
            <a:extLst>
              <a:ext uri="{FF2B5EF4-FFF2-40B4-BE49-F238E27FC236}">
                <a16:creationId xmlns:a16="http://schemas.microsoft.com/office/drawing/2014/main" id="{0F99365E-07E3-42C0-7A67-BBAE846CFBC6}"/>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AFCA4B0F-95E7-A1C4-A95C-03FF85695A7A}"/>
              </a:ext>
            </a:extLst>
          </p:cNvPr>
          <p:cNvPicPr>
            <a:picLocks noChangeAspect="1"/>
          </p:cNvPicPr>
          <p:nvPr/>
        </p:nvPicPr>
        <p:blipFill>
          <a:blip r:embed="rId2"/>
          <a:stretch>
            <a:fillRect/>
          </a:stretch>
        </p:blipFill>
        <p:spPr>
          <a:xfrm>
            <a:off x="478535" y="1973342"/>
            <a:ext cx="11327549" cy="4417742"/>
          </a:xfrm>
          <a:prstGeom prst="rect">
            <a:avLst/>
          </a:prstGeom>
        </p:spPr>
      </p:pic>
    </p:spTree>
    <p:extLst>
      <p:ext uri="{BB962C8B-B14F-4D97-AF65-F5344CB8AC3E}">
        <p14:creationId xmlns:p14="http://schemas.microsoft.com/office/powerpoint/2010/main" val="181431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6840E-61A4-79EC-4576-E20FA440EC1F}"/>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2958DF8-3FA7-B527-C0B7-2E9974914535}"/>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Joiner Workflow</a:t>
            </a:r>
          </a:p>
        </p:txBody>
      </p:sp>
      <p:sp>
        <p:nvSpPr>
          <p:cNvPr id="3" name="Subtitle 2">
            <a:extLst>
              <a:ext uri="{FF2B5EF4-FFF2-40B4-BE49-F238E27FC236}">
                <a16:creationId xmlns:a16="http://schemas.microsoft.com/office/drawing/2014/main" id="{42FB810B-773C-56BE-DE24-F588482D3D1D}"/>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CD11E1C4-AE5B-4383-9430-6AC32492D84A}"/>
              </a:ext>
            </a:extLst>
          </p:cNvPr>
          <p:cNvPicPr>
            <a:picLocks noChangeAspect="1"/>
          </p:cNvPicPr>
          <p:nvPr/>
        </p:nvPicPr>
        <p:blipFill>
          <a:blip r:embed="rId3"/>
          <a:stretch>
            <a:fillRect/>
          </a:stretch>
        </p:blipFill>
        <p:spPr>
          <a:xfrm>
            <a:off x="4870988" y="0"/>
            <a:ext cx="6386292" cy="6705600"/>
          </a:xfrm>
          <a:prstGeom prst="rect">
            <a:avLst/>
          </a:prstGeom>
        </p:spPr>
      </p:pic>
    </p:spTree>
    <p:extLst>
      <p:ext uri="{BB962C8B-B14F-4D97-AF65-F5344CB8AC3E}">
        <p14:creationId xmlns:p14="http://schemas.microsoft.com/office/powerpoint/2010/main" val="148237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FEB4E-CF6E-D015-38CC-16F47749656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38D403-1F08-8657-138A-3C1C500B41F7}"/>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Mover Workflow</a:t>
            </a:r>
          </a:p>
        </p:txBody>
      </p:sp>
      <p:sp>
        <p:nvSpPr>
          <p:cNvPr id="3" name="Subtitle 2">
            <a:extLst>
              <a:ext uri="{FF2B5EF4-FFF2-40B4-BE49-F238E27FC236}">
                <a16:creationId xmlns:a16="http://schemas.microsoft.com/office/drawing/2014/main" id="{84468651-2CC9-2E73-7D8A-D548EA6F0F2F}"/>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389B2645-F115-7204-8A61-26EE0B28DC15}"/>
              </a:ext>
            </a:extLst>
          </p:cNvPr>
          <p:cNvPicPr>
            <a:picLocks noChangeAspect="1"/>
          </p:cNvPicPr>
          <p:nvPr/>
        </p:nvPicPr>
        <p:blipFill>
          <a:blip r:embed="rId2"/>
          <a:stretch>
            <a:fillRect/>
          </a:stretch>
        </p:blipFill>
        <p:spPr>
          <a:xfrm>
            <a:off x="5156965" y="280067"/>
            <a:ext cx="5328155" cy="6595752"/>
          </a:xfrm>
          <a:prstGeom prst="rect">
            <a:avLst/>
          </a:prstGeom>
        </p:spPr>
      </p:pic>
    </p:spTree>
    <p:extLst>
      <p:ext uri="{BB962C8B-B14F-4D97-AF65-F5344CB8AC3E}">
        <p14:creationId xmlns:p14="http://schemas.microsoft.com/office/powerpoint/2010/main" val="2467950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23413-D518-1B48-2CDF-8A36B25F17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2D57C3-60FB-8AE0-E2DB-40F6A6914AEF}"/>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Leaver Workflow</a:t>
            </a:r>
          </a:p>
        </p:txBody>
      </p:sp>
      <p:sp>
        <p:nvSpPr>
          <p:cNvPr id="3" name="Subtitle 2">
            <a:extLst>
              <a:ext uri="{FF2B5EF4-FFF2-40B4-BE49-F238E27FC236}">
                <a16:creationId xmlns:a16="http://schemas.microsoft.com/office/drawing/2014/main" id="{81CC693F-9D23-90AA-0F89-63EB20C505AC}"/>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03B9D63C-08E3-D2CC-4E9A-E5028718A87E}"/>
              </a:ext>
            </a:extLst>
          </p:cNvPr>
          <p:cNvPicPr>
            <a:picLocks noChangeAspect="1"/>
          </p:cNvPicPr>
          <p:nvPr/>
        </p:nvPicPr>
        <p:blipFill>
          <a:blip r:embed="rId2"/>
          <a:stretch>
            <a:fillRect/>
          </a:stretch>
        </p:blipFill>
        <p:spPr>
          <a:xfrm>
            <a:off x="5953760" y="91440"/>
            <a:ext cx="4368800" cy="6583680"/>
          </a:xfrm>
          <a:prstGeom prst="rect">
            <a:avLst/>
          </a:prstGeom>
        </p:spPr>
      </p:pic>
    </p:spTree>
    <p:extLst>
      <p:ext uri="{BB962C8B-B14F-4D97-AF65-F5344CB8AC3E}">
        <p14:creationId xmlns:p14="http://schemas.microsoft.com/office/powerpoint/2010/main" val="28702570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342E6F-447A-B870-8447-8EAA06EC5F2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F78AAB-EAAE-0BB9-8B22-86F99FC0694B}"/>
              </a:ext>
            </a:extLst>
          </p:cNvPr>
          <p:cNvSpPr>
            <a:spLocks noGrp="1"/>
          </p:cNvSpPr>
          <p:nvPr>
            <p:ph type="ctrTitle"/>
          </p:nvPr>
        </p:nvSpPr>
        <p:spPr>
          <a:xfrm>
            <a:off x="640080" y="320040"/>
            <a:ext cx="6692827" cy="3892669"/>
          </a:xfrm>
        </p:spPr>
        <p:txBody>
          <a:bodyPr>
            <a:normAutofit/>
          </a:bodyPr>
          <a:lstStyle/>
          <a:p>
            <a:pPr algn="l"/>
            <a:r>
              <a:rPr lang="en-US" sz="6600"/>
              <a:t>Contrôle d’Accès Basé sur les Rôles (RBAC)</a:t>
            </a:r>
          </a:p>
        </p:txBody>
      </p:sp>
      <p:sp>
        <p:nvSpPr>
          <p:cNvPr id="3" name="Subtitle 2">
            <a:extLst>
              <a:ext uri="{FF2B5EF4-FFF2-40B4-BE49-F238E27FC236}">
                <a16:creationId xmlns:a16="http://schemas.microsoft.com/office/drawing/2014/main" id="{7CCD6606-A33B-614D-954B-36C549363296}"/>
              </a:ext>
            </a:extLst>
          </p:cNvPr>
          <p:cNvSpPr>
            <a:spLocks noGrp="1"/>
          </p:cNvSpPr>
          <p:nvPr>
            <p:ph type="subTitle" idx="1"/>
          </p:nvPr>
        </p:nvSpPr>
        <p:spPr>
          <a:xfrm>
            <a:off x="640080" y="4532750"/>
            <a:ext cx="6692827" cy="2005210"/>
          </a:xfrm>
        </p:spPr>
        <p:txBody>
          <a:bodyPr>
            <a:normAutofit fontScale="70000" lnSpcReduction="20000"/>
          </a:bodyPr>
          <a:lstStyle/>
          <a:p>
            <a:pPr algn="l"/>
            <a:r>
              <a:rPr lang="fr-FR" dirty="0"/>
              <a:t>Les accès sont attribués automatiquement selon les responsabilités du poste.</a:t>
            </a:r>
          </a:p>
          <a:p>
            <a:pPr algn="l"/>
            <a:endParaRPr lang="fr-FR" dirty="0"/>
          </a:p>
          <a:p>
            <a:pPr algn="l"/>
            <a:r>
              <a:rPr lang="fr-FR" dirty="0"/>
              <a:t>Principe du moindre privilège</a:t>
            </a:r>
          </a:p>
          <a:p>
            <a:pPr algn="l"/>
            <a:endParaRPr lang="fr-FR" dirty="0"/>
          </a:p>
          <a:p>
            <a:pPr algn="l"/>
            <a:r>
              <a:rPr lang="fr-FR" dirty="0"/>
              <a:t>Chaque employé reçoit uniquement les accès nécessaires à l'exercice de ses fonctions.</a:t>
            </a:r>
            <a:endParaRPr lang="en-US" dirty="0"/>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CFC62470-5539-2F14-D8B2-CF2BC4C0094C}"/>
              </a:ext>
            </a:extLst>
          </p:cNvPr>
          <p:cNvGraphicFramePr>
            <a:graphicFrameLocks noGrp="1"/>
          </p:cNvGraphicFramePr>
          <p:nvPr>
            <p:extLst>
              <p:ext uri="{D42A27DB-BD31-4B8C-83A1-F6EECF244321}">
                <p14:modId xmlns:p14="http://schemas.microsoft.com/office/powerpoint/2010/main" val="3194775741"/>
              </p:ext>
            </p:extLst>
          </p:nvPr>
        </p:nvGraphicFramePr>
        <p:xfrm>
          <a:off x="7781544" y="1550456"/>
          <a:ext cx="4087369" cy="3520618"/>
        </p:xfrm>
        <a:graphic>
          <a:graphicData uri="http://schemas.openxmlformats.org/drawingml/2006/table">
            <a:tbl>
              <a:tblPr>
                <a:solidFill>
                  <a:schemeClr val="bg1"/>
                </a:solidFill>
              </a:tblPr>
              <a:tblGrid>
                <a:gridCol w="1375515">
                  <a:extLst>
                    <a:ext uri="{9D8B030D-6E8A-4147-A177-3AD203B41FA5}">
                      <a16:colId xmlns:a16="http://schemas.microsoft.com/office/drawing/2014/main" val="2595530736"/>
                    </a:ext>
                  </a:extLst>
                </a:gridCol>
                <a:gridCol w="2711854">
                  <a:extLst>
                    <a:ext uri="{9D8B030D-6E8A-4147-A177-3AD203B41FA5}">
                      <a16:colId xmlns:a16="http://schemas.microsoft.com/office/drawing/2014/main" val="1755134806"/>
                    </a:ext>
                  </a:extLst>
                </a:gridCol>
              </a:tblGrid>
              <a:tr h="415913">
                <a:tc>
                  <a:txBody>
                    <a:bodyPr/>
                    <a:lstStyle/>
                    <a:p>
                      <a:pPr>
                        <a:buNone/>
                      </a:pPr>
                      <a:r>
                        <a:rPr lang="en-US" sz="1300" cap="none" spc="0">
                          <a:solidFill>
                            <a:schemeClr val="tx1"/>
                          </a:solidFill>
                        </a:rPr>
                        <a:t>Rôle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Groupes attribués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4122563176"/>
                  </a:ext>
                </a:extLst>
              </a:tr>
              <a:tr h="620941">
                <a:tc>
                  <a:txBody>
                    <a:bodyPr/>
                    <a:lstStyle/>
                    <a:p>
                      <a:pPr>
                        <a:buNone/>
                      </a:pPr>
                      <a:r>
                        <a:rPr lang="en-US" sz="1300" cap="none" spc="0">
                          <a:solidFill>
                            <a:schemeClr val="tx1"/>
                          </a:solidFill>
                        </a:rPr>
                        <a:t>Infirmier(ère)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GRP_PATIENT_PORTAL</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2626155050"/>
                  </a:ext>
                </a:extLst>
              </a:tr>
              <a:tr h="620941">
                <a:tc>
                  <a:txBody>
                    <a:bodyPr/>
                    <a:lstStyle/>
                    <a:p>
                      <a:pPr>
                        <a:buNone/>
                      </a:pPr>
                      <a:r>
                        <a:rPr lang="en-US" sz="1300" cap="none" spc="0">
                          <a:solidFill>
                            <a:schemeClr val="tx1"/>
                          </a:solidFill>
                        </a:rPr>
                        <a:t>Chef infirmier</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GRP_NURSE_SUPERVISORS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404220927"/>
                  </a:ext>
                </a:extLst>
              </a:tr>
              <a:tr h="620941">
                <a:tc>
                  <a:txBody>
                    <a:bodyPr/>
                    <a:lstStyle/>
                    <a:p>
                      <a:pPr>
                        <a:buNone/>
                      </a:pPr>
                      <a:r>
                        <a:rPr lang="en-US" sz="1300" cap="none" spc="0">
                          <a:solidFill>
                            <a:schemeClr val="tx1"/>
                          </a:solidFill>
                        </a:rPr>
                        <a:t>Analyste IAM</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GRP_IT_IAM, GRP_ADMIN_TOOLS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063993586"/>
                  </a:ext>
                </a:extLst>
              </a:tr>
              <a:tr h="620941">
                <a:tc>
                  <a:txBody>
                    <a:bodyPr/>
                    <a:lstStyle/>
                    <a:p>
                      <a:pPr>
                        <a:buNone/>
                      </a:pPr>
                      <a:r>
                        <a:rPr lang="en-US" sz="1300" cap="none" spc="0">
                          <a:solidFill>
                            <a:schemeClr val="tx1"/>
                          </a:solidFill>
                        </a:rPr>
                        <a:t>Technicien de laboratoire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GRP_LAB, GRP_LAB_SYSTEM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116536684"/>
                  </a:ext>
                </a:extLst>
              </a:tr>
              <a:tr h="620941">
                <a:tc>
                  <a:txBody>
                    <a:bodyPr/>
                    <a:lstStyle/>
                    <a:p>
                      <a:pPr>
                        <a:buNone/>
                      </a:pPr>
                      <a:r>
                        <a:rPr lang="en-US" sz="1300" cap="none" spc="0">
                          <a:solidFill>
                            <a:schemeClr val="tx1"/>
                          </a:solidFill>
                        </a:rPr>
                        <a:t>Comptable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GRP_FINANCE, GRP_FINANCE_SYSTEM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796771452"/>
                  </a:ext>
                </a:extLst>
              </a:tr>
            </a:tbl>
          </a:graphicData>
        </a:graphic>
      </p:graphicFrame>
    </p:spTree>
    <p:extLst>
      <p:ext uri="{BB962C8B-B14F-4D97-AF65-F5344CB8AC3E}">
        <p14:creationId xmlns:p14="http://schemas.microsoft.com/office/powerpoint/2010/main" val="2543683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A8C76-0BC3-33FA-C909-914D24E5CC34}"/>
            </a:ext>
          </a:extLst>
        </p:cNvPr>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Freeform: Shape 4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Rectangle 4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21D162-DF61-7F3D-4F82-10EF44D6D4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Contrôles de Gouvernance</a:t>
            </a:r>
          </a:p>
        </p:txBody>
      </p:sp>
      <p:sp>
        <p:nvSpPr>
          <p:cNvPr id="3" name="Subtitle 2">
            <a:extLst>
              <a:ext uri="{FF2B5EF4-FFF2-40B4-BE49-F238E27FC236}">
                <a16:creationId xmlns:a16="http://schemas.microsoft.com/office/drawing/2014/main" id="{524D62E4-A2F1-7B5B-1EEA-3C6BBF949F57}"/>
              </a:ext>
            </a:extLst>
          </p:cNvPr>
          <p:cNvSpPr>
            <a:spLocks noGrp="1"/>
          </p:cNvSpPr>
          <p:nvPr>
            <p:ph type="subTitle" idx="1"/>
          </p:nvPr>
        </p:nvSpPr>
        <p:spPr>
          <a:xfrm>
            <a:off x="4134811" y="649481"/>
            <a:ext cx="6154388" cy="5517640"/>
          </a:xfrm>
        </p:spPr>
        <p:txBody>
          <a:bodyPr vert="horz" lIns="91440" tIns="45720" rIns="91440" bIns="45720" rtlCol="0" anchor="ctr">
            <a:noAutofit/>
          </a:bodyPr>
          <a:lstStyle/>
          <a:p>
            <a:pPr indent="-228600" algn="l">
              <a:buFont typeface="Arial" panose="020B0604020202020204" pitchFamily="34" charset="0"/>
              <a:buChar char="•"/>
            </a:pPr>
            <a:r>
              <a:rPr lang="en-US" sz="1400" dirty="0"/>
              <a:t>Le </a:t>
            </a:r>
            <a:r>
              <a:rPr lang="en-US" sz="1400" dirty="0" err="1"/>
              <a:t>système</a:t>
            </a:r>
            <a:r>
              <a:rPr lang="en-US" sz="1400" dirty="0"/>
              <a:t> </a:t>
            </a:r>
            <a:r>
              <a:rPr lang="en-US" sz="1400" dirty="0" err="1"/>
              <a:t>valide</a:t>
            </a:r>
            <a:r>
              <a:rPr lang="en-US" sz="1400" dirty="0"/>
              <a:t> les données RH avant toute attribution </a:t>
            </a:r>
            <a:r>
              <a:rPr lang="en-US" sz="1400" dirty="0" err="1"/>
              <a:t>d'accès</a:t>
            </a:r>
            <a:r>
              <a:rPr lang="en-US" sz="1400" dirty="0"/>
              <a:t>.</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err="1"/>
              <a:t>Contrôles</a:t>
            </a:r>
            <a:r>
              <a:rPr lang="en-US" sz="1400" dirty="0"/>
              <a:t> </a:t>
            </a:r>
            <a:r>
              <a:rPr lang="en-US" sz="1400" dirty="0" err="1"/>
              <a:t>obligatoires</a:t>
            </a:r>
            <a:r>
              <a:rPr lang="en-US" sz="1400" dirty="0"/>
              <a:t> :</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a:t>✓ </a:t>
            </a:r>
            <a:r>
              <a:rPr lang="en-US" sz="1400" dirty="0" err="1"/>
              <a:t>Gestionnaire</a:t>
            </a:r>
            <a:endParaRPr lang="en-US" sz="1400" dirty="0"/>
          </a:p>
          <a:p>
            <a:pPr indent="-228600" algn="l">
              <a:buFont typeface="Arial" panose="020B0604020202020204" pitchFamily="34" charset="0"/>
              <a:buChar char="•"/>
            </a:pPr>
            <a:r>
              <a:rPr lang="en-US" sz="1400" dirty="0"/>
              <a:t>✓ Département</a:t>
            </a:r>
          </a:p>
          <a:p>
            <a:pPr indent="-228600" algn="l">
              <a:buFont typeface="Arial" panose="020B0604020202020204" pitchFamily="34" charset="0"/>
              <a:buChar char="•"/>
            </a:pPr>
            <a:r>
              <a:rPr lang="en-US" sz="1400" dirty="0"/>
              <a:t>✓ </a:t>
            </a:r>
            <a:r>
              <a:rPr lang="en-US" sz="1400" dirty="0" err="1"/>
              <a:t>Titre</a:t>
            </a:r>
            <a:r>
              <a:rPr lang="en-US" sz="1400" dirty="0"/>
              <a:t> du poste</a:t>
            </a:r>
          </a:p>
          <a:p>
            <a:pPr indent="-228600" algn="l">
              <a:buFont typeface="Arial" panose="020B0604020202020204" pitchFamily="34" charset="0"/>
              <a:buChar char="•"/>
            </a:pPr>
            <a:r>
              <a:rPr lang="en-US" sz="1400" dirty="0"/>
              <a:t>✓ Date de début</a:t>
            </a:r>
          </a:p>
          <a:p>
            <a:pPr indent="-228600" algn="l">
              <a:buFont typeface="Arial" panose="020B0604020202020204" pitchFamily="34" charset="0"/>
              <a:buChar char="•"/>
            </a:pPr>
            <a:r>
              <a:rPr lang="en-US" sz="1400" dirty="0"/>
              <a:t>✓ </a:t>
            </a:r>
            <a:r>
              <a:rPr lang="en-US" sz="1400" dirty="0" err="1"/>
              <a:t>Correspondance</a:t>
            </a:r>
            <a:r>
              <a:rPr lang="en-US" sz="1400" dirty="0"/>
              <a:t> RBAC</a:t>
            </a:r>
            <a:br>
              <a:rPr lang="en-US" sz="1400" dirty="0"/>
            </a:br>
            <a:br>
              <a:rPr lang="en-US" sz="1400" dirty="0"/>
            </a:br>
            <a:r>
              <a:rPr lang="en-US" sz="1400" dirty="0" err="1"/>
              <a:t>Exemples</a:t>
            </a:r>
            <a:r>
              <a:rPr lang="en-US" sz="1400" dirty="0"/>
              <a:t> de </a:t>
            </a:r>
            <a:r>
              <a:rPr lang="en-US" sz="1400" dirty="0" err="1"/>
              <a:t>demandes</a:t>
            </a:r>
            <a:r>
              <a:rPr lang="en-US" sz="1400" dirty="0"/>
              <a:t> </a:t>
            </a:r>
            <a:r>
              <a:rPr lang="en-US" sz="1400" dirty="0" err="1"/>
              <a:t>bloquées</a:t>
            </a:r>
            <a:r>
              <a:rPr lang="en-US" sz="1400" dirty="0"/>
              <a:t> :</a:t>
            </a:r>
            <a:br>
              <a:rPr lang="en-US" sz="1400" dirty="0"/>
            </a:br>
            <a:r>
              <a:rPr lang="en-US" sz="1400" dirty="0"/>
              <a:t>• </a:t>
            </a:r>
            <a:r>
              <a:rPr lang="en-US" sz="1400" dirty="0" err="1"/>
              <a:t>Gestionnaire</a:t>
            </a:r>
            <a:r>
              <a:rPr lang="en-US" sz="1400" dirty="0"/>
              <a:t> </a:t>
            </a:r>
            <a:r>
              <a:rPr lang="en-US" sz="1400" dirty="0" err="1"/>
              <a:t>manquant</a:t>
            </a:r>
            <a:endParaRPr lang="en-US" sz="1400" dirty="0"/>
          </a:p>
          <a:p>
            <a:pPr indent="-228600" algn="l">
              <a:buFont typeface="Arial" panose="020B0604020202020204" pitchFamily="34" charset="0"/>
              <a:buChar char="•"/>
            </a:pPr>
            <a:r>
              <a:rPr lang="en-US" sz="1400" dirty="0"/>
              <a:t>• Département </a:t>
            </a:r>
            <a:r>
              <a:rPr lang="en-US" sz="1400" dirty="0" err="1"/>
              <a:t>manquant</a:t>
            </a:r>
            <a:endParaRPr lang="en-US" sz="1400" dirty="0"/>
          </a:p>
          <a:p>
            <a:pPr indent="-228600" algn="l">
              <a:buFont typeface="Arial" panose="020B0604020202020204" pitchFamily="34" charset="0"/>
              <a:buChar char="•"/>
            </a:pPr>
            <a:r>
              <a:rPr lang="en-US" sz="1400" dirty="0"/>
              <a:t>• Nom </a:t>
            </a:r>
            <a:r>
              <a:rPr lang="en-US" sz="1400" dirty="0" err="1"/>
              <a:t>manquant</a:t>
            </a:r>
            <a:endParaRPr lang="en-US" sz="1400" dirty="0"/>
          </a:p>
          <a:p>
            <a:pPr indent="-228600" algn="l">
              <a:buFont typeface="Arial" panose="020B0604020202020204" pitchFamily="34" charset="0"/>
              <a:buChar char="•"/>
            </a:pPr>
            <a:r>
              <a:rPr lang="en-US" sz="1400" dirty="0"/>
              <a:t>• </a:t>
            </a:r>
            <a:r>
              <a:rPr lang="en-US" sz="1400" dirty="0" err="1"/>
              <a:t>Rôle</a:t>
            </a:r>
            <a:r>
              <a:rPr lang="en-US" sz="1400" dirty="0"/>
              <a:t> non </a:t>
            </a:r>
            <a:r>
              <a:rPr lang="en-US" sz="1400" dirty="0" err="1"/>
              <a:t>défini</a:t>
            </a:r>
            <a:r>
              <a:rPr lang="en-US" sz="1400" dirty="0"/>
              <a:t> dans le RBAC</a:t>
            </a:r>
            <a:br>
              <a:rPr lang="en-US" sz="1400" dirty="0"/>
            </a:br>
            <a:br>
              <a:rPr lang="en-US" sz="1400" dirty="0"/>
            </a:br>
            <a:r>
              <a:rPr lang="en-US" sz="1400" dirty="0"/>
              <a:t>Message :</a:t>
            </a:r>
            <a:br>
              <a:rPr lang="en-US" sz="1400" dirty="0"/>
            </a:br>
            <a:r>
              <a:rPr lang="en-US" sz="1400" dirty="0" err="1"/>
              <a:t>Aucun</a:t>
            </a:r>
            <a:r>
              <a:rPr lang="en-US" sz="1400" dirty="0"/>
              <a:t> </a:t>
            </a:r>
            <a:r>
              <a:rPr lang="en-US" sz="1400" dirty="0" err="1"/>
              <a:t>accès</a:t>
            </a:r>
            <a:r>
              <a:rPr lang="en-US" sz="1400" dirty="0"/>
              <a:t> </a:t>
            </a:r>
            <a:r>
              <a:rPr lang="en-US" sz="1400" dirty="0" err="1"/>
              <a:t>n'est</a:t>
            </a:r>
            <a:r>
              <a:rPr lang="en-US" sz="1400" dirty="0"/>
              <a:t> </a:t>
            </a:r>
            <a:r>
              <a:rPr lang="en-US" sz="1400" dirty="0" err="1"/>
              <a:t>accordé</a:t>
            </a:r>
            <a:r>
              <a:rPr lang="en-US" sz="1400" dirty="0"/>
              <a:t> tant </a:t>
            </a:r>
            <a:r>
              <a:rPr lang="en-US" sz="1400" dirty="0" err="1"/>
              <a:t>que</a:t>
            </a:r>
            <a:r>
              <a:rPr lang="en-US" sz="1400" dirty="0"/>
              <a:t> les données </a:t>
            </a:r>
            <a:r>
              <a:rPr lang="en-US" sz="1400" dirty="0" err="1"/>
              <a:t>requises</a:t>
            </a:r>
            <a:r>
              <a:rPr lang="en-US" sz="1400" dirty="0"/>
              <a:t> ne </a:t>
            </a:r>
            <a:r>
              <a:rPr lang="en-US" sz="1400" dirty="0" err="1"/>
              <a:t>sont</a:t>
            </a:r>
            <a:r>
              <a:rPr lang="en-US" sz="1400" dirty="0"/>
              <a:t> pas </a:t>
            </a:r>
            <a:r>
              <a:rPr lang="en-US" sz="1400" dirty="0" err="1"/>
              <a:t>conformes</a:t>
            </a:r>
            <a:r>
              <a:rPr lang="en-US" sz="1400" dirty="0"/>
              <a:t>.</a:t>
            </a:r>
            <a:br>
              <a:rPr lang="en-US" sz="1400" dirty="0"/>
            </a:br>
            <a:r>
              <a:rPr lang="en-US" sz="1400" dirty="0" err="1"/>
              <a:t>Aucun</a:t>
            </a:r>
            <a:r>
              <a:rPr lang="en-US" sz="1400" dirty="0"/>
              <a:t> compte </a:t>
            </a:r>
            <a:r>
              <a:rPr lang="en-US" sz="1400" dirty="0" err="1"/>
              <a:t>n'est</a:t>
            </a:r>
            <a:r>
              <a:rPr lang="en-US" sz="1400" dirty="0"/>
              <a:t> </a:t>
            </a:r>
            <a:r>
              <a:rPr lang="en-US" sz="1400" dirty="0" err="1"/>
              <a:t>créé</a:t>
            </a:r>
            <a:r>
              <a:rPr lang="en-US" sz="1400" dirty="0"/>
              <a:t> </a:t>
            </a:r>
            <a:r>
              <a:rPr lang="en-US" sz="1400" dirty="0" err="1"/>
              <a:t>si</a:t>
            </a:r>
            <a:r>
              <a:rPr lang="en-US" sz="1400" dirty="0"/>
              <a:t> les validations </a:t>
            </a:r>
            <a:r>
              <a:rPr lang="en-US" sz="1400" dirty="0" err="1"/>
              <a:t>échouent</a:t>
            </a:r>
            <a:r>
              <a:rPr lang="en-US" sz="1400" dirty="0"/>
              <a:t>.</a:t>
            </a:r>
          </a:p>
        </p:txBody>
      </p:sp>
      <p:pic>
        <p:nvPicPr>
          <p:cNvPr id="5" name="Picture 4">
            <a:extLst>
              <a:ext uri="{FF2B5EF4-FFF2-40B4-BE49-F238E27FC236}">
                <a16:creationId xmlns:a16="http://schemas.microsoft.com/office/drawing/2014/main" id="{ECBDD05C-DA03-4903-3532-A199CAD818C1}"/>
              </a:ext>
            </a:extLst>
          </p:cNvPr>
          <p:cNvPicPr>
            <a:picLocks noChangeAspect="1"/>
          </p:cNvPicPr>
          <p:nvPr/>
        </p:nvPicPr>
        <p:blipFill>
          <a:blip r:embed="rId3"/>
          <a:stretch>
            <a:fillRect/>
          </a:stretch>
        </p:blipFill>
        <p:spPr>
          <a:xfrm>
            <a:off x="10426060" y="535096"/>
            <a:ext cx="1485040" cy="5348026"/>
          </a:xfrm>
          <a:prstGeom prst="rect">
            <a:avLst/>
          </a:prstGeom>
        </p:spPr>
      </p:pic>
    </p:spTree>
    <p:extLst>
      <p:ext uri="{BB962C8B-B14F-4D97-AF65-F5344CB8AC3E}">
        <p14:creationId xmlns:p14="http://schemas.microsoft.com/office/powerpoint/2010/main" val="10885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2D202B-1C22-A0B1-9754-1A5AB01B08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70150A-238B-C692-4481-DEC8783FD172}"/>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Audit &amp; Reporting</a:t>
            </a:r>
          </a:p>
        </p:txBody>
      </p:sp>
      <p:sp>
        <p:nvSpPr>
          <p:cNvPr id="3" name="Subtitle 2">
            <a:extLst>
              <a:ext uri="{FF2B5EF4-FFF2-40B4-BE49-F238E27FC236}">
                <a16:creationId xmlns:a16="http://schemas.microsoft.com/office/drawing/2014/main" id="{E972BEAB-375A-9DD8-C438-9E6B305DDDB8}"/>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971B3BF0-195A-30E3-FD0F-E3C41C77E94D}"/>
              </a:ext>
            </a:extLst>
          </p:cNvPr>
          <p:cNvPicPr>
            <a:picLocks noChangeAspect="1"/>
          </p:cNvPicPr>
          <p:nvPr/>
        </p:nvPicPr>
        <p:blipFill>
          <a:blip r:embed="rId2"/>
          <a:stretch>
            <a:fillRect/>
          </a:stretch>
        </p:blipFill>
        <p:spPr>
          <a:xfrm>
            <a:off x="619432" y="1655276"/>
            <a:ext cx="11186652" cy="4954686"/>
          </a:xfrm>
          <a:prstGeom prst="rect">
            <a:avLst/>
          </a:prstGeom>
        </p:spPr>
      </p:pic>
    </p:spTree>
    <p:extLst>
      <p:ext uri="{BB962C8B-B14F-4D97-AF65-F5344CB8AC3E}">
        <p14:creationId xmlns:p14="http://schemas.microsoft.com/office/powerpoint/2010/main" val="18332567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AFC15D-D345-FFDC-EAA0-56FDEEFF7A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3180E48-298B-5FBC-6F0A-8D349AFAA1AF}"/>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Future Enterprise Architecture</a:t>
            </a:r>
          </a:p>
        </p:txBody>
      </p:sp>
      <p:sp>
        <p:nvSpPr>
          <p:cNvPr id="3" name="Subtitle 2">
            <a:extLst>
              <a:ext uri="{FF2B5EF4-FFF2-40B4-BE49-F238E27FC236}">
                <a16:creationId xmlns:a16="http://schemas.microsoft.com/office/drawing/2014/main" id="{C92A73DF-3A8E-9DA8-ED34-0A06348B9DC3}"/>
              </a:ext>
            </a:extLst>
          </p:cNvPr>
          <p:cNvSpPr>
            <a:spLocks noGrp="1"/>
          </p:cNvSpPr>
          <p:nvPr>
            <p:ph type="subTitle" idx="1"/>
          </p:nvPr>
        </p:nvSpPr>
        <p:spPr>
          <a:xfrm>
            <a:off x="640586" y="4562169"/>
            <a:ext cx="2919738" cy="2074606"/>
          </a:xfrm>
        </p:spPr>
        <p:txBody>
          <a:bodyPr anchor="b">
            <a:normAutofit fontScale="77500" lnSpcReduction="20000"/>
          </a:bodyPr>
          <a:lstStyle/>
          <a:p>
            <a:pPr algn="l"/>
            <a:r>
              <a:rPr lang="fr-FR" sz="2000" dirty="0">
                <a:solidFill>
                  <a:srgbClr val="FFFFFF"/>
                </a:solidFill>
              </a:rPr>
              <a:t>Prochaine phase du projet :</a:t>
            </a:r>
          </a:p>
          <a:p>
            <a:pPr algn="l"/>
            <a:endParaRPr lang="fr-FR" sz="2000" dirty="0">
              <a:solidFill>
                <a:srgbClr val="FFFFFF"/>
              </a:solidFill>
            </a:endParaRPr>
          </a:p>
          <a:p>
            <a:pPr algn="l"/>
            <a:r>
              <a:rPr lang="fr-FR" sz="2000" dirty="0">
                <a:solidFill>
                  <a:srgbClr val="FFFFFF"/>
                </a:solidFill>
              </a:rPr>
              <a:t>• Windows Server 2022</a:t>
            </a:r>
          </a:p>
          <a:p>
            <a:pPr algn="l"/>
            <a:r>
              <a:rPr lang="fr-FR" sz="2000" dirty="0">
                <a:solidFill>
                  <a:srgbClr val="FFFFFF"/>
                </a:solidFill>
              </a:rPr>
              <a:t>• Active Directory</a:t>
            </a:r>
          </a:p>
          <a:p>
            <a:pPr algn="l"/>
            <a:r>
              <a:rPr lang="fr-FR" sz="2000" dirty="0">
                <a:solidFill>
                  <a:srgbClr val="FFFFFF"/>
                </a:solidFill>
              </a:rPr>
              <a:t>• Microsoft Entra ID</a:t>
            </a:r>
          </a:p>
          <a:p>
            <a:pPr algn="l"/>
            <a:r>
              <a:rPr lang="fr-FR" sz="2000" dirty="0">
                <a:solidFill>
                  <a:srgbClr val="FFFFFF"/>
                </a:solidFill>
              </a:rPr>
              <a:t>• Microsoft 365</a:t>
            </a:r>
          </a:p>
          <a:p>
            <a:pPr algn="l"/>
            <a:r>
              <a:rPr lang="fr-FR" sz="2000" dirty="0">
                <a:solidFill>
                  <a:srgbClr val="FFFFFF"/>
                </a:solidFill>
              </a:rPr>
              <a:t>• Intégration ITSM</a:t>
            </a:r>
            <a:endParaRPr lang="en-US" sz="2000" dirty="0">
              <a:solidFill>
                <a:srgbClr val="FFFFFF"/>
              </a:solidFill>
            </a:endParaRPr>
          </a:p>
        </p:txBody>
      </p:sp>
      <p:pic>
        <p:nvPicPr>
          <p:cNvPr id="5" name="Picture 4">
            <a:extLst>
              <a:ext uri="{FF2B5EF4-FFF2-40B4-BE49-F238E27FC236}">
                <a16:creationId xmlns:a16="http://schemas.microsoft.com/office/drawing/2014/main" id="{0EE988A8-A4EF-BD17-E474-5A07167C68E2}"/>
              </a:ext>
            </a:extLst>
          </p:cNvPr>
          <p:cNvPicPr>
            <a:picLocks noChangeAspect="1"/>
          </p:cNvPicPr>
          <p:nvPr/>
        </p:nvPicPr>
        <p:blipFill>
          <a:blip r:embed="rId3"/>
          <a:stretch>
            <a:fillRect/>
          </a:stretch>
        </p:blipFill>
        <p:spPr>
          <a:xfrm>
            <a:off x="4546877" y="467208"/>
            <a:ext cx="7136849" cy="5923584"/>
          </a:xfrm>
          <a:prstGeom prst="rect">
            <a:avLst/>
          </a:prstGeom>
        </p:spPr>
      </p:pic>
    </p:spTree>
    <p:extLst>
      <p:ext uri="{BB962C8B-B14F-4D97-AF65-F5344CB8AC3E}">
        <p14:creationId xmlns:p14="http://schemas.microsoft.com/office/powerpoint/2010/main" val="2648017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44C716-0872-D602-61DD-2F57C0C02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58589AF-0722-EE99-BA73-8A93DB8E091D}"/>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Feuille de Route</a:t>
            </a:r>
          </a:p>
        </p:txBody>
      </p:sp>
      <p:sp>
        <p:nvSpPr>
          <p:cNvPr id="3" name="Subtitle 2">
            <a:extLst>
              <a:ext uri="{FF2B5EF4-FFF2-40B4-BE49-F238E27FC236}">
                <a16:creationId xmlns:a16="http://schemas.microsoft.com/office/drawing/2014/main" id="{2A4C9189-F6D9-57E3-B740-3904A9DB6867}"/>
              </a:ext>
            </a:extLst>
          </p:cNvPr>
          <p:cNvSpPr>
            <a:spLocks noGrp="1"/>
          </p:cNvSpPr>
          <p:nvPr>
            <p:ph type="subTitle" idx="1"/>
          </p:nvPr>
        </p:nvSpPr>
        <p:spPr>
          <a:xfrm>
            <a:off x="255639" y="4060723"/>
            <a:ext cx="3490451" cy="2430567"/>
          </a:xfrm>
        </p:spPr>
        <p:txBody>
          <a:bodyPr anchor="b">
            <a:normAutofit/>
          </a:bodyPr>
          <a:lstStyle/>
          <a:p>
            <a:pPr algn="l"/>
            <a:r>
              <a:rPr lang="en-US" sz="2000" dirty="0">
                <a:solidFill>
                  <a:srgbClr val="FFFFFF"/>
                </a:solidFill>
              </a:rPr>
              <a:t>Phase 1  MVP Local          ✓</a:t>
            </a:r>
          </a:p>
          <a:p>
            <a:pPr algn="l"/>
            <a:r>
              <a:rPr lang="en-US" sz="2000" dirty="0">
                <a:solidFill>
                  <a:srgbClr val="FFFFFF"/>
                </a:solidFill>
              </a:rPr>
              <a:t>Phase 2  Active Directory</a:t>
            </a:r>
          </a:p>
          <a:p>
            <a:pPr algn="l"/>
            <a:r>
              <a:rPr lang="en-US" sz="2000" dirty="0">
                <a:solidFill>
                  <a:srgbClr val="FFFFFF"/>
                </a:solidFill>
              </a:rPr>
              <a:t>Phase 3  Entra ID</a:t>
            </a:r>
          </a:p>
          <a:p>
            <a:pPr algn="l"/>
            <a:r>
              <a:rPr lang="en-US" sz="2000" dirty="0">
                <a:solidFill>
                  <a:srgbClr val="FFFFFF"/>
                </a:solidFill>
              </a:rPr>
              <a:t>Phase 4  ITSM</a:t>
            </a:r>
          </a:p>
          <a:p>
            <a:pPr algn="l"/>
            <a:r>
              <a:rPr lang="en-US" sz="2000" dirty="0">
                <a:solidFill>
                  <a:srgbClr val="FFFFFF"/>
                </a:solidFill>
              </a:rPr>
              <a:t>Phase 5  IAM </a:t>
            </a:r>
            <a:r>
              <a:rPr lang="en-US" sz="2000" dirty="0" err="1">
                <a:solidFill>
                  <a:srgbClr val="FFFFFF"/>
                </a:solidFill>
              </a:rPr>
              <a:t>Entreprise</a:t>
            </a:r>
            <a:endParaRPr lang="en-US" sz="2000" dirty="0">
              <a:solidFill>
                <a:srgbClr val="FFFFFF"/>
              </a:solidFill>
            </a:endParaRPr>
          </a:p>
        </p:txBody>
      </p:sp>
      <p:pic>
        <p:nvPicPr>
          <p:cNvPr id="5" name="Picture 4">
            <a:extLst>
              <a:ext uri="{FF2B5EF4-FFF2-40B4-BE49-F238E27FC236}">
                <a16:creationId xmlns:a16="http://schemas.microsoft.com/office/drawing/2014/main" id="{EFDB99E8-90D3-AFEC-79EE-AB36438B7EF4}"/>
              </a:ext>
            </a:extLst>
          </p:cNvPr>
          <p:cNvPicPr>
            <a:picLocks noChangeAspect="1"/>
          </p:cNvPicPr>
          <p:nvPr/>
        </p:nvPicPr>
        <p:blipFill>
          <a:blip r:embed="rId2"/>
          <a:stretch>
            <a:fillRect/>
          </a:stretch>
        </p:blipFill>
        <p:spPr>
          <a:xfrm>
            <a:off x="6249373" y="467208"/>
            <a:ext cx="3731857" cy="5923584"/>
          </a:xfrm>
          <a:prstGeom prst="rect">
            <a:avLst/>
          </a:prstGeom>
        </p:spPr>
      </p:pic>
    </p:spTree>
    <p:extLst>
      <p:ext uri="{BB962C8B-B14F-4D97-AF65-F5344CB8AC3E}">
        <p14:creationId xmlns:p14="http://schemas.microsoft.com/office/powerpoint/2010/main" val="1776819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E1F63-3608-174A-BF31-FAB881FB79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DF98EC-FDEF-43F5-21C4-1F4CD6591518}"/>
              </a:ext>
            </a:extLst>
          </p:cNvPr>
          <p:cNvSpPr>
            <a:spLocks noGrp="1"/>
          </p:cNvSpPr>
          <p:nvPr>
            <p:ph type="ctrTitle"/>
          </p:nvPr>
        </p:nvSpPr>
        <p:spPr>
          <a:xfrm>
            <a:off x="660041" y="2767106"/>
            <a:ext cx="2880828" cy="3071906"/>
          </a:xfrm>
        </p:spPr>
        <p:txBody>
          <a:bodyPr anchor="t">
            <a:normAutofit/>
          </a:bodyPr>
          <a:lstStyle/>
          <a:p>
            <a:pPr algn="l"/>
            <a:r>
              <a:rPr lang="en-US" sz="4000" dirty="0">
                <a:solidFill>
                  <a:schemeClr val="bg1"/>
                </a:solidFill>
              </a:rPr>
              <a:t>À </a:t>
            </a:r>
            <a:r>
              <a:rPr lang="en-US" sz="4000" dirty="0" err="1">
                <a:solidFill>
                  <a:schemeClr val="bg1"/>
                </a:solidFill>
              </a:rPr>
              <a:t>propos</a:t>
            </a:r>
            <a:r>
              <a:rPr lang="en-US" sz="4000" dirty="0">
                <a:solidFill>
                  <a:schemeClr val="bg1"/>
                </a:solidFill>
              </a:rPr>
              <a:t> de </a:t>
            </a:r>
            <a:r>
              <a:rPr lang="en-US" sz="4000" dirty="0" err="1">
                <a:solidFill>
                  <a:schemeClr val="bg1"/>
                </a:solidFill>
              </a:rPr>
              <a:t>l’auteur</a:t>
            </a:r>
            <a:endParaRPr lang="en-US" sz="4000" dirty="0">
              <a:solidFill>
                <a:schemeClr val="bg1"/>
              </a:solidFill>
            </a:endParaRPr>
          </a:p>
        </p:txBody>
      </p:sp>
      <p:sp>
        <p:nvSpPr>
          <p:cNvPr id="3" name="Subtitle 2">
            <a:extLst>
              <a:ext uri="{FF2B5EF4-FFF2-40B4-BE49-F238E27FC236}">
                <a16:creationId xmlns:a16="http://schemas.microsoft.com/office/drawing/2014/main" id="{2009ED5F-3706-9B13-6C0D-8910BDD27605}"/>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2D3F6BE2-1DF4-DB8E-4A76-EFBFF0918722}"/>
              </a:ext>
            </a:extLst>
          </p:cNvPr>
          <p:cNvPicPr>
            <a:picLocks noChangeAspect="1"/>
          </p:cNvPicPr>
          <p:nvPr/>
        </p:nvPicPr>
        <p:blipFill>
          <a:blip r:embed="rId2"/>
          <a:stretch>
            <a:fillRect/>
          </a:stretch>
        </p:blipFill>
        <p:spPr>
          <a:xfrm>
            <a:off x="5568161" y="467208"/>
            <a:ext cx="5094281" cy="5923584"/>
          </a:xfrm>
          <a:prstGeom prst="rect">
            <a:avLst/>
          </a:prstGeom>
        </p:spPr>
      </p:pic>
    </p:spTree>
    <p:extLst>
      <p:ext uri="{BB962C8B-B14F-4D97-AF65-F5344CB8AC3E}">
        <p14:creationId xmlns:p14="http://schemas.microsoft.com/office/powerpoint/2010/main" val="12362110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TotalTime>
  <Words>543</Words>
  <Application>Microsoft Office PowerPoint</Application>
  <PresentationFormat>Widescreen</PresentationFormat>
  <Paragraphs>85</Paragraphs>
  <Slides>13</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Automatisation du Cycle de Vie des Identités (IAM)</vt:lpstr>
      <vt:lpstr>Défis Métier</vt:lpstr>
      <vt:lpstr>Vue d’Ensemble de la Solution</vt:lpstr>
      <vt:lpstr>Local MVP Architecture</vt:lpstr>
      <vt:lpstr>Joiner Workflow</vt:lpstr>
      <vt:lpstr>Mover Workflow</vt:lpstr>
      <vt:lpstr>Leaver Workflow</vt:lpstr>
      <vt:lpstr>Contrôle d’Accès Basé sur les Rôles (RBAC)</vt:lpstr>
      <vt:lpstr>Contrôles de Gouvernance</vt:lpstr>
      <vt:lpstr>Audit &amp; Reporting</vt:lpstr>
      <vt:lpstr>Future Enterprise Architecture</vt:lpstr>
      <vt:lpstr>Feuille de Route</vt:lpstr>
      <vt:lpstr>À propos de l’auteur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kgf</dc:creator>
  <cp:lastModifiedBy>francis kgf</cp:lastModifiedBy>
  <cp:revision>12</cp:revision>
  <dcterms:created xsi:type="dcterms:W3CDTF">2026-06-05T22:42:36Z</dcterms:created>
  <dcterms:modified xsi:type="dcterms:W3CDTF">2026-06-08T23:43:29Z</dcterms:modified>
</cp:coreProperties>
</file>