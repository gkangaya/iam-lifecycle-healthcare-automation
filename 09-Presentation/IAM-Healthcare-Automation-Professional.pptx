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68" r:id="rId2"/>
    <p:sldId id="256" r:id="rId3"/>
    <p:sldId id="257" r:id="rId4"/>
    <p:sldId id="258" r:id="rId5"/>
    <p:sldId id="260" r:id="rId6"/>
    <p:sldId id="262" r:id="rId7"/>
    <p:sldId id="263" r:id="rId8"/>
    <p:sldId id="259" r:id="rId9"/>
    <p:sldId id="261"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987" autoAdjust="0"/>
  </p:normalViewPr>
  <p:slideViewPr>
    <p:cSldViewPr snapToGrid="0">
      <p:cViewPr varScale="1">
        <p:scale>
          <a:sx n="82" d="100"/>
          <a:sy n="82" d="100"/>
        </p:scale>
        <p:origin x="167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0E9DBE-3662-4895-B281-A721E3F5222D}"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ADF99C-AF7E-4688-B727-7B33BD5CCDA3}" type="slidenum">
              <a:rPr lang="en-US" smtClean="0"/>
              <a:t>‹#›</a:t>
            </a:fld>
            <a:endParaRPr lang="en-US"/>
          </a:p>
        </p:txBody>
      </p:sp>
    </p:spTree>
    <p:extLst>
      <p:ext uri="{BB962C8B-B14F-4D97-AF65-F5344CB8AC3E}">
        <p14:creationId xmlns:p14="http://schemas.microsoft.com/office/powerpoint/2010/main" val="2491075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
            </a:r>
            <a:r>
              <a:rPr lang="en-US" dirty="0" err="1"/>
              <a:t>projet</a:t>
            </a:r>
            <a:r>
              <a:rPr lang="en-US" dirty="0"/>
              <a:t> </a:t>
            </a:r>
            <a:r>
              <a:rPr lang="en-US" dirty="0" err="1"/>
              <a:t>répond</a:t>
            </a:r>
            <a:r>
              <a:rPr lang="en-US" dirty="0"/>
              <a:t> à un </a:t>
            </a:r>
            <a:r>
              <a:rPr lang="en-US" dirty="0" err="1"/>
              <a:t>problème</a:t>
            </a:r>
            <a:r>
              <a:rPr lang="en-US" dirty="0"/>
              <a:t> </a:t>
            </a:r>
            <a:r>
              <a:rPr lang="en-US" dirty="0" err="1"/>
              <a:t>fréquent</a:t>
            </a:r>
            <a:r>
              <a:rPr lang="en-US" dirty="0"/>
              <a:t> dans les </a:t>
            </a:r>
            <a:r>
              <a:rPr lang="en-US" dirty="0" err="1"/>
              <a:t>établissements</a:t>
            </a:r>
            <a:r>
              <a:rPr lang="en-US" dirty="0"/>
              <a:t> de santé : la gestion du cycle de vie des </a:t>
            </a:r>
            <a:r>
              <a:rPr lang="en-US" dirty="0" err="1"/>
              <a:t>employés</a:t>
            </a:r>
            <a:r>
              <a:rPr lang="en-US" dirty="0"/>
              <a:t> et des </a:t>
            </a:r>
            <a:r>
              <a:rPr lang="en-US" dirty="0" err="1"/>
              <a:t>accès</a:t>
            </a:r>
            <a:r>
              <a:rPr lang="en-US" dirty="0"/>
              <a:t> </a:t>
            </a:r>
            <a:r>
              <a:rPr lang="en-US" dirty="0" err="1"/>
              <a:t>associés</a:t>
            </a:r>
            <a:r>
              <a:rPr lang="en-US" dirty="0"/>
              <a:t>. </a:t>
            </a:r>
            <a:r>
              <a:rPr lang="en-US" dirty="0" err="1"/>
              <a:t>L'objectif</a:t>
            </a:r>
            <a:r>
              <a:rPr lang="en-US" dirty="0"/>
              <a:t> est </a:t>
            </a:r>
            <a:r>
              <a:rPr lang="en-US" dirty="0" err="1"/>
              <a:t>d'automatiser</a:t>
            </a:r>
            <a:r>
              <a:rPr lang="en-US" dirty="0"/>
              <a:t> </a:t>
            </a:r>
            <a:r>
              <a:rPr lang="en-US" dirty="0" err="1"/>
              <a:t>l'arrivée</a:t>
            </a:r>
            <a:r>
              <a:rPr lang="en-US" dirty="0"/>
              <a:t>, les changements de poste et le </a:t>
            </a:r>
            <a:r>
              <a:rPr lang="en-US" dirty="0" err="1"/>
              <a:t>départ</a:t>
            </a:r>
            <a:r>
              <a:rPr lang="en-US" dirty="0"/>
              <a:t> des </a:t>
            </a:r>
            <a:r>
              <a:rPr lang="en-US" dirty="0" err="1"/>
              <a:t>employés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et de </a:t>
            </a:r>
            <a:r>
              <a:rPr lang="en-US" dirty="0" err="1"/>
              <a:t>traçabilité</a:t>
            </a:r>
            <a:r>
              <a:rPr lang="en-US" dirty="0"/>
              <a:t>.</a:t>
            </a:r>
            <a:br>
              <a:rPr lang="en-US" dirty="0"/>
            </a:br>
            <a:br>
              <a:rPr lang="en-US" dirty="0"/>
            </a:br>
            <a:r>
              <a:rPr lang="en-US" dirty="0"/>
              <a:t>Pour </a:t>
            </a:r>
            <a:r>
              <a:rPr lang="en-US" dirty="0" err="1"/>
              <a:t>réaliser</a:t>
            </a:r>
            <a:r>
              <a:rPr lang="en-US" dirty="0"/>
              <a:t> </a:t>
            </a:r>
            <a:r>
              <a:rPr lang="en-US" dirty="0" err="1"/>
              <a:t>cette</a:t>
            </a:r>
            <a:r>
              <a:rPr lang="en-US" dirty="0"/>
              <a:t> </a:t>
            </a:r>
            <a:r>
              <a:rPr lang="en-US" dirty="0" err="1"/>
              <a:t>preuve</a:t>
            </a:r>
            <a:r>
              <a:rPr lang="en-US" dirty="0"/>
              <a:t> de concept, </a:t>
            </a:r>
            <a:r>
              <a:rPr lang="en-US" dirty="0" err="1"/>
              <a:t>j'ai</a:t>
            </a:r>
            <a:r>
              <a:rPr lang="en-US" dirty="0"/>
              <a:t> </a:t>
            </a:r>
            <a:r>
              <a:rPr lang="en-US" dirty="0" err="1"/>
              <a:t>utilisé</a:t>
            </a:r>
            <a:r>
              <a:rPr lang="en-US" dirty="0"/>
              <a:t> PowerShell, Visual Studio Code, des </a:t>
            </a:r>
            <a:r>
              <a:rPr lang="en-US" dirty="0" err="1"/>
              <a:t>fichiers</a:t>
            </a:r>
            <a:r>
              <a:rPr lang="en-US" dirty="0"/>
              <a:t> CSV et un rapport HTML</a:t>
            </a:r>
          </a:p>
        </p:txBody>
      </p:sp>
      <p:sp>
        <p:nvSpPr>
          <p:cNvPr id="4" name="Slide Number Placeholder 3"/>
          <p:cNvSpPr>
            <a:spLocks noGrp="1"/>
          </p:cNvSpPr>
          <p:nvPr>
            <p:ph type="sldNum" sz="quarter" idx="5"/>
          </p:nvPr>
        </p:nvSpPr>
        <p:spPr/>
        <p:txBody>
          <a:bodyPr/>
          <a:lstStyle/>
          <a:p>
            <a:fld id="{8CADF99C-AF7E-4688-B727-7B33BD5CCDA3}" type="slidenum">
              <a:rPr lang="en-US" smtClean="0"/>
              <a:t>1</a:t>
            </a:fld>
            <a:endParaRPr lang="en-US"/>
          </a:p>
        </p:txBody>
      </p:sp>
    </p:spTree>
    <p:extLst>
      <p:ext uri="{BB962C8B-B14F-4D97-AF65-F5344CB8AC3E}">
        <p14:creationId xmlns:p14="http://schemas.microsoft.com/office/powerpoint/2010/main" val="373943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2000" dirty="0"/>
              <a:t>Les </a:t>
            </a:r>
            <a:r>
              <a:rPr lang="en-US" sz="2000" dirty="0" err="1"/>
              <a:t>établissements</a:t>
            </a:r>
            <a:r>
              <a:rPr lang="en-US" sz="2000" dirty="0"/>
              <a:t> de santé </a:t>
            </a:r>
            <a:r>
              <a:rPr lang="en-US" sz="2000" dirty="0" err="1"/>
              <a:t>gèrent</a:t>
            </a:r>
            <a:r>
              <a:rPr lang="en-US" sz="2000" dirty="0"/>
              <a:t> des </a:t>
            </a:r>
            <a:r>
              <a:rPr lang="en-US" sz="2000" dirty="0" err="1"/>
              <a:t>centaines</a:t>
            </a:r>
            <a:r>
              <a:rPr lang="en-US" sz="2000" dirty="0"/>
              <a:t> </a:t>
            </a:r>
            <a:r>
              <a:rPr lang="en-US" sz="2000" dirty="0" err="1"/>
              <a:t>voire</a:t>
            </a:r>
            <a:r>
              <a:rPr lang="en-US" sz="2000" dirty="0"/>
              <a:t> des </a:t>
            </a:r>
            <a:r>
              <a:rPr lang="en-US" sz="2000" dirty="0" err="1"/>
              <a:t>milliers</a:t>
            </a:r>
            <a:r>
              <a:rPr lang="en-US" sz="2000" dirty="0"/>
              <a:t> </a:t>
            </a:r>
            <a:r>
              <a:rPr lang="en-US" sz="2000" dirty="0" err="1"/>
              <a:t>d'employés</a:t>
            </a:r>
            <a:r>
              <a:rPr lang="en-US" sz="2000" dirty="0"/>
              <a:t>. La </a:t>
            </a:r>
            <a:r>
              <a:rPr lang="en-US" sz="2000" dirty="0" err="1"/>
              <a:t>création</a:t>
            </a:r>
            <a:r>
              <a:rPr lang="en-US" sz="2000" dirty="0"/>
              <a:t> </a:t>
            </a:r>
            <a:r>
              <a:rPr lang="en-US" sz="2000" dirty="0" err="1"/>
              <a:t>manuelle</a:t>
            </a:r>
            <a:r>
              <a:rPr lang="en-US" sz="2000" dirty="0"/>
              <a:t> des </a:t>
            </a:r>
            <a:r>
              <a:rPr lang="en-US" sz="2000" dirty="0" err="1"/>
              <a:t>comptes</a:t>
            </a:r>
            <a:r>
              <a:rPr lang="en-US" sz="2000" dirty="0"/>
              <a:t> </a:t>
            </a:r>
            <a:r>
              <a:rPr lang="en-US" sz="2000" dirty="0" err="1"/>
              <a:t>peut</a:t>
            </a:r>
            <a:r>
              <a:rPr lang="en-US" sz="2000" dirty="0"/>
              <a:t> </a:t>
            </a:r>
            <a:r>
              <a:rPr lang="en-US" sz="2000" dirty="0" err="1"/>
              <a:t>entraîner</a:t>
            </a:r>
            <a:r>
              <a:rPr lang="en-US" sz="2000" dirty="0"/>
              <a:t> des retards, des </a:t>
            </a:r>
            <a:r>
              <a:rPr lang="en-US" sz="2000" dirty="0" err="1"/>
              <a:t>erreurs</a:t>
            </a:r>
            <a:r>
              <a:rPr lang="en-US" sz="2000" dirty="0"/>
              <a:t> </a:t>
            </a:r>
            <a:r>
              <a:rPr lang="en-US" sz="2000" dirty="0" err="1"/>
              <a:t>ou</a:t>
            </a:r>
            <a:r>
              <a:rPr lang="en-US" sz="2000" dirty="0"/>
              <a:t> des </a:t>
            </a:r>
            <a:r>
              <a:rPr lang="en-US" sz="2000" dirty="0" err="1"/>
              <a:t>risques</a:t>
            </a:r>
            <a:r>
              <a:rPr lang="en-US" sz="2000" dirty="0"/>
              <a:t> de sécurité. Notre </a:t>
            </a:r>
            <a:r>
              <a:rPr lang="en-US" sz="2000" dirty="0" err="1"/>
              <a:t>objectif</a:t>
            </a:r>
            <a:r>
              <a:rPr lang="en-US" sz="2000" dirty="0"/>
              <a:t> est </a:t>
            </a:r>
            <a:r>
              <a:rPr lang="en-US" sz="2000" dirty="0" err="1"/>
              <a:t>d'automatiser</a:t>
            </a:r>
            <a:r>
              <a:rPr lang="en-US" sz="2000" dirty="0"/>
              <a:t> </a:t>
            </a:r>
            <a:r>
              <a:rPr lang="en-US" sz="2000" dirty="0" err="1"/>
              <a:t>ces</a:t>
            </a:r>
            <a:r>
              <a:rPr lang="en-US" sz="2000" dirty="0"/>
              <a:t> processus </a:t>
            </a:r>
            <a:r>
              <a:rPr lang="en-US" sz="2000" dirty="0" err="1"/>
              <a:t>afin</a:t>
            </a:r>
            <a:r>
              <a:rPr lang="en-US" sz="2000" dirty="0"/>
              <a:t> de </a:t>
            </a:r>
            <a:r>
              <a:rPr lang="en-US" sz="2000" dirty="0" err="1"/>
              <a:t>réduire</a:t>
            </a:r>
            <a:r>
              <a:rPr lang="en-US" sz="2000" dirty="0"/>
              <a:t> les </a:t>
            </a:r>
            <a:r>
              <a:rPr lang="en-US" sz="2000" dirty="0" err="1"/>
              <a:t>risques</a:t>
            </a:r>
            <a:r>
              <a:rPr lang="en-US" sz="2000" dirty="0"/>
              <a:t> et </a:t>
            </a:r>
            <a:r>
              <a:rPr lang="en-US" sz="2000" dirty="0" err="1"/>
              <a:t>améliorer</a:t>
            </a:r>
            <a:r>
              <a:rPr lang="en-US" sz="2000" dirty="0"/>
              <a:t> </a:t>
            </a:r>
            <a:r>
              <a:rPr lang="en-US" sz="2000" dirty="0" err="1"/>
              <a:t>l'efficacité</a:t>
            </a:r>
            <a:r>
              <a:rPr lang="en-US" sz="2000" dirty="0"/>
              <a:t> </a:t>
            </a:r>
            <a:r>
              <a:rPr lang="en-US" sz="2000" dirty="0" err="1"/>
              <a:t>opérationnelle</a:t>
            </a:r>
            <a:r>
              <a:rPr lang="en-US" sz="2000" dirty="0"/>
              <a:t>.</a:t>
            </a:r>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2</a:t>
            </a:fld>
            <a:endParaRPr lang="en-US"/>
          </a:p>
        </p:txBody>
      </p:sp>
    </p:spTree>
    <p:extLst>
      <p:ext uri="{BB962C8B-B14F-4D97-AF65-F5344CB8AC3E}">
        <p14:creationId xmlns:p14="http://schemas.microsoft.com/office/powerpoint/2010/main" val="3422279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Processus de fonctionnement de la solution</a:t>
            </a:r>
            <a:br>
              <a:rPr lang="fr-CA" dirty="0"/>
            </a:br>
            <a:r>
              <a:rPr lang="fr-CA" dirty="0"/>
              <a:t>RH: saisie des données</a:t>
            </a:r>
            <a:br>
              <a:rPr lang="fr-CA" dirty="0"/>
            </a:br>
            <a:r>
              <a:rPr lang="fr-CA" dirty="0"/>
              <a:t>Validation: les contrôles de gouvernances </a:t>
            </a:r>
            <a:br>
              <a:rPr lang="fr-CA" dirty="0"/>
            </a:br>
            <a:r>
              <a:rPr lang="fr-CA" dirty="0"/>
              <a:t>IAM Engine: moteur der gestion des Accès et des identité </a:t>
            </a:r>
            <a:br>
              <a:rPr lang="fr-CA" dirty="0"/>
            </a:br>
            <a:r>
              <a:rPr lang="fr-CA" dirty="0"/>
              <a:t>RBAC: contrôles d'accès basé sur les rôles</a:t>
            </a:r>
            <a:br>
              <a:rPr lang="fr-CA" dirty="0"/>
            </a:br>
            <a:r>
              <a:rPr lang="fr-CA" dirty="0"/>
              <a:t>Journal des audits</a:t>
            </a:r>
            <a:br>
              <a:rPr lang="fr-CA" dirty="0"/>
            </a:br>
            <a:r>
              <a:rPr lang="fr-CA" dirty="0"/>
              <a:t>Rapport de visualisation des actions entreprises</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3</a:t>
            </a:fld>
            <a:endParaRPr lang="en-US"/>
          </a:p>
        </p:txBody>
      </p:sp>
    </p:spTree>
    <p:extLst>
      <p:ext uri="{BB962C8B-B14F-4D97-AF65-F5344CB8AC3E}">
        <p14:creationId xmlns:p14="http://schemas.microsoft.com/office/powerpoint/2010/main" val="20133233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Employees.csv: référentiel des données saisies par les RH</a:t>
            </a:r>
            <a:br>
              <a:rPr lang="fr-CA" dirty="0"/>
            </a:br>
            <a:r>
              <a:rPr lang="fr-CA" dirty="0"/>
              <a:t>Le moteur IAM: validation des données par les contrôles de gouvernances ( RBAC + données exactes)</a:t>
            </a:r>
            <a:br>
              <a:rPr lang="fr-CA" dirty="0"/>
            </a:br>
            <a:r>
              <a:rPr lang="fr-CA" dirty="0"/>
              <a:t>RoleMappings.csv: le référentiel de rôles</a:t>
            </a:r>
            <a:br>
              <a:rPr lang="fr-CA" dirty="0"/>
            </a:br>
            <a:r>
              <a:rPr lang="fr-CA" dirty="0"/>
              <a:t>simulated_users.csv:  le référentiel des utilisateurs</a:t>
            </a:r>
            <a:br>
              <a:rPr lang="fr-CA" dirty="0"/>
            </a:br>
            <a:r>
              <a:rPr lang="fr-CA" dirty="0"/>
              <a:t>audit_log.csv: référentiel de </a:t>
            </a:r>
            <a:r>
              <a:rPr lang="fr-FR" dirty="0"/>
              <a:t>toutes les actions dans les journaux d'audit</a:t>
            </a:r>
            <a:br>
              <a:rPr lang="fr-FR" dirty="0"/>
            </a:br>
            <a:r>
              <a:rPr lang="fr-FR" dirty="0"/>
              <a:t>HTML report: rapport HTML pour visualiser les résultats du traitement, les opérations réalisées ainsi que les erreurs détectées par le système</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4</a:t>
            </a:fld>
            <a:endParaRPr lang="en-US"/>
          </a:p>
        </p:txBody>
      </p:sp>
    </p:spTree>
    <p:extLst>
      <p:ext uri="{BB962C8B-B14F-4D97-AF65-F5344CB8AC3E}">
        <p14:creationId xmlns:p14="http://schemas.microsoft.com/office/powerpoint/2010/main" val="25793542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Lorsqu'un nouvel employé rejoint l'organisation, le système valide les données RH, vérifie les règles RBAC, crée le compte utilisateur, attribue les groupes nécessaires et enregistre toutes les actions dans les journaux d'audit.</a:t>
            </a:r>
            <a:br>
              <a:rPr lang="fr-FR" dirty="0"/>
            </a:br>
            <a:br>
              <a:rPr lang="fr-FR" dirty="0"/>
            </a:br>
            <a:r>
              <a:rPr lang="fr-FR" dirty="0"/>
              <a:t>Le système commence par valider les informations fournies par les RH.</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5</a:t>
            </a:fld>
            <a:endParaRPr lang="en-US"/>
          </a:p>
        </p:txBody>
      </p:sp>
    </p:spTree>
    <p:extLst>
      <p:ext uri="{BB962C8B-B14F-4D97-AF65-F5344CB8AC3E}">
        <p14:creationId xmlns:p14="http://schemas.microsoft.com/office/powerpoint/2010/main" val="4213608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Lorsqu’une mobilité interne se fait dans l'organisation, le système valide les données RH, vérifie les règles RBAC, fait une mise à jour du rôle, attribue les groupes nécessaires et enregistre toutes les actions dans les journaux d'audit.</a:t>
            </a:r>
            <a:br>
              <a:rPr lang="fr-FR" dirty="0"/>
            </a:br>
            <a:br>
              <a:rPr lang="fr-FR" dirty="0"/>
            </a:br>
            <a:r>
              <a:rPr lang="fr-FR" dirty="0"/>
              <a:t>Le système commence par valider les informations fournies par les RH.</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6</a:t>
            </a:fld>
            <a:endParaRPr lang="en-US"/>
          </a:p>
        </p:txBody>
      </p:sp>
    </p:spTree>
    <p:extLst>
      <p:ext uri="{BB962C8B-B14F-4D97-AF65-F5344CB8AC3E}">
        <p14:creationId xmlns:p14="http://schemas.microsoft.com/office/powerpoint/2010/main" val="4149853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Lorsqu’un départ d’employé est fait dans l'organisation, le système valide les données RH, vérifie les données employées ( validation manager ou département), désactivation du compte, retrait des groupes et enregistrement des actions dans les journaux d'audit.</a:t>
            </a:r>
            <a:br>
              <a:rPr lang="fr-FR" dirty="0"/>
            </a:br>
            <a:br>
              <a:rPr lang="fr-FR" dirty="0"/>
            </a:br>
            <a:r>
              <a:rPr lang="fr-FR" dirty="0"/>
              <a:t>Le système commence par valider les informations fournies par les RH.</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7</a:t>
            </a:fld>
            <a:endParaRPr lang="en-US"/>
          </a:p>
        </p:txBody>
      </p:sp>
    </p:spTree>
    <p:extLst>
      <p:ext uri="{BB962C8B-B14F-4D97-AF65-F5344CB8AC3E}">
        <p14:creationId xmlns:p14="http://schemas.microsoft.com/office/powerpoint/2010/main" val="3515272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
            </a:r>
            <a:r>
              <a:rPr lang="en-US" dirty="0" err="1"/>
              <a:t>système</a:t>
            </a:r>
            <a:r>
              <a:rPr lang="en-US" dirty="0"/>
              <a:t> applique le </a:t>
            </a:r>
            <a:r>
              <a:rPr lang="en-US" dirty="0" err="1"/>
              <a:t>principe</a:t>
            </a:r>
            <a:r>
              <a:rPr lang="en-US" dirty="0"/>
              <a:t> du </a:t>
            </a:r>
            <a:r>
              <a:rPr lang="en-US" dirty="0" err="1"/>
              <a:t>moindre</a:t>
            </a:r>
            <a:r>
              <a:rPr lang="en-US" dirty="0"/>
              <a:t> </a:t>
            </a:r>
            <a:r>
              <a:rPr lang="en-US" dirty="0" err="1"/>
              <a:t>privilège</a:t>
            </a:r>
            <a:r>
              <a:rPr lang="en-US" dirty="0"/>
              <a:t>. Les </a:t>
            </a:r>
            <a:r>
              <a:rPr lang="en-US" dirty="0" err="1"/>
              <a:t>accès</a:t>
            </a:r>
            <a:r>
              <a:rPr lang="en-US" dirty="0"/>
              <a:t> </a:t>
            </a:r>
            <a:r>
              <a:rPr lang="en-US" dirty="0" err="1"/>
              <a:t>sont</a:t>
            </a:r>
            <a:r>
              <a:rPr lang="en-US" dirty="0"/>
              <a:t> </a:t>
            </a:r>
            <a:r>
              <a:rPr lang="en-US" dirty="0" err="1"/>
              <a:t>attribués</a:t>
            </a:r>
            <a:r>
              <a:rPr lang="en-US" dirty="0"/>
              <a:t> </a:t>
            </a:r>
            <a:r>
              <a:rPr lang="en-US" dirty="0" err="1"/>
              <a:t>automatiquement</a:t>
            </a:r>
            <a:r>
              <a:rPr lang="en-US" dirty="0"/>
              <a:t> </a:t>
            </a:r>
            <a:r>
              <a:rPr lang="en-US" dirty="0" err="1"/>
              <a:t>selon</a:t>
            </a:r>
            <a:r>
              <a:rPr lang="en-US" dirty="0"/>
              <a:t> le </a:t>
            </a:r>
            <a:r>
              <a:rPr lang="en-US" dirty="0" err="1"/>
              <a:t>rôle</a:t>
            </a:r>
            <a:r>
              <a:rPr lang="en-US" dirty="0"/>
              <a:t> de </a:t>
            </a:r>
            <a:r>
              <a:rPr lang="en-US" dirty="0" err="1"/>
              <a:t>l'employé</a:t>
            </a:r>
            <a:r>
              <a:rPr lang="en-US" dirty="0"/>
              <a:t> </a:t>
            </a:r>
            <a:r>
              <a:rPr lang="en-US" dirty="0" err="1"/>
              <a:t>afin</a:t>
            </a:r>
            <a:r>
              <a:rPr lang="en-US" dirty="0"/>
              <a:t> de limiter les </a:t>
            </a:r>
            <a:r>
              <a:rPr lang="en-US" dirty="0" err="1"/>
              <a:t>accès</a:t>
            </a:r>
            <a:r>
              <a:rPr lang="en-US" dirty="0"/>
              <a:t> </a:t>
            </a:r>
            <a:r>
              <a:rPr lang="en-US" dirty="0" err="1"/>
              <a:t>excessifs</a:t>
            </a:r>
            <a:r>
              <a:rPr lang="en-US" dirty="0"/>
              <a:t> et </a:t>
            </a:r>
            <a:r>
              <a:rPr lang="en-US" dirty="0" err="1"/>
              <a:t>renforcer</a:t>
            </a:r>
            <a:r>
              <a:rPr lang="en-US" dirty="0"/>
              <a:t> la sécurité.</a:t>
            </a:r>
          </a:p>
        </p:txBody>
      </p:sp>
      <p:sp>
        <p:nvSpPr>
          <p:cNvPr id="4" name="Slide Number Placeholder 3"/>
          <p:cNvSpPr>
            <a:spLocks noGrp="1"/>
          </p:cNvSpPr>
          <p:nvPr>
            <p:ph type="sldNum" sz="quarter" idx="5"/>
          </p:nvPr>
        </p:nvSpPr>
        <p:spPr/>
        <p:txBody>
          <a:bodyPr/>
          <a:lstStyle/>
          <a:p>
            <a:fld id="{8CADF99C-AF7E-4688-B727-7B33BD5CCDA3}" type="slidenum">
              <a:rPr lang="en-US" smtClean="0"/>
              <a:t>8</a:t>
            </a:fld>
            <a:endParaRPr lang="en-US"/>
          </a:p>
        </p:txBody>
      </p:sp>
    </p:spTree>
    <p:extLst>
      <p:ext uri="{BB962C8B-B14F-4D97-AF65-F5344CB8AC3E}">
        <p14:creationId xmlns:p14="http://schemas.microsoft.com/office/powerpoint/2010/main" val="2516540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toute </a:t>
            </a:r>
            <a:r>
              <a:rPr lang="en-US" dirty="0" err="1"/>
              <a:t>création</a:t>
            </a:r>
            <a:r>
              <a:rPr lang="en-US" dirty="0"/>
              <a:t> de compte, le </a:t>
            </a:r>
            <a:r>
              <a:rPr lang="en-US" dirty="0" err="1"/>
              <a:t>système</a:t>
            </a:r>
            <a:r>
              <a:rPr lang="en-US" dirty="0"/>
              <a:t> </a:t>
            </a:r>
            <a:r>
              <a:rPr lang="en-US" dirty="0" err="1"/>
              <a:t>vérifie</a:t>
            </a:r>
            <a:r>
              <a:rPr lang="en-US" dirty="0"/>
              <a:t> </a:t>
            </a:r>
            <a:r>
              <a:rPr lang="en-US" dirty="0" err="1"/>
              <a:t>que</a:t>
            </a:r>
            <a:r>
              <a:rPr lang="en-US" dirty="0"/>
              <a:t> les </a:t>
            </a:r>
            <a:r>
              <a:rPr lang="en-US" dirty="0" err="1"/>
              <a:t>informations</a:t>
            </a:r>
            <a:r>
              <a:rPr lang="en-US" dirty="0"/>
              <a:t> </a:t>
            </a:r>
            <a:r>
              <a:rPr lang="en-US" dirty="0" err="1"/>
              <a:t>essentielles</a:t>
            </a:r>
            <a:r>
              <a:rPr lang="en-US" dirty="0"/>
              <a:t> </a:t>
            </a:r>
            <a:r>
              <a:rPr lang="en-US" dirty="0" err="1"/>
              <a:t>sont</a:t>
            </a:r>
            <a:r>
              <a:rPr lang="en-US" dirty="0"/>
              <a:t> </a:t>
            </a:r>
            <a:r>
              <a:rPr lang="en-US" dirty="0" err="1"/>
              <a:t>présentes</a:t>
            </a:r>
            <a:r>
              <a:rPr lang="en-US" dirty="0"/>
              <a:t>. Si un </a:t>
            </a:r>
            <a:r>
              <a:rPr lang="en-US" dirty="0" err="1"/>
              <a:t>gestionnaire</a:t>
            </a:r>
            <a:r>
              <a:rPr lang="en-US" dirty="0"/>
              <a:t>, un département </a:t>
            </a:r>
            <a:r>
              <a:rPr lang="en-US" dirty="0" err="1"/>
              <a:t>ou</a:t>
            </a:r>
            <a:r>
              <a:rPr lang="en-US" dirty="0"/>
              <a:t> un </a:t>
            </a:r>
            <a:r>
              <a:rPr lang="en-US" dirty="0" err="1"/>
              <a:t>rôle</a:t>
            </a:r>
            <a:r>
              <a:rPr lang="en-US" dirty="0"/>
              <a:t> est </a:t>
            </a:r>
            <a:r>
              <a:rPr lang="en-US" dirty="0" err="1"/>
              <a:t>manquant</a:t>
            </a:r>
            <a:r>
              <a:rPr lang="en-US" dirty="0"/>
              <a:t>, le processus est </a:t>
            </a:r>
            <a:r>
              <a:rPr lang="en-US" dirty="0" err="1"/>
              <a:t>bloqué</a:t>
            </a:r>
            <a:r>
              <a:rPr lang="en-US" dirty="0"/>
              <a:t> </a:t>
            </a:r>
            <a:r>
              <a:rPr lang="en-US" dirty="0" err="1"/>
              <a:t>afin</a:t>
            </a:r>
            <a:r>
              <a:rPr lang="en-US" dirty="0"/>
              <a:t> </a:t>
            </a:r>
            <a:r>
              <a:rPr lang="en-US" dirty="0" err="1"/>
              <a:t>d'éviter</a:t>
            </a:r>
            <a:r>
              <a:rPr lang="en-US" dirty="0"/>
              <a:t> des </a:t>
            </a:r>
            <a:r>
              <a:rPr lang="en-US" dirty="0" err="1"/>
              <a:t>erreurs</a:t>
            </a:r>
            <a:r>
              <a:rPr lang="en-US" dirty="0"/>
              <a:t> de sécurité.</a:t>
            </a:r>
            <a:br>
              <a:rPr lang="en-US" dirty="0"/>
            </a:br>
            <a:r>
              <a:rPr lang="en-US" dirty="0"/>
              <a:t>Message de validation </a:t>
            </a:r>
            <a:r>
              <a:rPr lang="en-US" dirty="0" err="1"/>
              <a:t>indiqué</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9</a:t>
            </a:fld>
            <a:endParaRPr lang="en-US"/>
          </a:p>
        </p:txBody>
      </p:sp>
    </p:spTree>
    <p:extLst>
      <p:ext uri="{BB962C8B-B14F-4D97-AF65-F5344CB8AC3E}">
        <p14:creationId xmlns:p14="http://schemas.microsoft.com/office/powerpoint/2010/main" val="42530248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rapport HTML permet de visualiser les résultats du traitement, les opérations réalisées ainsi que les erreurs détectées par le système. Il constitue également un élément important pour l'audit et la conformité.</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10</a:t>
            </a:fld>
            <a:endParaRPr lang="en-US"/>
          </a:p>
        </p:txBody>
      </p:sp>
    </p:spTree>
    <p:extLst>
      <p:ext uri="{BB962C8B-B14F-4D97-AF65-F5344CB8AC3E}">
        <p14:creationId xmlns:p14="http://schemas.microsoft.com/office/powerpoint/2010/main" val="14921597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architecture </a:t>
            </a:r>
            <a:r>
              <a:rPr lang="en-US" dirty="0" err="1"/>
              <a:t>représente</a:t>
            </a:r>
            <a:r>
              <a:rPr lang="en-US" dirty="0"/>
              <a:t> </a:t>
            </a:r>
            <a:r>
              <a:rPr lang="en-US" dirty="0" err="1"/>
              <a:t>l'évolution</a:t>
            </a:r>
            <a:r>
              <a:rPr lang="en-US" dirty="0"/>
              <a:t> du MVP vers </a:t>
            </a:r>
            <a:r>
              <a:rPr lang="en-US" dirty="0" err="1"/>
              <a:t>une</a:t>
            </a:r>
            <a:r>
              <a:rPr lang="en-US" dirty="0"/>
              <a:t> solution </a:t>
            </a:r>
            <a:r>
              <a:rPr lang="en-US" dirty="0" err="1"/>
              <a:t>d'entreprise</a:t>
            </a:r>
            <a:r>
              <a:rPr lang="en-US" dirty="0"/>
              <a:t> </a:t>
            </a:r>
            <a:r>
              <a:rPr lang="en-US" dirty="0" err="1"/>
              <a:t>intégrant</a:t>
            </a:r>
            <a:r>
              <a:rPr lang="en-US" dirty="0"/>
              <a:t> Active Directory, Microsoft Entra ID, Microsoft 365, les </a:t>
            </a:r>
            <a:r>
              <a:rPr lang="en-US" dirty="0" err="1"/>
              <a:t>systèmes</a:t>
            </a:r>
            <a:r>
              <a:rPr lang="en-US" dirty="0"/>
              <a:t> RH et les </a:t>
            </a:r>
            <a:r>
              <a:rPr lang="en-US" dirty="0" err="1"/>
              <a:t>outils</a:t>
            </a:r>
            <a:r>
              <a:rPr lang="en-US" dirty="0"/>
              <a:t> ITSM.</a:t>
            </a:r>
          </a:p>
        </p:txBody>
      </p:sp>
      <p:sp>
        <p:nvSpPr>
          <p:cNvPr id="4" name="Slide Number Placeholder 3"/>
          <p:cNvSpPr>
            <a:spLocks noGrp="1"/>
          </p:cNvSpPr>
          <p:nvPr>
            <p:ph type="sldNum" sz="quarter" idx="5"/>
          </p:nvPr>
        </p:nvSpPr>
        <p:spPr/>
        <p:txBody>
          <a:bodyPr/>
          <a:lstStyle/>
          <a:p>
            <a:fld id="{8CADF99C-AF7E-4688-B727-7B33BD5CCDA3}" type="slidenum">
              <a:rPr lang="en-US" smtClean="0"/>
              <a:t>11</a:t>
            </a:fld>
            <a:endParaRPr lang="en-US"/>
          </a:p>
        </p:txBody>
      </p:sp>
    </p:spTree>
    <p:extLst>
      <p:ext uri="{BB962C8B-B14F-4D97-AF65-F5344CB8AC3E}">
        <p14:creationId xmlns:p14="http://schemas.microsoft.com/office/powerpoint/2010/main" val="2736463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F1AA6-5CBB-A86B-9865-6AACBAE79A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8D1ECC-63D4-566C-CCD3-FB37D3CEF7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B55D25-8435-9BB5-A886-0A76519613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A6E1C0-8584-EBD6-7699-240E516AEF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719C3-F93E-3145-16B7-D6959242B997}"/>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183586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14A5B-339C-B264-082D-64B257A3F0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898D23-8973-5DC3-B7EA-6F121D81BB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148C99-FCD9-5D2E-E6C5-CBB910C7EC5B}"/>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B7F7EBCD-486B-D362-FA05-AC7480EF04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57F92E-AF75-418C-A257-18991B7A16B3}"/>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647422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0C003-B55F-D5A6-D76F-13A8F6B705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D025D6-6F0C-2153-6BD8-57551FC65B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F28483-E273-3105-E7B9-C33FA33BD7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FA8E36-F424-3678-ED4C-FF9B23E0E8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812F7-1574-D50B-420D-F155D214F4E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411639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FAE69-906E-069D-F7C5-860AD20849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6C791C-FFE0-9EC3-D233-3FBB6306289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47FFE4E-6DAB-53E3-9E1E-D4831B296A8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658C8FB-326C-6CA9-AF81-BD204DD7110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1AC363D-96ED-DDB6-5B38-4FD58A3DDF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4B866-07A5-C97F-0795-1AF5E04D924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639331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7A5D2-A258-7322-C81C-44353957D0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70AAE-9CB6-0FB8-7E32-C2365114E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57118A-2760-CD93-2F0B-7DCB8D9CBA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FAF4D9-DF33-D0BF-AB98-9C7B5A045F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0F2C00-DDBA-702A-C077-CD24E658D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A3FA4C7-73F1-2F94-1259-6CA7C49F38C4}"/>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8" name="Footer Placeholder 7">
            <a:extLst>
              <a:ext uri="{FF2B5EF4-FFF2-40B4-BE49-F238E27FC236}">
                <a16:creationId xmlns:a16="http://schemas.microsoft.com/office/drawing/2014/main" id="{9AE55F99-7D57-E9FC-DDCD-B9800EA0BF0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9897C3-838D-8514-3E1F-16B18CCD0EDA}"/>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928398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96BE3-B317-C366-D8E1-0BE2621F59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6D412A-0BB9-90B6-FE54-8AF30F7443F6}"/>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4" name="Footer Placeholder 3">
            <a:extLst>
              <a:ext uri="{FF2B5EF4-FFF2-40B4-BE49-F238E27FC236}">
                <a16:creationId xmlns:a16="http://schemas.microsoft.com/office/drawing/2014/main" id="{007F6CB3-0733-14D2-5278-BA35F835D37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B1FCD-0D5F-B68C-7C4D-ACF08303E97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003865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63C2D8-6B7D-E6B5-B1A0-E3534BDA311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3" name="Footer Placeholder 2">
            <a:extLst>
              <a:ext uri="{FF2B5EF4-FFF2-40B4-BE49-F238E27FC236}">
                <a16:creationId xmlns:a16="http://schemas.microsoft.com/office/drawing/2014/main" id="{83AAE7AA-3FB9-BE8F-8593-1F91DD64F0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DB5D852-15AB-C27B-B717-454FFA86F062}"/>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284891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2E359-9873-302A-B755-3EBB07293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B6A92BA-2FF5-BC5C-981F-D1573E2C80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4FAEE0-F29B-DD65-CB9E-593BE92D47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9A8B39-870D-46D1-CB54-9F06D067C6BA}"/>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F5F2D39-697F-5276-3077-6BAA8C0041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68A36-0374-19B7-8139-CB7CE5D9D1BD}"/>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891636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CAEF-4720-6C63-54BD-80DAB43422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818B7B-0426-6590-BDD1-35399D8B21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417E12-40C3-1CB6-8541-7B0427411C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C2761-1F00-9B7C-74F5-5967A1724788}"/>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68653337-BD91-FF64-176C-AD62E5858B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1AA430-3A2F-91D9-1DEA-7F6E73818DC0}"/>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592561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BAB36-7F86-472C-7B7F-2D248B870D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DBEF793-CD08-8487-A6DC-7E66FFE569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9A58AB-8F11-A76B-C046-D933FC365AED}"/>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3A5D53E0-E7E8-583A-088F-6977B20B86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102372-00A1-2547-ABFE-ADD839AAAF5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690799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21DC8A-6EFF-B657-97AF-0D982500E3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D9F3373-B825-EE2E-B94A-57268773AF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FE750B-CA75-0F31-049A-5B9150DE2DD9}"/>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E41F94B-4413-4BB4-D61C-9ABB9BFBA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EF7C1-6794-FB71-B301-3A8AC0AF2EDC}"/>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722223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AA0512-A38F-EBCC-626E-B330825DA7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8EAFF7-CC21-78B2-B498-24A56FFA3A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6281AB-E118-EB6D-7B5F-BAE65DB970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84F2705-EF30-6C6A-1E0E-12CA0178F3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842FC6-C7BA-090A-CD19-5508F0705F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A19B3E-6694-4471-BB2F-E72CC5650E27}" type="slidenum">
              <a:rPr lang="en-US" smtClean="0"/>
              <a:t>‹#›</a:t>
            </a:fld>
            <a:endParaRPr lang="en-US"/>
          </a:p>
        </p:txBody>
      </p:sp>
    </p:spTree>
    <p:extLst>
      <p:ext uri="{BB962C8B-B14F-4D97-AF65-F5344CB8AC3E}">
        <p14:creationId xmlns:p14="http://schemas.microsoft.com/office/powerpoint/2010/main" val="1433684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FD6C1-910B-B0BB-BF38-A277753C0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D33C49-147B-F884-54AE-6DE910C37259}"/>
              </a:ext>
            </a:extLst>
          </p:cNvPr>
          <p:cNvSpPr>
            <a:spLocks noGrp="1"/>
          </p:cNvSpPr>
          <p:nvPr>
            <p:ph type="ctrTitle"/>
          </p:nvPr>
        </p:nvSpPr>
        <p:spPr>
          <a:xfrm>
            <a:off x="1445342" y="188299"/>
            <a:ext cx="9144000" cy="1748656"/>
          </a:xfrm>
        </p:spPr>
        <p:txBody>
          <a:bodyPr>
            <a:normAutofit/>
          </a:bodyPr>
          <a:lstStyle/>
          <a:p>
            <a:r>
              <a:rPr lang="en-US" dirty="0" err="1"/>
              <a:t>Automatisation</a:t>
            </a:r>
            <a:r>
              <a:rPr lang="en-US" dirty="0"/>
              <a:t> du Cycle de Vie des Identités (IAM)</a:t>
            </a:r>
          </a:p>
        </p:txBody>
      </p:sp>
      <p:sp>
        <p:nvSpPr>
          <p:cNvPr id="3" name="Subtitle 2">
            <a:extLst>
              <a:ext uri="{FF2B5EF4-FFF2-40B4-BE49-F238E27FC236}">
                <a16:creationId xmlns:a16="http://schemas.microsoft.com/office/drawing/2014/main" id="{749AE7DB-FF34-E29B-47F8-07EF775150E7}"/>
              </a:ext>
            </a:extLst>
          </p:cNvPr>
          <p:cNvSpPr>
            <a:spLocks noGrp="1"/>
          </p:cNvSpPr>
          <p:nvPr>
            <p:ph type="subTitle" idx="1"/>
          </p:nvPr>
        </p:nvSpPr>
        <p:spPr>
          <a:xfrm>
            <a:off x="1524000" y="2143433"/>
            <a:ext cx="9144000" cy="4237702"/>
          </a:xfrm>
        </p:spPr>
        <p:txBody>
          <a:bodyPr>
            <a:normAutofit fontScale="92500" lnSpcReduction="20000"/>
          </a:bodyPr>
          <a:lstStyle/>
          <a:p>
            <a:pPr algn="l"/>
            <a:r>
              <a:rPr lang="fr-FR" dirty="0"/>
              <a:t>Automatisation du Cycle de Vie des Identités (IAM)</a:t>
            </a:r>
          </a:p>
          <a:p>
            <a:pPr algn="l"/>
            <a:endParaRPr lang="fr-FR" dirty="0"/>
          </a:p>
          <a:p>
            <a:pPr algn="l"/>
            <a:r>
              <a:rPr lang="fr-FR" dirty="0"/>
              <a:t>Preuve de Concept (PoC)</a:t>
            </a:r>
          </a:p>
          <a:p>
            <a:pPr algn="l"/>
            <a:endParaRPr lang="fr-FR" dirty="0"/>
          </a:p>
          <a:p>
            <a:pPr algn="l"/>
            <a:r>
              <a:rPr lang="fr-FR" dirty="0"/>
              <a:t>Secteur de la Santé</a:t>
            </a:r>
          </a:p>
          <a:p>
            <a:pPr algn="l"/>
            <a:endParaRPr lang="fr-FR" dirty="0"/>
          </a:p>
          <a:p>
            <a:pPr algn="l"/>
            <a:r>
              <a:rPr lang="fr-FR" dirty="0"/>
              <a:t>Gestion des Identités et des Accès</a:t>
            </a:r>
          </a:p>
          <a:p>
            <a:pPr algn="l"/>
            <a:r>
              <a:rPr lang="fr-FR" dirty="0"/>
              <a:t>Joiner • Mover • Leaver • RBAC • Gouvernance</a:t>
            </a:r>
          </a:p>
          <a:p>
            <a:pPr algn="l"/>
            <a:endParaRPr lang="fr-FR" dirty="0"/>
          </a:p>
          <a:p>
            <a:pPr algn="l"/>
            <a:r>
              <a:rPr lang="fr-FR" dirty="0"/>
              <a:t>Présenté par</a:t>
            </a:r>
          </a:p>
          <a:p>
            <a:pPr algn="l"/>
            <a:r>
              <a:rPr lang="fr-FR" dirty="0"/>
              <a:t>Gervais Francis Kangaya</a:t>
            </a:r>
            <a:endParaRPr lang="en-US" dirty="0"/>
          </a:p>
        </p:txBody>
      </p:sp>
    </p:spTree>
    <p:extLst>
      <p:ext uri="{BB962C8B-B14F-4D97-AF65-F5344CB8AC3E}">
        <p14:creationId xmlns:p14="http://schemas.microsoft.com/office/powerpoint/2010/main" val="138673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8AEA7-7509-F111-B704-0A8955FBA39B}"/>
              </a:ext>
            </a:extLst>
          </p:cNvPr>
          <p:cNvSpPr>
            <a:spLocks noGrp="1"/>
          </p:cNvSpPr>
          <p:nvPr>
            <p:ph type="ctrTitle"/>
          </p:nvPr>
        </p:nvSpPr>
        <p:spPr>
          <a:xfrm>
            <a:off x="1524000" y="406400"/>
            <a:ext cx="9144000" cy="950452"/>
          </a:xfrm>
        </p:spPr>
        <p:txBody>
          <a:bodyPr/>
          <a:lstStyle/>
          <a:p>
            <a:r>
              <a:rPr lang="en-US" dirty="0" err="1"/>
              <a:t>Défis</a:t>
            </a:r>
            <a:r>
              <a:rPr lang="en-US" dirty="0"/>
              <a:t> Métier</a:t>
            </a:r>
          </a:p>
        </p:txBody>
      </p:sp>
      <p:sp>
        <p:nvSpPr>
          <p:cNvPr id="3" name="Subtitle 2">
            <a:extLst>
              <a:ext uri="{FF2B5EF4-FFF2-40B4-BE49-F238E27FC236}">
                <a16:creationId xmlns:a16="http://schemas.microsoft.com/office/drawing/2014/main" id="{6B25A04E-17DD-3B68-1208-602956B4833B}"/>
              </a:ext>
            </a:extLst>
          </p:cNvPr>
          <p:cNvSpPr>
            <a:spLocks noGrp="1"/>
          </p:cNvSpPr>
          <p:nvPr>
            <p:ph type="subTitle" idx="1"/>
          </p:nvPr>
        </p:nvSpPr>
        <p:spPr>
          <a:xfrm>
            <a:off x="1524000" y="1543665"/>
            <a:ext cx="9144000" cy="4109883"/>
          </a:xfrm>
        </p:spPr>
        <p:txBody>
          <a:bodyPr>
            <a:normAutofit fontScale="92500" lnSpcReduction="10000"/>
          </a:bodyPr>
          <a:lstStyle/>
          <a:p>
            <a:pPr algn="l"/>
            <a:r>
              <a:rPr lang="fr-FR" dirty="0"/>
              <a:t>Les établissements de santé font face à plusieurs défis :</a:t>
            </a:r>
          </a:p>
          <a:p>
            <a:pPr algn="l"/>
            <a:endParaRPr lang="fr-FR" dirty="0"/>
          </a:p>
          <a:p>
            <a:pPr algn="l"/>
            <a:r>
              <a:rPr lang="fr-FR" dirty="0"/>
              <a:t>• Création manuelle des comptes</a:t>
            </a:r>
          </a:p>
          <a:p>
            <a:pPr algn="l"/>
            <a:r>
              <a:rPr lang="fr-FR" dirty="0"/>
              <a:t>• Attribution tardive des accès</a:t>
            </a:r>
          </a:p>
          <a:p>
            <a:pPr algn="l"/>
            <a:r>
              <a:rPr lang="fr-FR" dirty="0"/>
              <a:t>• Permissions excessives</a:t>
            </a:r>
          </a:p>
          <a:p>
            <a:pPr algn="l"/>
            <a:r>
              <a:rPr lang="fr-FR" dirty="0"/>
              <a:t>• Comptes orphelins après le départ d'employés</a:t>
            </a:r>
          </a:p>
          <a:p>
            <a:pPr algn="l"/>
            <a:r>
              <a:rPr lang="fr-FR" dirty="0"/>
              <a:t>• Difficultés d'audit et de conformité</a:t>
            </a:r>
          </a:p>
          <a:p>
            <a:pPr algn="l"/>
            <a:r>
              <a:rPr lang="fr-FR" dirty="0"/>
              <a:t>• Risques d'erreurs humaines</a:t>
            </a:r>
          </a:p>
          <a:p>
            <a:pPr algn="l"/>
            <a:endParaRPr lang="fr-FR" dirty="0"/>
          </a:p>
          <a:p>
            <a:pPr algn="l"/>
            <a:r>
              <a:rPr lang="fr-FR" dirty="0"/>
              <a:t>Ces défis augmentent les risques de sécurité et les coûts opérationnels.</a:t>
            </a:r>
            <a:endParaRPr lang="en-US" dirty="0"/>
          </a:p>
        </p:txBody>
      </p:sp>
    </p:spTree>
    <p:extLst>
      <p:ext uri="{BB962C8B-B14F-4D97-AF65-F5344CB8AC3E}">
        <p14:creationId xmlns:p14="http://schemas.microsoft.com/office/powerpoint/2010/main" val="33778130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66DB36-33CA-6B6B-73C2-EB3E2E6AE9A8}"/>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DF91F20-B96F-4F77-AC3E-2CDD3BAA1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3D487F7-9050-4871-B351-34A72ADB2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43C27DD-EF6A-4C48-9669-C2970E71A8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C84384FE-1C88-4CAA-8FB8-2313A3AE7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87B6A113-58CD-406C-BCE4-6E1F1F2BE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90FF9F4-42B1-FBAC-20F2-61BF71051E67}"/>
              </a:ext>
            </a:extLst>
          </p:cNvPr>
          <p:cNvSpPr>
            <a:spLocks noGrp="1"/>
          </p:cNvSpPr>
          <p:nvPr>
            <p:ph type="ctrTitle"/>
          </p:nvPr>
        </p:nvSpPr>
        <p:spPr>
          <a:xfrm>
            <a:off x="1011948" y="857251"/>
            <a:ext cx="6219582" cy="3160113"/>
          </a:xfrm>
        </p:spPr>
        <p:txBody>
          <a:bodyPr anchor="b">
            <a:normAutofit/>
          </a:bodyPr>
          <a:lstStyle/>
          <a:p>
            <a:pPr algn="l"/>
            <a:r>
              <a:rPr lang="en-US" sz="4800">
                <a:solidFill>
                  <a:srgbClr val="FFFFFF"/>
                </a:solidFill>
              </a:rPr>
              <a:t>Vue d’Ensemble de la Solution</a:t>
            </a:r>
          </a:p>
        </p:txBody>
      </p:sp>
      <p:sp>
        <p:nvSpPr>
          <p:cNvPr id="35" name="Rectangle 34">
            <a:extLst>
              <a:ext uri="{FF2B5EF4-FFF2-40B4-BE49-F238E27FC236}">
                <a16:creationId xmlns:a16="http://schemas.microsoft.com/office/drawing/2014/main" id="{05A1AA86-B7E6-4C02-AA34-F1A25CD4CC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4767D998-7D07-7EC4-699F-EB1AB3575100}"/>
              </a:ext>
            </a:extLst>
          </p:cNvPr>
          <p:cNvPicPr>
            <a:picLocks noChangeAspect="1"/>
          </p:cNvPicPr>
          <p:nvPr/>
        </p:nvPicPr>
        <p:blipFill>
          <a:blip r:embed="rId3"/>
          <a:stretch>
            <a:fillRect/>
          </a:stretch>
        </p:blipFill>
        <p:spPr>
          <a:xfrm>
            <a:off x="8560981" y="905373"/>
            <a:ext cx="3173819" cy="5047254"/>
          </a:xfrm>
          <a:prstGeom prst="rect">
            <a:avLst/>
          </a:prstGeom>
        </p:spPr>
      </p:pic>
    </p:spTree>
    <p:extLst>
      <p:ext uri="{BB962C8B-B14F-4D97-AF65-F5344CB8AC3E}">
        <p14:creationId xmlns:p14="http://schemas.microsoft.com/office/powerpoint/2010/main" val="228725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A31B07-FEDF-8094-A1BB-931D801D1C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55C5EC-BD62-8D6B-F1C4-8AEA6E38949B}"/>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Local MVP Architecture</a:t>
            </a:r>
          </a:p>
        </p:txBody>
      </p:sp>
      <p:sp>
        <p:nvSpPr>
          <p:cNvPr id="3" name="Subtitle 2">
            <a:extLst>
              <a:ext uri="{FF2B5EF4-FFF2-40B4-BE49-F238E27FC236}">
                <a16:creationId xmlns:a16="http://schemas.microsoft.com/office/drawing/2014/main" id="{0F99365E-07E3-42C0-7A67-BBAE846CFBC6}"/>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AFCA4B0F-95E7-A1C4-A95C-03FF85695A7A}"/>
              </a:ext>
            </a:extLst>
          </p:cNvPr>
          <p:cNvPicPr>
            <a:picLocks noChangeAspect="1"/>
          </p:cNvPicPr>
          <p:nvPr/>
        </p:nvPicPr>
        <p:blipFill>
          <a:blip r:embed="rId3"/>
          <a:stretch>
            <a:fillRect/>
          </a:stretch>
        </p:blipFill>
        <p:spPr>
          <a:xfrm>
            <a:off x="478535" y="1973342"/>
            <a:ext cx="11327549" cy="4417742"/>
          </a:xfrm>
          <a:prstGeom prst="rect">
            <a:avLst/>
          </a:prstGeom>
        </p:spPr>
      </p:pic>
    </p:spTree>
    <p:extLst>
      <p:ext uri="{BB962C8B-B14F-4D97-AF65-F5344CB8AC3E}">
        <p14:creationId xmlns:p14="http://schemas.microsoft.com/office/powerpoint/2010/main" val="181431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6840E-61A4-79EC-4576-E20FA440EC1F}"/>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2958DF8-3FA7-B527-C0B7-2E9974914535}"/>
              </a:ext>
            </a:extLst>
          </p:cNvPr>
          <p:cNvSpPr>
            <a:spLocks noGrp="1"/>
          </p:cNvSpPr>
          <p:nvPr>
            <p:ph type="ctrTitle"/>
          </p:nvPr>
        </p:nvSpPr>
        <p:spPr>
          <a:xfrm>
            <a:off x="112734" y="2767106"/>
            <a:ext cx="3695178" cy="2481299"/>
          </a:xfrm>
        </p:spPr>
        <p:txBody>
          <a:bodyPr anchor="t">
            <a:normAutofit/>
          </a:bodyPr>
          <a:lstStyle/>
          <a:p>
            <a:pPr algn="l"/>
            <a:r>
              <a:rPr lang="en-US" sz="4000" dirty="0">
                <a:solidFill>
                  <a:srgbClr val="FFFFFF"/>
                </a:solidFill>
              </a:rPr>
              <a:t>Joiner Workflow</a:t>
            </a:r>
            <a:br>
              <a:rPr lang="en-US" sz="4000" dirty="0">
                <a:solidFill>
                  <a:srgbClr val="FFFFFF"/>
                </a:solidFill>
              </a:rPr>
            </a:br>
            <a:br>
              <a:rPr lang="en-US" sz="4000" dirty="0">
                <a:solidFill>
                  <a:srgbClr val="FFFFFF"/>
                </a:solidFill>
              </a:rPr>
            </a:br>
            <a:r>
              <a:rPr lang="en-US" sz="4000" dirty="0">
                <a:solidFill>
                  <a:srgbClr val="FFFFFF"/>
                </a:solidFill>
              </a:rPr>
              <a:t>: </a:t>
            </a:r>
            <a:r>
              <a:rPr lang="en-US" sz="4000" dirty="0" err="1">
                <a:solidFill>
                  <a:srgbClr val="FFFFFF"/>
                </a:solidFill>
              </a:rPr>
              <a:t>Arrivées</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42FB810B-773C-56BE-DE24-F588482D3D1D}"/>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CD11E1C4-AE5B-4383-9430-6AC32492D84A}"/>
              </a:ext>
            </a:extLst>
          </p:cNvPr>
          <p:cNvPicPr>
            <a:picLocks noChangeAspect="1"/>
          </p:cNvPicPr>
          <p:nvPr/>
        </p:nvPicPr>
        <p:blipFill>
          <a:blip r:embed="rId3"/>
          <a:stretch>
            <a:fillRect/>
          </a:stretch>
        </p:blipFill>
        <p:spPr>
          <a:xfrm>
            <a:off x="4870988" y="274084"/>
            <a:ext cx="6125258" cy="6431515"/>
          </a:xfrm>
          <a:prstGeom prst="rect">
            <a:avLst/>
          </a:prstGeom>
        </p:spPr>
      </p:pic>
    </p:spTree>
    <p:extLst>
      <p:ext uri="{BB962C8B-B14F-4D97-AF65-F5344CB8AC3E}">
        <p14:creationId xmlns:p14="http://schemas.microsoft.com/office/powerpoint/2010/main" val="148237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FEB4E-CF6E-D015-38CC-16F47749656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38D403-1F08-8657-138A-3C1C500B41F7}"/>
              </a:ext>
            </a:extLst>
          </p:cNvPr>
          <p:cNvSpPr>
            <a:spLocks noGrp="1"/>
          </p:cNvSpPr>
          <p:nvPr>
            <p:ph type="ctrTitle"/>
          </p:nvPr>
        </p:nvSpPr>
        <p:spPr>
          <a:xfrm>
            <a:off x="175364" y="2767106"/>
            <a:ext cx="3757809" cy="3071906"/>
          </a:xfrm>
        </p:spPr>
        <p:txBody>
          <a:bodyPr anchor="t">
            <a:normAutofit/>
          </a:bodyPr>
          <a:lstStyle/>
          <a:p>
            <a:pPr algn="l"/>
            <a:r>
              <a:rPr lang="en-US" sz="4000" dirty="0">
                <a:solidFill>
                  <a:srgbClr val="FFFFFF"/>
                </a:solidFill>
              </a:rPr>
              <a:t>Mover Workflow:</a:t>
            </a:r>
            <a:br>
              <a:rPr lang="en-US" sz="4000" dirty="0">
                <a:solidFill>
                  <a:srgbClr val="FFFFFF"/>
                </a:solidFill>
              </a:rPr>
            </a:br>
            <a:br>
              <a:rPr lang="en-US" sz="4000" dirty="0">
                <a:solidFill>
                  <a:srgbClr val="FFFFFF"/>
                </a:solidFill>
              </a:rPr>
            </a:br>
            <a:r>
              <a:rPr lang="en-US" sz="4000" dirty="0">
                <a:solidFill>
                  <a:srgbClr val="FFFFFF"/>
                </a:solidFill>
              </a:rPr>
              <a:t>changement de poste </a:t>
            </a:r>
            <a:r>
              <a:rPr lang="en-US" sz="4000" dirty="0" err="1">
                <a:solidFill>
                  <a:srgbClr val="FFFFFF"/>
                </a:solidFill>
              </a:rPr>
              <a:t>ou</a:t>
            </a:r>
            <a:r>
              <a:rPr lang="en-US" sz="4000" dirty="0">
                <a:solidFill>
                  <a:srgbClr val="FFFFFF"/>
                </a:solidFill>
              </a:rPr>
              <a:t> </a:t>
            </a:r>
            <a:r>
              <a:rPr lang="en-US" sz="4000" dirty="0" err="1">
                <a:solidFill>
                  <a:srgbClr val="FFFFFF"/>
                </a:solidFill>
              </a:rPr>
              <a:t>mobilité</a:t>
            </a:r>
            <a:r>
              <a:rPr lang="en-US" sz="4000" dirty="0">
                <a:solidFill>
                  <a:srgbClr val="FFFFFF"/>
                </a:solidFill>
              </a:rPr>
              <a:t> interne</a:t>
            </a:r>
          </a:p>
        </p:txBody>
      </p:sp>
      <p:sp>
        <p:nvSpPr>
          <p:cNvPr id="3" name="Subtitle 2">
            <a:extLst>
              <a:ext uri="{FF2B5EF4-FFF2-40B4-BE49-F238E27FC236}">
                <a16:creationId xmlns:a16="http://schemas.microsoft.com/office/drawing/2014/main" id="{84468651-2CC9-2E73-7D8A-D548EA6F0F2F}"/>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389B2645-F115-7204-8A61-26EE0B28DC15}"/>
              </a:ext>
            </a:extLst>
          </p:cNvPr>
          <p:cNvPicPr>
            <a:picLocks noChangeAspect="1"/>
          </p:cNvPicPr>
          <p:nvPr/>
        </p:nvPicPr>
        <p:blipFill>
          <a:blip r:embed="rId3"/>
          <a:stretch>
            <a:fillRect/>
          </a:stretch>
        </p:blipFill>
        <p:spPr>
          <a:xfrm>
            <a:off x="5156965" y="-18881"/>
            <a:ext cx="5569650" cy="6894700"/>
          </a:xfrm>
          <a:prstGeom prst="rect">
            <a:avLst/>
          </a:prstGeom>
        </p:spPr>
      </p:pic>
    </p:spTree>
    <p:extLst>
      <p:ext uri="{BB962C8B-B14F-4D97-AF65-F5344CB8AC3E}">
        <p14:creationId xmlns:p14="http://schemas.microsoft.com/office/powerpoint/2010/main" val="2467950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23413-D518-1B48-2CDF-8A36B25F17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2D57C3-60FB-8AE0-E2DB-40F6A6914AEF}"/>
              </a:ext>
            </a:extLst>
          </p:cNvPr>
          <p:cNvSpPr>
            <a:spLocks noGrp="1"/>
          </p:cNvSpPr>
          <p:nvPr>
            <p:ph type="ctrTitle"/>
          </p:nvPr>
        </p:nvSpPr>
        <p:spPr>
          <a:xfrm>
            <a:off x="660041" y="2767106"/>
            <a:ext cx="2880828" cy="3071906"/>
          </a:xfrm>
        </p:spPr>
        <p:txBody>
          <a:bodyPr anchor="t">
            <a:normAutofit/>
          </a:bodyPr>
          <a:lstStyle/>
          <a:p>
            <a:pPr algn="l"/>
            <a:r>
              <a:rPr lang="en-US" sz="4000" dirty="0">
                <a:solidFill>
                  <a:srgbClr val="FFFFFF"/>
                </a:solidFill>
              </a:rPr>
              <a:t>Leaver Workflow</a:t>
            </a:r>
            <a:br>
              <a:rPr lang="en-US" sz="4000" dirty="0">
                <a:solidFill>
                  <a:srgbClr val="FFFFFF"/>
                </a:solidFill>
              </a:rPr>
            </a:br>
            <a:br>
              <a:rPr lang="en-US" sz="4000" dirty="0">
                <a:solidFill>
                  <a:srgbClr val="FFFFFF"/>
                </a:solidFill>
              </a:rPr>
            </a:br>
            <a:r>
              <a:rPr lang="en-US" sz="4000" dirty="0" err="1">
                <a:solidFill>
                  <a:srgbClr val="FFFFFF"/>
                </a:solidFill>
              </a:rPr>
              <a:t>Départ</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81CC693F-9D23-90AA-0F89-63EB20C505AC}"/>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03B9D63C-08E3-D2CC-4E9A-E5028718A87E}"/>
              </a:ext>
            </a:extLst>
          </p:cNvPr>
          <p:cNvPicPr>
            <a:picLocks noChangeAspect="1"/>
          </p:cNvPicPr>
          <p:nvPr/>
        </p:nvPicPr>
        <p:blipFill>
          <a:blip r:embed="rId3"/>
          <a:stretch>
            <a:fillRect/>
          </a:stretch>
        </p:blipFill>
        <p:spPr>
          <a:xfrm>
            <a:off x="5953760" y="91440"/>
            <a:ext cx="4368800" cy="6583680"/>
          </a:xfrm>
          <a:prstGeom prst="rect">
            <a:avLst/>
          </a:prstGeom>
        </p:spPr>
      </p:pic>
    </p:spTree>
    <p:extLst>
      <p:ext uri="{BB962C8B-B14F-4D97-AF65-F5344CB8AC3E}">
        <p14:creationId xmlns:p14="http://schemas.microsoft.com/office/powerpoint/2010/main" val="28702570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342E6F-447A-B870-8447-8EAA06EC5F2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F78AAB-EAAE-0BB9-8B22-86F99FC0694B}"/>
              </a:ext>
            </a:extLst>
          </p:cNvPr>
          <p:cNvSpPr>
            <a:spLocks noGrp="1"/>
          </p:cNvSpPr>
          <p:nvPr>
            <p:ph type="ctrTitle"/>
          </p:nvPr>
        </p:nvSpPr>
        <p:spPr>
          <a:xfrm>
            <a:off x="640080" y="320040"/>
            <a:ext cx="6692827" cy="3892669"/>
          </a:xfrm>
        </p:spPr>
        <p:txBody>
          <a:bodyPr>
            <a:normAutofit/>
          </a:bodyPr>
          <a:lstStyle/>
          <a:p>
            <a:pPr algn="l"/>
            <a:r>
              <a:rPr lang="en-US" sz="6600"/>
              <a:t>Contrôle d’Accès Basé sur les Rôles (RBAC)</a:t>
            </a:r>
          </a:p>
        </p:txBody>
      </p:sp>
      <p:sp>
        <p:nvSpPr>
          <p:cNvPr id="3" name="Subtitle 2">
            <a:extLst>
              <a:ext uri="{FF2B5EF4-FFF2-40B4-BE49-F238E27FC236}">
                <a16:creationId xmlns:a16="http://schemas.microsoft.com/office/drawing/2014/main" id="{7CCD6606-A33B-614D-954B-36C549363296}"/>
              </a:ext>
            </a:extLst>
          </p:cNvPr>
          <p:cNvSpPr>
            <a:spLocks noGrp="1"/>
          </p:cNvSpPr>
          <p:nvPr>
            <p:ph type="subTitle" idx="1"/>
          </p:nvPr>
        </p:nvSpPr>
        <p:spPr>
          <a:xfrm>
            <a:off x="640080" y="4532750"/>
            <a:ext cx="6692827" cy="2005210"/>
          </a:xfrm>
        </p:spPr>
        <p:txBody>
          <a:bodyPr>
            <a:normAutofit fontScale="70000" lnSpcReduction="20000"/>
          </a:bodyPr>
          <a:lstStyle/>
          <a:p>
            <a:pPr algn="l"/>
            <a:r>
              <a:rPr lang="fr-FR" dirty="0"/>
              <a:t>Les accès sont attribués automatiquement selon les responsabilités du poste.</a:t>
            </a:r>
          </a:p>
          <a:p>
            <a:pPr algn="l"/>
            <a:endParaRPr lang="fr-FR" dirty="0"/>
          </a:p>
          <a:p>
            <a:pPr algn="l"/>
            <a:r>
              <a:rPr lang="fr-FR" dirty="0"/>
              <a:t>Principe du moindre privilège</a:t>
            </a:r>
          </a:p>
          <a:p>
            <a:pPr algn="l"/>
            <a:endParaRPr lang="fr-FR" dirty="0"/>
          </a:p>
          <a:p>
            <a:pPr algn="l"/>
            <a:r>
              <a:rPr lang="fr-FR" dirty="0"/>
              <a:t>Chaque employé reçoit uniquement les accès nécessaires à l'exercice de ses fonctions.</a:t>
            </a:r>
            <a:endParaRPr lang="en-US" dirty="0"/>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CFC62470-5539-2F14-D8B2-CF2BC4C0094C}"/>
              </a:ext>
            </a:extLst>
          </p:cNvPr>
          <p:cNvGraphicFramePr>
            <a:graphicFrameLocks noGrp="1"/>
          </p:cNvGraphicFramePr>
          <p:nvPr>
            <p:extLst>
              <p:ext uri="{D42A27DB-BD31-4B8C-83A1-F6EECF244321}">
                <p14:modId xmlns:p14="http://schemas.microsoft.com/office/powerpoint/2010/main" val="3194775741"/>
              </p:ext>
            </p:extLst>
          </p:nvPr>
        </p:nvGraphicFramePr>
        <p:xfrm>
          <a:off x="7781544" y="1550456"/>
          <a:ext cx="4087369" cy="3520618"/>
        </p:xfrm>
        <a:graphic>
          <a:graphicData uri="http://schemas.openxmlformats.org/drawingml/2006/table">
            <a:tbl>
              <a:tblPr>
                <a:solidFill>
                  <a:schemeClr val="bg1"/>
                </a:solidFill>
              </a:tblPr>
              <a:tblGrid>
                <a:gridCol w="1375515">
                  <a:extLst>
                    <a:ext uri="{9D8B030D-6E8A-4147-A177-3AD203B41FA5}">
                      <a16:colId xmlns:a16="http://schemas.microsoft.com/office/drawing/2014/main" val="2595530736"/>
                    </a:ext>
                  </a:extLst>
                </a:gridCol>
                <a:gridCol w="2711854">
                  <a:extLst>
                    <a:ext uri="{9D8B030D-6E8A-4147-A177-3AD203B41FA5}">
                      <a16:colId xmlns:a16="http://schemas.microsoft.com/office/drawing/2014/main" val="1755134806"/>
                    </a:ext>
                  </a:extLst>
                </a:gridCol>
              </a:tblGrid>
              <a:tr h="415913">
                <a:tc>
                  <a:txBody>
                    <a:bodyPr/>
                    <a:lstStyle/>
                    <a:p>
                      <a:pPr>
                        <a:buNone/>
                      </a:pPr>
                      <a:r>
                        <a:rPr lang="en-US" sz="1300" cap="none" spc="0">
                          <a:solidFill>
                            <a:schemeClr val="tx1"/>
                          </a:solidFill>
                        </a:rPr>
                        <a:t>Rôle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Groupes attribués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4122563176"/>
                  </a:ext>
                </a:extLst>
              </a:tr>
              <a:tr h="620941">
                <a:tc>
                  <a:txBody>
                    <a:bodyPr/>
                    <a:lstStyle/>
                    <a:p>
                      <a:pPr>
                        <a:buNone/>
                      </a:pPr>
                      <a:r>
                        <a:rPr lang="en-US" sz="1300" cap="none" spc="0">
                          <a:solidFill>
                            <a:schemeClr val="tx1"/>
                          </a:solidFill>
                        </a:rPr>
                        <a:t>Infirmier(ère)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GRP_PATIENT_PORTAL</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2626155050"/>
                  </a:ext>
                </a:extLst>
              </a:tr>
              <a:tr h="620941">
                <a:tc>
                  <a:txBody>
                    <a:bodyPr/>
                    <a:lstStyle/>
                    <a:p>
                      <a:pPr>
                        <a:buNone/>
                      </a:pPr>
                      <a:r>
                        <a:rPr lang="en-US" sz="1300" cap="none" spc="0">
                          <a:solidFill>
                            <a:schemeClr val="tx1"/>
                          </a:solidFill>
                        </a:rPr>
                        <a:t>Chef infirmier</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GRP_NURSE_SUPERVISORS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404220927"/>
                  </a:ext>
                </a:extLst>
              </a:tr>
              <a:tr h="620941">
                <a:tc>
                  <a:txBody>
                    <a:bodyPr/>
                    <a:lstStyle/>
                    <a:p>
                      <a:pPr>
                        <a:buNone/>
                      </a:pPr>
                      <a:r>
                        <a:rPr lang="en-US" sz="1300" cap="none" spc="0">
                          <a:solidFill>
                            <a:schemeClr val="tx1"/>
                          </a:solidFill>
                        </a:rPr>
                        <a:t>Analyste IAM</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GRP_IT_IAM, GRP_ADMIN_TOOLS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063993586"/>
                  </a:ext>
                </a:extLst>
              </a:tr>
              <a:tr h="620941">
                <a:tc>
                  <a:txBody>
                    <a:bodyPr/>
                    <a:lstStyle/>
                    <a:p>
                      <a:pPr>
                        <a:buNone/>
                      </a:pPr>
                      <a:r>
                        <a:rPr lang="en-US" sz="1300" cap="none" spc="0">
                          <a:solidFill>
                            <a:schemeClr val="tx1"/>
                          </a:solidFill>
                        </a:rPr>
                        <a:t>Technicien de laboratoire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GRP_LAB, GRP_LAB_SYSTEM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116536684"/>
                  </a:ext>
                </a:extLst>
              </a:tr>
              <a:tr h="620941">
                <a:tc>
                  <a:txBody>
                    <a:bodyPr/>
                    <a:lstStyle/>
                    <a:p>
                      <a:pPr>
                        <a:buNone/>
                      </a:pPr>
                      <a:r>
                        <a:rPr lang="en-US" sz="1300" cap="none" spc="0">
                          <a:solidFill>
                            <a:schemeClr val="tx1"/>
                          </a:solidFill>
                        </a:rPr>
                        <a:t>Comptable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GRP_FINANCE, GRP_FINANCE_SYSTEM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796771452"/>
                  </a:ext>
                </a:extLst>
              </a:tr>
            </a:tbl>
          </a:graphicData>
        </a:graphic>
      </p:graphicFrame>
    </p:spTree>
    <p:extLst>
      <p:ext uri="{BB962C8B-B14F-4D97-AF65-F5344CB8AC3E}">
        <p14:creationId xmlns:p14="http://schemas.microsoft.com/office/powerpoint/2010/main" val="2543683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A8C76-0BC3-33FA-C909-914D24E5CC34}"/>
            </a:ext>
          </a:extLst>
        </p:cNvPr>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Freeform: Shape 4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Rectangle 4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21D162-DF61-7F3D-4F82-10EF44D6D4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Contrôles de Gouvernance</a:t>
            </a:r>
          </a:p>
        </p:txBody>
      </p:sp>
      <p:sp>
        <p:nvSpPr>
          <p:cNvPr id="3" name="Subtitle 2">
            <a:extLst>
              <a:ext uri="{FF2B5EF4-FFF2-40B4-BE49-F238E27FC236}">
                <a16:creationId xmlns:a16="http://schemas.microsoft.com/office/drawing/2014/main" id="{524D62E4-A2F1-7B5B-1EEA-3C6BBF949F57}"/>
              </a:ext>
            </a:extLst>
          </p:cNvPr>
          <p:cNvSpPr>
            <a:spLocks noGrp="1"/>
          </p:cNvSpPr>
          <p:nvPr>
            <p:ph type="subTitle" idx="1"/>
          </p:nvPr>
        </p:nvSpPr>
        <p:spPr>
          <a:xfrm>
            <a:off x="4134811" y="649481"/>
            <a:ext cx="6154388" cy="5517640"/>
          </a:xfrm>
        </p:spPr>
        <p:txBody>
          <a:bodyPr vert="horz" lIns="91440" tIns="45720" rIns="91440" bIns="45720" rtlCol="0" anchor="ctr">
            <a:noAutofit/>
          </a:bodyPr>
          <a:lstStyle/>
          <a:p>
            <a:pPr indent="-228600" algn="l">
              <a:buFont typeface="Arial" panose="020B0604020202020204" pitchFamily="34" charset="0"/>
              <a:buChar char="•"/>
            </a:pPr>
            <a:r>
              <a:rPr lang="en-US" sz="1400" dirty="0"/>
              <a:t>Le </a:t>
            </a:r>
            <a:r>
              <a:rPr lang="en-US" sz="1400" dirty="0" err="1"/>
              <a:t>système</a:t>
            </a:r>
            <a:r>
              <a:rPr lang="en-US" sz="1400" dirty="0"/>
              <a:t> </a:t>
            </a:r>
            <a:r>
              <a:rPr lang="en-US" sz="1400" dirty="0" err="1"/>
              <a:t>valide</a:t>
            </a:r>
            <a:r>
              <a:rPr lang="en-US" sz="1400" dirty="0"/>
              <a:t> les données RH avant toute attribution </a:t>
            </a:r>
            <a:r>
              <a:rPr lang="en-US" sz="1400" dirty="0" err="1"/>
              <a:t>d'accès</a:t>
            </a:r>
            <a:r>
              <a:rPr lang="en-US" sz="1400" dirty="0"/>
              <a:t>.</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err="1"/>
              <a:t>Contrôles</a:t>
            </a:r>
            <a:r>
              <a:rPr lang="en-US" sz="1400" dirty="0"/>
              <a:t> </a:t>
            </a:r>
            <a:r>
              <a:rPr lang="en-US" sz="1400" dirty="0" err="1"/>
              <a:t>obligatoires</a:t>
            </a:r>
            <a:r>
              <a:rPr lang="en-US" sz="1400" dirty="0"/>
              <a:t> :</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a:t>✓ </a:t>
            </a:r>
            <a:r>
              <a:rPr lang="en-US" sz="1400" dirty="0" err="1"/>
              <a:t>Gestionnaire</a:t>
            </a:r>
            <a:endParaRPr lang="en-US" sz="1400" dirty="0"/>
          </a:p>
          <a:p>
            <a:pPr indent="-228600" algn="l">
              <a:buFont typeface="Arial" panose="020B0604020202020204" pitchFamily="34" charset="0"/>
              <a:buChar char="•"/>
            </a:pPr>
            <a:r>
              <a:rPr lang="en-US" sz="1400" dirty="0"/>
              <a:t>✓ Département</a:t>
            </a:r>
          </a:p>
          <a:p>
            <a:pPr indent="-228600" algn="l">
              <a:buFont typeface="Arial" panose="020B0604020202020204" pitchFamily="34" charset="0"/>
              <a:buChar char="•"/>
            </a:pPr>
            <a:r>
              <a:rPr lang="en-US" sz="1400" dirty="0"/>
              <a:t>✓ </a:t>
            </a:r>
            <a:r>
              <a:rPr lang="en-US" sz="1400" dirty="0" err="1"/>
              <a:t>Titre</a:t>
            </a:r>
            <a:r>
              <a:rPr lang="en-US" sz="1400" dirty="0"/>
              <a:t> du poste</a:t>
            </a:r>
          </a:p>
          <a:p>
            <a:pPr indent="-228600" algn="l">
              <a:buFont typeface="Arial" panose="020B0604020202020204" pitchFamily="34" charset="0"/>
              <a:buChar char="•"/>
            </a:pPr>
            <a:r>
              <a:rPr lang="en-US" sz="1400" dirty="0"/>
              <a:t>✓ Date de début</a:t>
            </a:r>
          </a:p>
          <a:p>
            <a:pPr indent="-228600" algn="l">
              <a:buFont typeface="Arial" panose="020B0604020202020204" pitchFamily="34" charset="0"/>
              <a:buChar char="•"/>
            </a:pPr>
            <a:r>
              <a:rPr lang="en-US" sz="1400" dirty="0"/>
              <a:t>✓ </a:t>
            </a:r>
            <a:r>
              <a:rPr lang="en-US" sz="1400" dirty="0" err="1"/>
              <a:t>Correspondance</a:t>
            </a:r>
            <a:r>
              <a:rPr lang="en-US" sz="1400" dirty="0"/>
              <a:t> RBAC</a:t>
            </a:r>
            <a:br>
              <a:rPr lang="en-US" sz="1400" dirty="0"/>
            </a:br>
            <a:br>
              <a:rPr lang="en-US" sz="1400" dirty="0"/>
            </a:br>
            <a:r>
              <a:rPr lang="en-US" sz="1400" dirty="0" err="1"/>
              <a:t>Exemples</a:t>
            </a:r>
            <a:r>
              <a:rPr lang="en-US" sz="1400" dirty="0"/>
              <a:t> de </a:t>
            </a:r>
            <a:r>
              <a:rPr lang="en-US" sz="1400" dirty="0" err="1"/>
              <a:t>demandes</a:t>
            </a:r>
            <a:r>
              <a:rPr lang="en-US" sz="1400" dirty="0"/>
              <a:t> </a:t>
            </a:r>
            <a:r>
              <a:rPr lang="en-US" sz="1400" dirty="0" err="1"/>
              <a:t>bloquées</a:t>
            </a:r>
            <a:r>
              <a:rPr lang="en-US" sz="1400" dirty="0"/>
              <a:t> :</a:t>
            </a:r>
            <a:br>
              <a:rPr lang="en-US" sz="1400" dirty="0"/>
            </a:br>
            <a:r>
              <a:rPr lang="en-US" sz="1400" dirty="0"/>
              <a:t>• </a:t>
            </a:r>
            <a:r>
              <a:rPr lang="en-US" sz="1400" dirty="0" err="1"/>
              <a:t>Gestionnaire</a:t>
            </a:r>
            <a:r>
              <a:rPr lang="en-US" sz="1400" dirty="0"/>
              <a:t> </a:t>
            </a:r>
            <a:r>
              <a:rPr lang="en-US" sz="1400" dirty="0" err="1"/>
              <a:t>manquant</a:t>
            </a:r>
            <a:endParaRPr lang="en-US" sz="1400" dirty="0"/>
          </a:p>
          <a:p>
            <a:pPr indent="-228600" algn="l">
              <a:buFont typeface="Arial" panose="020B0604020202020204" pitchFamily="34" charset="0"/>
              <a:buChar char="•"/>
            </a:pPr>
            <a:r>
              <a:rPr lang="en-US" sz="1400" dirty="0"/>
              <a:t>• Département </a:t>
            </a:r>
            <a:r>
              <a:rPr lang="en-US" sz="1400" dirty="0" err="1"/>
              <a:t>manquant</a:t>
            </a:r>
            <a:endParaRPr lang="en-US" sz="1400" dirty="0"/>
          </a:p>
          <a:p>
            <a:pPr indent="-228600" algn="l">
              <a:buFont typeface="Arial" panose="020B0604020202020204" pitchFamily="34" charset="0"/>
              <a:buChar char="•"/>
            </a:pPr>
            <a:r>
              <a:rPr lang="en-US" sz="1400" dirty="0"/>
              <a:t>• Nom </a:t>
            </a:r>
            <a:r>
              <a:rPr lang="en-US" sz="1400" dirty="0" err="1"/>
              <a:t>manquant</a:t>
            </a:r>
            <a:endParaRPr lang="en-US" sz="1400" dirty="0"/>
          </a:p>
          <a:p>
            <a:pPr indent="-228600" algn="l">
              <a:buFont typeface="Arial" panose="020B0604020202020204" pitchFamily="34" charset="0"/>
              <a:buChar char="•"/>
            </a:pPr>
            <a:r>
              <a:rPr lang="en-US" sz="1400" dirty="0"/>
              <a:t>• </a:t>
            </a:r>
            <a:r>
              <a:rPr lang="en-US" sz="1400" dirty="0" err="1"/>
              <a:t>Rôle</a:t>
            </a:r>
            <a:r>
              <a:rPr lang="en-US" sz="1400" dirty="0"/>
              <a:t> non </a:t>
            </a:r>
            <a:r>
              <a:rPr lang="en-US" sz="1400" dirty="0" err="1"/>
              <a:t>défini</a:t>
            </a:r>
            <a:r>
              <a:rPr lang="en-US" sz="1400" dirty="0"/>
              <a:t> dans le RBAC</a:t>
            </a:r>
            <a:br>
              <a:rPr lang="en-US" sz="1400" dirty="0"/>
            </a:br>
            <a:br>
              <a:rPr lang="en-US" sz="1400" dirty="0"/>
            </a:br>
            <a:r>
              <a:rPr lang="en-US" sz="1400" dirty="0"/>
              <a:t>Message :</a:t>
            </a:r>
            <a:br>
              <a:rPr lang="en-US" sz="1400" dirty="0"/>
            </a:br>
            <a:r>
              <a:rPr lang="en-US" sz="1400" dirty="0" err="1"/>
              <a:t>Aucun</a:t>
            </a:r>
            <a:r>
              <a:rPr lang="en-US" sz="1400" dirty="0"/>
              <a:t> </a:t>
            </a:r>
            <a:r>
              <a:rPr lang="en-US" sz="1400" dirty="0" err="1"/>
              <a:t>accès</a:t>
            </a:r>
            <a:r>
              <a:rPr lang="en-US" sz="1400" dirty="0"/>
              <a:t> </a:t>
            </a:r>
            <a:r>
              <a:rPr lang="en-US" sz="1400" dirty="0" err="1"/>
              <a:t>n'est</a:t>
            </a:r>
            <a:r>
              <a:rPr lang="en-US" sz="1400" dirty="0"/>
              <a:t> </a:t>
            </a:r>
            <a:r>
              <a:rPr lang="en-US" sz="1400" dirty="0" err="1"/>
              <a:t>accordé</a:t>
            </a:r>
            <a:r>
              <a:rPr lang="en-US" sz="1400" dirty="0"/>
              <a:t> tant </a:t>
            </a:r>
            <a:r>
              <a:rPr lang="en-US" sz="1400" dirty="0" err="1"/>
              <a:t>que</a:t>
            </a:r>
            <a:r>
              <a:rPr lang="en-US" sz="1400" dirty="0"/>
              <a:t> les données </a:t>
            </a:r>
            <a:r>
              <a:rPr lang="en-US" sz="1400" dirty="0" err="1"/>
              <a:t>requises</a:t>
            </a:r>
            <a:r>
              <a:rPr lang="en-US" sz="1400" dirty="0"/>
              <a:t> ne </a:t>
            </a:r>
            <a:r>
              <a:rPr lang="en-US" sz="1400" dirty="0" err="1"/>
              <a:t>sont</a:t>
            </a:r>
            <a:r>
              <a:rPr lang="en-US" sz="1400" dirty="0"/>
              <a:t> pas </a:t>
            </a:r>
            <a:r>
              <a:rPr lang="en-US" sz="1400" dirty="0" err="1"/>
              <a:t>conformes</a:t>
            </a:r>
            <a:r>
              <a:rPr lang="en-US" sz="1400" dirty="0"/>
              <a:t>.</a:t>
            </a:r>
            <a:br>
              <a:rPr lang="en-US" sz="1400" dirty="0"/>
            </a:br>
            <a:r>
              <a:rPr lang="en-US" sz="1400" dirty="0" err="1"/>
              <a:t>Aucun</a:t>
            </a:r>
            <a:r>
              <a:rPr lang="en-US" sz="1400" dirty="0"/>
              <a:t> compte </a:t>
            </a:r>
            <a:r>
              <a:rPr lang="en-US" sz="1400" dirty="0" err="1"/>
              <a:t>n'est</a:t>
            </a:r>
            <a:r>
              <a:rPr lang="en-US" sz="1400" dirty="0"/>
              <a:t> </a:t>
            </a:r>
            <a:r>
              <a:rPr lang="en-US" sz="1400" dirty="0" err="1"/>
              <a:t>créé</a:t>
            </a:r>
            <a:r>
              <a:rPr lang="en-US" sz="1400" dirty="0"/>
              <a:t> </a:t>
            </a:r>
            <a:r>
              <a:rPr lang="en-US" sz="1400" dirty="0" err="1"/>
              <a:t>si</a:t>
            </a:r>
            <a:r>
              <a:rPr lang="en-US" sz="1400" dirty="0"/>
              <a:t> les validations </a:t>
            </a:r>
            <a:r>
              <a:rPr lang="en-US" sz="1400" dirty="0" err="1"/>
              <a:t>échouent</a:t>
            </a:r>
            <a:r>
              <a:rPr lang="en-US" sz="1400" dirty="0"/>
              <a:t>.</a:t>
            </a:r>
          </a:p>
        </p:txBody>
      </p:sp>
      <p:pic>
        <p:nvPicPr>
          <p:cNvPr id="5" name="Picture 4">
            <a:extLst>
              <a:ext uri="{FF2B5EF4-FFF2-40B4-BE49-F238E27FC236}">
                <a16:creationId xmlns:a16="http://schemas.microsoft.com/office/drawing/2014/main" id="{ECBDD05C-DA03-4903-3532-A199CAD818C1}"/>
              </a:ext>
            </a:extLst>
          </p:cNvPr>
          <p:cNvPicPr>
            <a:picLocks noChangeAspect="1"/>
          </p:cNvPicPr>
          <p:nvPr/>
        </p:nvPicPr>
        <p:blipFill>
          <a:blip r:embed="rId3"/>
          <a:stretch>
            <a:fillRect/>
          </a:stretch>
        </p:blipFill>
        <p:spPr>
          <a:xfrm>
            <a:off x="10426060" y="535096"/>
            <a:ext cx="1485040" cy="5348026"/>
          </a:xfrm>
          <a:prstGeom prst="rect">
            <a:avLst/>
          </a:prstGeom>
        </p:spPr>
      </p:pic>
    </p:spTree>
    <p:extLst>
      <p:ext uri="{BB962C8B-B14F-4D97-AF65-F5344CB8AC3E}">
        <p14:creationId xmlns:p14="http://schemas.microsoft.com/office/powerpoint/2010/main" val="10885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2D202B-1C22-A0B1-9754-1A5AB01B08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70150A-238B-C692-4481-DEC8783FD172}"/>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Audit &amp; Reporting</a:t>
            </a:r>
          </a:p>
        </p:txBody>
      </p:sp>
      <p:sp>
        <p:nvSpPr>
          <p:cNvPr id="3" name="Subtitle 2">
            <a:extLst>
              <a:ext uri="{FF2B5EF4-FFF2-40B4-BE49-F238E27FC236}">
                <a16:creationId xmlns:a16="http://schemas.microsoft.com/office/drawing/2014/main" id="{E972BEAB-375A-9DD8-C438-9E6B305DDDB8}"/>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971B3BF0-195A-30E3-FD0F-E3C41C77E94D}"/>
              </a:ext>
            </a:extLst>
          </p:cNvPr>
          <p:cNvPicPr>
            <a:picLocks noChangeAspect="1"/>
          </p:cNvPicPr>
          <p:nvPr/>
        </p:nvPicPr>
        <p:blipFill>
          <a:blip r:embed="rId3"/>
          <a:stretch>
            <a:fillRect/>
          </a:stretch>
        </p:blipFill>
        <p:spPr>
          <a:xfrm>
            <a:off x="619432" y="1655276"/>
            <a:ext cx="11186652" cy="4954686"/>
          </a:xfrm>
          <a:prstGeom prst="rect">
            <a:avLst/>
          </a:prstGeom>
        </p:spPr>
      </p:pic>
    </p:spTree>
    <p:extLst>
      <p:ext uri="{BB962C8B-B14F-4D97-AF65-F5344CB8AC3E}">
        <p14:creationId xmlns:p14="http://schemas.microsoft.com/office/powerpoint/2010/main" val="18332567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AFC15D-D345-FFDC-EAA0-56FDEEFF7A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3180E48-298B-5FBC-6F0A-8D349AFAA1AF}"/>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Future Enterprise Architecture</a:t>
            </a:r>
          </a:p>
        </p:txBody>
      </p:sp>
      <p:sp>
        <p:nvSpPr>
          <p:cNvPr id="3" name="Subtitle 2">
            <a:extLst>
              <a:ext uri="{FF2B5EF4-FFF2-40B4-BE49-F238E27FC236}">
                <a16:creationId xmlns:a16="http://schemas.microsoft.com/office/drawing/2014/main" id="{C92A73DF-3A8E-9DA8-ED34-0A06348B9DC3}"/>
              </a:ext>
            </a:extLst>
          </p:cNvPr>
          <p:cNvSpPr>
            <a:spLocks noGrp="1"/>
          </p:cNvSpPr>
          <p:nvPr>
            <p:ph type="subTitle" idx="1"/>
          </p:nvPr>
        </p:nvSpPr>
        <p:spPr>
          <a:xfrm>
            <a:off x="640586" y="4562169"/>
            <a:ext cx="2919738" cy="2074606"/>
          </a:xfrm>
        </p:spPr>
        <p:txBody>
          <a:bodyPr anchor="b">
            <a:normAutofit fontScale="77500" lnSpcReduction="20000"/>
          </a:bodyPr>
          <a:lstStyle/>
          <a:p>
            <a:pPr algn="l"/>
            <a:r>
              <a:rPr lang="fr-FR" sz="2000" dirty="0">
                <a:solidFill>
                  <a:srgbClr val="FFFFFF"/>
                </a:solidFill>
              </a:rPr>
              <a:t>Prochaine phase du projet :</a:t>
            </a:r>
          </a:p>
          <a:p>
            <a:pPr algn="l"/>
            <a:endParaRPr lang="fr-FR" sz="2000" dirty="0">
              <a:solidFill>
                <a:srgbClr val="FFFFFF"/>
              </a:solidFill>
            </a:endParaRPr>
          </a:p>
          <a:p>
            <a:pPr algn="l"/>
            <a:r>
              <a:rPr lang="fr-FR" sz="2000" dirty="0">
                <a:solidFill>
                  <a:srgbClr val="FFFFFF"/>
                </a:solidFill>
              </a:rPr>
              <a:t>• Windows Server 2022</a:t>
            </a:r>
          </a:p>
          <a:p>
            <a:pPr algn="l"/>
            <a:r>
              <a:rPr lang="fr-FR" sz="2000" dirty="0">
                <a:solidFill>
                  <a:srgbClr val="FFFFFF"/>
                </a:solidFill>
              </a:rPr>
              <a:t>• Active Directory</a:t>
            </a:r>
          </a:p>
          <a:p>
            <a:pPr algn="l"/>
            <a:r>
              <a:rPr lang="fr-FR" sz="2000" dirty="0">
                <a:solidFill>
                  <a:srgbClr val="FFFFFF"/>
                </a:solidFill>
              </a:rPr>
              <a:t>• Microsoft Entra ID</a:t>
            </a:r>
          </a:p>
          <a:p>
            <a:pPr algn="l"/>
            <a:r>
              <a:rPr lang="fr-FR" sz="2000" dirty="0">
                <a:solidFill>
                  <a:srgbClr val="FFFFFF"/>
                </a:solidFill>
              </a:rPr>
              <a:t>• Microsoft 365</a:t>
            </a:r>
          </a:p>
          <a:p>
            <a:pPr algn="l"/>
            <a:r>
              <a:rPr lang="fr-FR" sz="2000" dirty="0">
                <a:solidFill>
                  <a:srgbClr val="FFFFFF"/>
                </a:solidFill>
              </a:rPr>
              <a:t>• Intégration ITSM</a:t>
            </a:r>
            <a:endParaRPr lang="en-US" sz="2000" dirty="0">
              <a:solidFill>
                <a:srgbClr val="FFFFFF"/>
              </a:solidFill>
            </a:endParaRPr>
          </a:p>
        </p:txBody>
      </p:sp>
      <p:pic>
        <p:nvPicPr>
          <p:cNvPr id="5" name="Picture 4">
            <a:extLst>
              <a:ext uri="{FF2B5EF4-FFF2-40B4-BE49-F238E27FC236}">
                <a16:creationId xmlns:a16="http://schemas.microsoft.com/office/drawing/2014/main" id="{0EE988A8-A4EF-BD17-E474-5A07167C68E2}"/>
              </a:ext>
            </a:extLst>
          </p:cNvPr>
          <p:cNvPicPr>
            <a:picLocks noChangeAspect="1"/>
          </p:cNvPicPr>
          <p:nvPr/>
        </p:nvPicPr>
        <p:blipFill>
          <a:blip r:embed="rId3"/>
          <a:stretch>
            <a:fillRect/>
          </a:stretch>
        </p:blipFill>
        <p:spPr>
          <a:xfrm>
            <a:off x="4546877" y="467208"/>
            <a:ext cx="7136849" cy="5923584"/>
          </a:xfrm>
          <a:prstGeom prst="rect">
            <a:avLst/>
          </a:prstGeom>
        </p:spPr>
      </p:pic>
    </p:spTree>
    <p:extLst>
      <p:ext uri="{BB962C8B-B14F-4D97-AF65-F5344CB8AC3E}">
        <p14:creationId xmlns:p14="http://schemas.microsoft.com/office/powerpoint/2010/main" val="2648017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44C716-0872-D602-61DD-2F57C0C02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58589AF-0722-EE99-BA73-8A93DB8E091D}"/>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Feuille de Route</a:t>
            </a:r>
          </a:p>
        </p:txBody>
      </p:sp>
      <p:sp>
        <p:nvSpPr>
          <p:cNvPr id="3" name="Subtitle 2">
            <a:extLst>
              <a:ext uri="{FF2B5EF4-FFF2-40B4-BE49-F238E27FC236}">
                <a16:creationId xmlns:a16="http://schemas.microsoft.com/office/drawing/2014/main" id="{2A4C9189-F6D9-57E3-B740-3904A9DB6867}"/>
              </a:ext>
            </a:extLst>
          </p:cNvPr>
          <p:cNvSpPr>
            <a:spLocks noGrp="1"/>
          </p:cNvSpPr>
          <p:nvPr>
            <p:ph type="subTitle" idx="1"/>
          </p:nvPr>
        </p:nvSpPr>
        <p:spPr>
          <a:xfrm>
            <a:off x="255639" y="4060723"/>
            <a:ext cx="3490451" cy="2430567"/>
          </a:xfrm>
        </p:spPr>
        <p:txBody>
          <a:bodyPr anchor="b">
            <a:normAutofit/>
          </a:bodyPr>
          <a:lstStyle/>
          <a:p>
            <a:pPr algn="l"/>
            <a:r>
              <a:rPr lang="en-US" sz="2000" dirty="0">
                <a:solidFill>
                  <a:srgbClr val="FFFFFF"/>
                </a:solidFill>
              </a:rPr>
              <a:t>Phase 1  MVP Local          ✓</a:t>
            </a:r>
          </a:p>
          <a:p>
            <a:pPr algn="l"/>
            <a:r>
              <a:rPr lang="en-US" sz="2000" dirty="0">
                <a:solidFill>
                  <a:srgbClr val="FFFFFF"/>
                </a:solidFill>
              </a:rPr>
              <a:t>Phase 2  Active Directory</a:t>
            </a:r>
          </a:p>
          <a:p>
            <a:pPr algn="l"/>
            <a:r>
              <a:rPr lang="en-US" sz="2000" dirty="0">
                <a:solidFill>
                  <a:srgbClr val="FFFFFF"/>
                </a:solidFill>
              </a:rPr>
              <a:t>Phase 3  Entra ID</a:t>
            </a:r>
          </a:p>
          <a:p>
            <a:pPr algn="l"/>
            <a:r>
              <a:rPr lang="en-US" sz="2000" dirty="0">
                <a:solidFill>
                  <a:srgbClr val="FFFFFF"/>
                </a:solidFill>
              </a:rPr>
              <a:t>Phase 4  ITSM</a:t>
            </a:r>
          </a:p>
          <a:p>
            <a:pPr algn="l"/>
            <a:r>
              <a:rPr lang="en-US" sz="2000" dirty="0">
                <a:solidFill>
                  <a:srgbClr val="FFFFFF"/>
                </a:solidFill>
              </a:rPr>
              <a:t>Phase 5  IAM </a:t>
            </a:r>
            <a:r>
              <a:rPr lang="en-US" sz="2000" dirty="0" err="1">
                <a:solidFill>
                  <a:srgbClr val="FFFFFF"/>
                </a:solidFill>
              </a:rPr>
              <a:t>Entreprise</a:t>
            </a:r>
            <a:endParaRPr lang="en-US" sz="2000" dirty="0">
              <a:solidFill>
                <a:srgbClr val="FFFFFF"/>
              </a:solidFill>
            </a:endParaRPr>
          </a:p>
        </p:txBody>
      </p:sp>
      <p:pic>
        <p:nvPicPr>
          <p:cNvPr id="5" name="Picture 4">
            <a:extLst>
              <a:ext uri="{FF2B5EF4-FFF2-40B4-BE49-F238E27FC236}">
                <a16:creationId xmlns:a16="http://schemas.microsoft.com/office/drawing/2014/main" id="{EFDB99E8-90D3-AFEC-79EE-AB36438B7EF4}"/>
              </a:ext>
            </a:extLst>
          </p:cNvPr>
          <p:cNvPicPr>
            <a:picLocks noChangeAspect="1"/>
          </p:cNvPicPr>
          <p:nvPr/>
        </p:nvPicPr>
        <p:blipFill>
          <a:blip r:embed="rId2"/>
          <a:stretch>
            <a:fillRect/>
          </a:stretch>
        </p:blipFill>
        <p:spPr>
          <a:xfrm>
            <a:off x="5251939" y="467207"/>
            <a:ext cx="5008708" cy="6273561"/>
          </a:xfrm>
          <a:prstGeom prst="rect">
            <a:avLst/>
          </a:prstGeom>
        </p:spPr>
      </p:pic>
    </p:spTree>
    <p:extLst>
      <p:ext uri="{BB962C8B-B14F-4D97-AF65-F5344CB8AC3E}">
        <p14:creationId xmlns:p14="http://schemas.microsoft.com/office/powerpoint/2010/main" val="1776819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E1F63-3608-174A-BF31-FAB881FB79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DF98EC-FDEF-43F5-21C4-1F4CD6591518}"/>
              </a:ext>
            </a:extLst>
          </p:cNvPr>
          <p:cNvSpPr>
            <a:spLocks noGrp="1"/>
          </p:cNvSpPr>
          <p:nvPr>
            <p:ph type="ctrTitle"/>
          </p:nvPr>
        </p:nvSpPr>
        <p:spPr>
          <a:xfrm>
            <a:off x="660041" y="2767106"/>
            <a:ext cx="2880828" cy="3071906"/>
          </a:xfrm>
        </p:spPr>
        <p:txBody>
          <a:bodyPr anchor="t">
            <a:normAutofit/>
          </a:bodyPr>
          <a:lstStyle/>
          <a:p>
            <a:pPr algn="l"/>
            <a:r>
              <a:rPr lang="en-US" sz="4000" dirty="0">
                <a:solidFill>
                  <a:schemeClr val="bg1"/>
                </a:solidFill>
              </a:rPr>
              <a:t>À </a:t>
            </a:r>
            <a:r>
              <a:rPr lang="en-US" sz="4000" dirty="0" err="1">
                <a:solidFill>
                  <a:schemeClr val="bg1"/>
                </a:solidFill>
              </a:rPr>
              <a:t>propos</a:t>
            </a:r>
            <a:r>
              <a:rPr lang="en-US" sz="4000" dirty="0">
                <a:solidFill>
                  <a:schemeClr val="bg1"/>
                </a:solidFill>
              </a:rPr>
              <a:t> de </a:t>
            </a:r>
            <a:r>
              <a:rPr lang="en-US" sz="4000" dirty="0" err="1">
                <a:solidFill>
                  <a:schemeClr val="bg1"/>
                </a:solidFill>
              </a:rPr>
              <a:t>l’auteur</a:t>
            </a:r>
            <a:endParaRPr lang="en-US" sz="4000" dirty="0">
              <a:solidFill>
                <a:schemeClr val="bg1"/>
              </a:solidFill>
            </a:endParaRPr>
          </a:p>
        </p:txBody>
      </p:sp>
      <p:sp>
        <p:nvSpPr>
          <p:cNvPr id="3" name="Subtitle 2">
            <a:extLst>
              <a:ext uri="{FF2B5EF4-FFF2-40B4-BE49-F238E27FC236}">
                <a16:creationId xmlns:a16="http://schemas.microsoft.com/office/drawing/2014/main" id="{2009ED5F-3706-9B13-6C0D-8910BDD27605}"/>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2D3F6BE2-1DF4-DB8E-4A76-EFBFF0918722}"/>
              </a:ext>
            </a:extLst>
          </p:cNvPr>
          <p:cNvPicPr>
            <a:picLocks noChangeAspect="1"/>
          </p:cNvPicPr>
          <p:nvPr/>
        </p:nvPicPr>
        <p:blipFill>
          <a:blip r:embed="rId2"/>
          <a:stretch>
            <a:fillRect/>
          </a:stretch>
        </p:blipFill>
        <p:spPr>
          <a:xfrm>
            <a:off x="5568161" y="467208"/>
            <a:ext cx="5094281" cy="5923584"/>
          </a:xfrm>
          <a:prstGeom prst="rect">
            <a:avLst/>
          </a:prstGeom>
        </p:spPr>
      </p:pic>
    </p:spTree>
    <p:extLst>
      <p:ext uri="{BB962C8B-B14F-4D97-AF65-F5344CB8AC3E}">
        <p14:creationId xmlns:p14="http://schemas.microsoft.com/office/powerpoint/2010/main" val="12362110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1492</TotalTime>
  <Words>953</Words>
  <Application>Microsoft Office PowerPoint</Application>
  <PresentationFormat>Widescreen</PresentationFormat>
  <Paragraphs>97</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Automatisation du Cycle de Vie des Identités (IAM)</vt:lpstr>
      <vt:lpstr>Défis Métier</vt:lpstr>
      <vt:lpstr>Vue d’Ensemble de la Solution</vt:lpstr>
      <vt:lpstr>Local MVP Architecture</vt:lpstr>
      <vt:lpstr>Joiner Workflow  : Arrivées des employés</vt:lpstr>
      <vt:lpstr>Mover Workflow:  changement de poste ou mobilité interne</vt:lpstr>
      <vt:lpstr>Leaver Workflow  Départ des employés</vt:lpstr>
      <vt:lpstr>Contrôle d’Accès Basé sur les Rôles (RBAC)</vt:lpstr>
      <vt:lpstr>Contrôles de Gouvernance</vt:lpstr>
      <vt:lpstr>Audit &amp; Reporting</vt:lpstr>
      <vt:lpstr>Future Enterprise Architecture</vt:lpstr>
      <vt:lpstr>Feuille de Route</vt:lpstr>
      <vt:lpstr>À propos de l’auteur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kgf</dc:creator>
  <cp:lastModifiedBy>francis kgf</cp:lastModifiedBy>
  <cp:revision>17</cp:revision>
  <dcterms:created xsi:type="dcterms:W3CDTF">2026-06-05T22:42:36Z</dcterms:created>
  <dcterms:modified xsi:type="dcterms:W3CDTF">2026-06-09T22:15:42Z</dcterms:modified>
</cp:coreProperties>
</file>